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0" r:id="rId5"/>
    <p:sldId id="272" r:id="rId6"/>
    <p:sldId id="263" r:id="rId7"/>
    <p:sldId id="259" r:id="rId8"/>
    <p:sldId id="273" r:id="rId9"/>
    <p:sldId id="260" r:id="rId10"/>
    <p:sldId id="271" r:id="rId11"/>
    <p:sldId id="262" r:id="rId12"/>
  </p:sldIdLst>
  <p:sldSz cx="18288000" cy="10287000"/>
  <p:notesSz cx="6858000" cy="9144000"/>
  <p:embeddedFontLst>
    <p:embeddedFont>
      <p:font typeface="Open Sauce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125" d="100"/>
          <a:sy n="125" d="100"/>
        </p:scale>
        <p:origin x="-6802" y="-40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journals.plos.org/plosone/article?id=10.1371%2Fjournal.pone.0105297&amp;utm_source=chatgpt.com"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graphicFrame>
        <p:nvGraphicFramePr>
          <p:cNvPr id="3" name="Table 3"/>
          <p:cNvGraphicFramePr>
            <a:graphicFrameLocks noGrp="1"/>
          </p:cNvGraphicFramePr>
          <p:nvPr>
            <p:extLst>
              <p:ext uri="{D42A27DB-BD31-4B8C-83A1-F6EECF244321}">
                <p14:modId xmlns:p14="http://schemas.microsoft.com/office/powerpoint/2010/main" val="1882188463"/>
              </p:ext>
            </p:extLst>
          </p:nvPr>
        </p:nvGraphicFramePr>
        <p:xfrm>
          <a:off x="8763000" y="5112026"/>
          <a:ext cx="9217597" cy="5081590"/>
        </p:xfrm>
        <a:graphic>
          <a:graphicData uri="http://schemas.openxmlformats.org/drawingml/2006/table">
            <a:tbl>
              <a:tblPr/>
              <a:tblGrid>
                <a:gridCol w="4403433">
                  <a:extLst>
                    <a:ext uri="{9D8B030D-6E8A-4147-A177-3AD203B41FA5}">
                      <a16:colId xmlns:a16="http://schemas.microsoft.com/office/drawing/2014/main" val="20000"/>
                    </a:ext>
                  </a:extLst>
                </a:gridCol>
                <a:gridCol w="4814164">
                  <a:extLst>
                    <a:ext uri="{9D8B030D-6E8A-4147-A177-3AD203B41FA5}">
                      <a16:colId xmlns:a16="http://schemas.microsoft.com/office/drawing/2014/main" val="20001"/>
                    </a:ext>
                  </a:extLst>
                </a:gridCol>
              </a:tblGrid>
              <a:tr h="706627">
                <a:tc gridSpan="2">
                  <a:txBody>
                    <a:bodyPr/>
                    <a:lstStyle/>
                    <a:p>
                      <a:pPr algn="ctr">
                        <a:lnSpc>
                          <a:spcPts val="4059"/>
                        </a:lnSpc>
                        <a:defRPr/>
                      </a:pPr>
                      <a:r>
                        <a:rPr lang="en-US" sz="3200" b="1" dirty="0">
                          <a:latin typeface="Times New Roman" panose="02020603050405020304" pitchFamily="18" charset="0"/>
                          <a:cs typeface="Times New Roman" panose="02020603050405020304" pitchFamily="18" charset="0"/>
                        </a:rPr>
                        <a:t>Batch Number: </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hMerge="1">
                  <a:txBody>
                    <a:bodyPr/>
                    <a:lstStyle/>
                    <a:p>
                      <a:pPr algn="ctr">
                        <a:lnSpc>
                          <a:spcPts val="364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06627">
                <a:tc>
                  <a:txBody>
                    <a:bodyPr/>
                    <a:lstStyle/>
                    <a:p>
                      <a:pPr algn="ctr">
                        <a:lnSpc>
                          <a:spcPts val="4059"/>
                        </a:lnSpc>
                        <a:defRPr/>
                      </a:pPr>
                      <a:r>
                        <a:rPr lang="en-US" sz="2400" b="1" dirty="0">
                          <a:latin typeface="Times New Roman" panose="02020603050405020304" pitchFamily="18" charset="0"/>
                          <a:cs typeface="Times New Roman" panose="02020603050405020304" pitchFamily="18" charset="0"/>
                        </a:rPr>
                        <a:t>Name of the Team Members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40"/>
                        </a:lnSpc>
                        <a:defRPr/>
                      </a:pPr>
                      <a:r>
                        <a:rPr lang="en-US" sz="2400" b="1" dirty="0">
                          <a:latin typeface="Times New Roman" panose="02020603050405020304" pitchFamily="18" charset="0"/>
                          <a:cs typeface="Times New Roman" panose="02020603050405020304" pitchFamily="18" charset="0"/>
                        </a:rPr>
                        <a:t>Roll Numbers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0662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2400" dirty="0">
                          <a:effectLst/>
                          <a:latin typeface="Times New Roman" panose="02020603050405020304" pitchFamily="18" charset="0"/>
                          <a:cs typeface="Times New Roman" panose="02020603050405020304" pitchFamily="18" charset="0"/>
                        </a:rPr>
                        <a:t>G. </a:t>
                      </a:r>
                      <a:r>
                        <a:rPr lang="en-IN" sz="2400" dirty="0" err="1">
                          <a:effectLst/>
                          <a:latin typeface="Times New Roman" panose="02020603050405020304" pitchFamily="18" charset="0"/>
                          <a:cs typeface="Times New Roman" panose="02020603050405020304" pitchFamily="18" charset="0"/>
                        </a:rPr>
                        <a:t>Vibhas</a:t>
                      </a:r>
                      <a:r>
                        <a:rPr lang="en-IN" sz="2400" dirty="0">
                          <a:effectLst/>
                          <a:latin typeface="Times New Roman" panose="02020603050405020304" pitchFamily="18" charset="0"/>
                          <a:cs typeface="Times New Roman" panose="02020603050405020304" pitchFamily="18" charset="0"/>
                        </a:rPr>
                        <a:t> Naidu</a:t>
                      </a:r>
                    </a:p>
                    <a:p>
                      <a:pPr algn="ctr" rtl="0" fontAlgn="ctr"/>
                      <a:endParaRPr lang="en-IN" sz="2400" dirty="0">
                        <a:effectLst/>
                        <a:latin typeface="Times New Roman" panose="02020603050405020304" pitchFamily="18" charset="0"/>
                        <a:cs typeface="Times New Roman" panose="02020603050405020304" pitchFamily="18" charset="0"/>
                      </a:endParaRPr>
                    </a:p>
                  </a:txBody>
                  <a:tcPr marL="22860" marR="22860" marT="15240" marB="152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IN" sz="2400" i="0" kern="1200" dirty="0">
                          <a:solidFill>
                            <a:schemeClr val="tx1"/>
                          </a:solidFill>
                          <a:effectLst/>
                          <a:latin typeface="Times New Roman" panose="02020603050405020304" pitchFamily="18" charset="0"/>
                          <a:ea typeface="+mn-ea"/>
                          <a:cs typeface="Times New Roman" panose="02020603050405020304" pitchFamily="18" charset="0"/>
                        </a:rPr>
                        <a:t>23071A67F1</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06627">
                <a:tc>
                  <a:txBody>
                    <a:bodyPr/>
                    <a:lstStyle/>
                    <a:p>
                      <a:pPr algn="ctr" rtl="0" fontAlgn="ctr"/>
                      <a:r>
                        <a:rPr lang="en-IN" sz="2400" dirty="0" err="1">
                          <a:effectLst/>
                          <a:latin typeface="Times New Roman" panose="02020603050405020304" pitchFamily="18" charset="0"/>
                          <a:cs typeface="Times New Roman" panose="02020603050405020304" pitchFamily="18" charset="0"/>
                        </a:rPr>
                        <a:t>Jagadeeswar</a:t>
                      </a:r>
                      <a:r>
                        <a:rPr lang="en-IN" sz="2400" dirty="0">
                          <a:effectLst/>
                          <a:latin typeface="Times New Roman" panose="02020603050405020304" pitchFamily="18" charset="0"/>
                          <a:cs typeface="Times New Roman" panose="02020603050405020304" pitchFamily="18" charset="0"/>
                        </a:rPr>
                        <a:t> </a:t>
                      </a:r>
                      <a:r>
                        <a:rPr lang="en-IN" sz="2400" dirty="0" err="1">
                          <a:effectLst/>
                          <a:latin typeface="Times New Roman" panose="02020603050405020304" pitchFamily="18" charset="0"/>
                          <a:cs typeface="Times New Roman" panose="02020603050405020304" pitchFamily="18" charset="0"/>
                        </a:rPr>
                        <a:t>Jonnadula</a:t>
                      </a:r>
                      <a:r>
                        <a:rPr lang="en-IN" sz="2400" dirty="0">
                          <a:effectLst/>
                          <a:latin typeface="Times New Roman" panose="02020603050405020304" pitchFamily="18" charset="0"/>
                          <a:cs typeface="Times New Roman" panose="02020603050405020304" pitchFamily="18" charset="0"/>
                        </a:rPr>
                        <a:t> </a:t>
                      </a:r>
                    </a:p>
                  </a:txBody>
                  <a:tcPr marL="22860" marR="22860" marT="15240" marB="152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IN" sz="2400" i="0" kern="1200" dirty="0">
                          <a:solidFill>
                            <a:schemeClr val="tx1"/>
                          </a:solidFill>
                          <a:effectLst/>
                          <a:latin typeface="Times New Roman" panose="02020603050405020304" pitchFamily="18" charset="0"/>
                          <a:ea typeface="+mn-ea"/>
                          <a:cs typeface="Times New Roman" panose="02020603050405020304" pitchFamily="18" charset="0"/>
                        </a:rPr>
                        <a:t>23071A67F4</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1450138"/>
                  </a:ext>
                </a:extLst>
              </a:tr>
              <a:tr h="706627">
                <a:tc>
                  <a:txBody>
                    <a:bodyPr/>
                    <a:lstStyle/>
                    <a:p>
                      <a:pPr algn="ctr" rtl="0" fontAlgn="ctr"/>
                      <a:r>
                        <a:rPr lang="en-IN" sz="2400" dirty="0">
                          <a:effectLst/>
                          <a:latin typeface="Times New Roman" panose="02020603050405020304" pitchFamily="18" charset="0"/>
                          <a:cs typeface="Times New Roman" panose="02020603050405020304" pitchFamily="18" charset="0"/>
                        </a:rPr>
                        <a:t>K Parvez </a:t>
                      </a:r>
                      <a:r>
                        <a:rPr lang="en-IN" sz="2400" dirty="0" err="1">
                          <a:effectLst/>
                          <a:latin typeface="Times New Roman" panose="02020603050405020304" pitchFamily="18" charset="0"/>
                          <a:cs typeface="Times New Roman" panose="02020603050405020304" pitchFamily="18" charset="0"/>
                        </a:rPr>
                        <a:t>Alam</a:t>
                      </a:r>
                      <a:endParaRPr lang="en-IN" sz="2400" dirty="0">
                        <a:effectLst/>
                        <a:latin typeface="Times New Roman" panose="02020603050405020304" pitchFamily="18" charset="0"/>
                        <a:cs typeface="Times New Roman" panose="02020603050405020304" pitchFamily="18" charset="0"/>
                      </a:endParaRPr>
                    </a:p>
                  </a:txBody>
                  <a:tcPr marL="22860" marR="22860" marT="15240" marB="152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IN" sz="2400" i="0" kern="1200" dirty="0">
                          <a:solidFill>
                            <a:schemeClr val="tx1"/>
                          </a:solidFill>
                          <a:effectLst/>
                          <a:latin typeface="Times New Roman" panose="02020603050405020304" pitchFamily="18" charset="0"/>
                          <a:ea typeface="+mn-ea"/>
                          <a:cs typeface="Times New Roman" panose="02020603050405020304" pitchFamily="18" charset="0"/>
                        </a:rPr>
                        <a:t>23071A67F5</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06627">
                <a:tc>
                  <a:txBody>
                    <a:bodyPr/>
                    <a:lstStyle/>
                    <a:p>
                      <a:pPr algn="ctr" rtl="0" fontAlgn="ctr"/>
                      <a:r>
                        <a:rPr lang="en-IN" sz="2400" dirty="0">
                          <a:effectLst/>
                          <a:latin typeface="Times New Roman" panose="02020603050405020304" pitchFamily="18" charset="0"/>
                          <a:cs typeface="Times New Roman" panose="02020603050405020304" pitchFamily="18" charset="0"/>
                        </a:rPr>
                        <a:t>Y. Uday Bhaskar Reddy</a:t>
                      </a:r>
                    </a:p>
                  </a:txBody>
                  <a:tcPr marL="22860" marR="22860" marT="15240" marB="1524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059"/>
                        </a:lnSpc>
                        <a:defRPr/>
                      </a:pPr>
                      <a:r>
                        <a:rPr lang="en-IN" sz="2400" i="0" kern="1200" dirty="0">
                          <a:solidFill>
                            <a:schemeClr val="tx1"/>
                          </a:solidFill>
                          <a:effectLst/>
                          <a:latin typeface="Times New Roman" panose="02020603050405020304" pitchFamily="18" charset="0"/>
                          <a:ea typeface="+mn-ea"/>
                          <a:cs typeface="Times New Roman" panose="02020603050405020304" pitchFamily="18" charset="0"/>
                        </a:rPr>
                        <a:t>23071A67K4</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5411464"/>
                  </a:ext>
                </a:extLst>
              </a:tr>
            </a:tbl>
          </a:graphicData>
        </a:graphic>
      </p:graphicFrame>
      <p:sp>
        <p:nvSpPr>
          <p:cNvPr id="6" name="TextBox 6"/>
          <p:cNvSpPr txBox="1"/>
          <p:nvPr/>
        </p:nvSpPr>
        <p:spPr>
          <a:xfrm>
            <a:off x="762000" y="3003982"/>
            <a:ext cx="17373600" cy="1473032"/>
          </a:xfrm>
          <a:prstGeom prst="rect">
            <a:avLst/>
          </a:prstGeom>
        </p:spPr>
        <p:txBody>
          <a:bodyPr wrap="square" lIns="0" tIns="0" rIns="0" bIns="0" rtlCol="0" anchor="t">
            <a:spAutoFit/>
          </a:bodyPr>
          <a:lstStyle/>
          <a:p>
            <a:pPr algn="ctr">
              <a:lnSpc>
                <a:spcPts val="6008"/>
              </a:lnSpc>
              <a:spcBef>
                <a:spcPct val="0"/>
              </a:spcBef>
            </a:pPr>
            <a:r>
              <a:rPr lang="en-US" sz="4291" b="1" dirty="0">
                <a:solidFill>
                  <a:srgbClr val="000000"/>
                </a:solidFill>
                <a:latin typeface="Open Sauce Bold"/>
                <a:ea typeface="Open Sauce Bold"/>
                <a:cs typeface="Open Sauce Bold"/>
                <a:sym typeface="Open Sauce Bold"/>
              </a:rPr>
              <a:t>An AI-Driven Autonomous DevOps Framework for Intelligent Cloud Infrastructure Provisioning and Application Deployment</a:t>
            </a:r>
          </a:p>
        </p:txBody>
      </p:sp>
      <p:pic>
        <p:nvPicPr>
          <p:cNvPr id="11" name="Picture 10">
            <a:extLst>
              <a:ext uri="{FF2B5EF4-FFF2-40B4-BE49-F238E27FC236}">
                <a16:creationId xmlns:a16="http://schemas.microsoft.com/office/drawing/2014/main" id="{BE02D836-7B44-9056-998D-7A2B2986E8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1" y="66675"/>
            <a:ext cx="16306800" cy="2847057"/>
          </a:xfrm>
          <a:prstGeom prst="rect">
            <a:avLst/>
          </a:prstGeom>
          <a:noFill/>
          <a:ln>
            <a:noFill/>
          </a:ln>
        </p:spPr>
      </p:pic>
      <p:sp>
        <p:nvSpPr>
          <p:cNvPr id="4" name="TextBox 3">
            <a:extLst>
              <a:ext uri="{FF2B5EF4-FFF2-40B4-BE49-F238E27FC236}">
                <a16:creationId xmlns:a16="http://schemas.microsoft.com/office/drawing/2014/main" id="{49BF72DB-01E8-8EDA-7D0E-B97FE11F5496}"/>
              </a:ext>
            </a:extLst>
          </p:cNvPr>
          <p:cNvSpPr txBox="1"/>
          <p:nvPr/>
        </p:nvSpPr>
        <p:spPr>
          <a:xfrm>
            <a:off x="277586" y="7149334"/>
            <a:ext cx="7494814" cy="255454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Under The Supervision of:</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Name: Dr. P Jyothi</a:t>
            </a:r>
          </a:p>
          <a:p>
            <a:r>
              <a:rPr lang="en-US" sz="3200" b="1" dirty="0">
                <a:latin typeface="Times New Roman" panose="02020603050405020304" pitchFamily="18" charset="0"/>
                <a:cs typeface="Times New Roman" panose="02020603050405020304" pitchFamily="18" charset="0"/>
              </a:rPr>
              <a:t>Designation: Assistant Professor</a:t>
            </a:r>
          </a:p>
          <a:p>
            <a:r>
              <a:rPr lang="en-US" sz="3200" b="1" dirty="0">
                <a:latin typeface="Times New Roman" panose="02020603050405020304" pitchFamily="18" charset="0"/>
                <a:cs typeface="Times New Roman" panose="02020603050405020304" pitchFamily="18" charset="0"/>
              </a:rPr>
              <a:t>Dept. of CSE-(</a:t>
            </a:r>
            <a:r>
              <a:rPr lang="en-US" sz="3200" b="1" dirty="0" err="1">
                <a:latin typeface="Times New Roman" panose="02020603050405020304" pitchFamily="18" charset="0"/>
                <a:cs typeface="Times New Roman" panose="02020603050405020304" pitchFamily="18" charset="0"/>
              </a:rPr>
              <a:t>CyS</a:t>
            </a:r>
            <a:r>
              <a:rPr lang="en-US" sz="3200" b="1" dirty="0">
                <a:latin typeface="Times New Roman" panose="02020603050405020304" pitchFamily="18" charset="0"/>
                <a:cs typeface="Times New Roman" panose="02020603050405020304" pitchFamily="18" charset="0"/>
              </a:rPr>
              <a:t>, DS) and AI&amp;DS</a:t>
            </a:r>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dirty="0"/>
          </a:p>
        </p:txBody>
      </p:sp>
      <p:sp>
        <p:nvSpPr>
          <p:cNvPr id="3" name="Freeform 3"/>
          <p:cNvSpPr/>
          <p:nvPr/>
        </p:nvSpPr>
        <p:spPr>
          <a:xfrm>
            <a:off x="15392400"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402390" y="547486"/>
            <a:ext cx="2795623" cy="738227"/>
          </a:xfrm>
          <a:prstGeom prst="rect">
            <a:avLst/>
          </a:prstGeom>
        </p:spPr>
        <p:txBody>
          <a:bodyPr lIns="0" tIns="0" rIns="0" bIns="0" rtlCol="0" anchor="t">
            <a:spAutoFit/>
          </a:bodyPr>
          <a:lstStyle/>
          <a:p>
            <a:pPr algn="ctr">
              <a:lnSpc>
                <a:spcPts val="6008"/>
              </a:lnSpc>
              <a:spcBef>
                <a:spcPct val="0"/>
              </a:spcBef>
            </a:pPr>
            <a:r>
              <a:rPr lang="en-US" sz="4291" b="1" dirty="0">
                <a:solidFill>
                  <a:srgbClr val="000000"/>
                </a:solidFill>
                <a:latin typeface="Open Sauce Bold"/>
                <a:ea typeface="Open Sauce Bold"/>
                <a:cs typeface="Open Sauce Bold"/>
                <a:sym typeface="Open Sauce Bold"/>
              </a:rPr>
              <a:t>Abstract:</a:t>
            </a:r>
          </a:p>
        </p:txBody>
      </p:sp>
      <p:sp>
        <p:nvSpPr>
          <p:cNvPr id="6" name="TextBox 5">
            <a:extLst>
              <a:ext uri="{FF2B5EF4-FFF2-40B4-BE49-F238E27FC236}">
                <a16:creationId xmlns:a16="http://schemas.microsoft.com/office/drawing/2014/main" id="{15844B9E-454B-4EDF-B234-3B08A3E19D0A}"/>
              </a:ext>
            </a:extLst>
          </p:cNvPr>
          <p:cNvSpPr txBox="1"/>
          <p:nvPr/>
        </p:nvSpPr>
        <p:spPr>
          <a:xfrm>
            <a:off x="402390" y="1918923"/>
            <a:ext cx="16590210" cy="8894743"/>
          </a:xfrm>
          <a:prstGeom prst="rect">
            <a:avLst/>
          </a:prstGeom>
          <a:noFill/>
        </p:spPr>
        <p:txBody>
          <a:bodyPr wrap="square" rtlCol="0">
            <a:spAutoFit/>
          </a:bodyPr>
          <a:lstStyle/>
          <a:p>
            <a:pPr algn="just"/>
            <a:r>
              <a:rPr lang="en-US" sz="2200" dirty="0"/>
              <a:t>Modern software development requires efficient, scalable, and reliable cloud deployment, but developers often face challenges in analyzing application requirements, selecting suitable cloud services, configuring infrastructure, managing CI/CD pipelines, and identifying deployment or runtime failures. This project proposes an </a:t>
            </a:r>
            <a:r>
              <a:rPr lang="en-US" sz="2200" b="1" dirty="0"/>
              <a:t>AI-Driven Autonomous DevOps Framework for Intelligent Cloud Infrastructure Provisioning and Application Deployment</a:t>
            </a:r>
            <a:r>
              <a:rPr lang="en-US" sz="2200" dirty="0"/>
              <a:t> that integrates </a:t>
            </a:r>
            <a:r>
              <a:rPr lang="en-US" sz="2200" b="1" dirty="0"/>
              <a:t>Artificial Intelligence, Machine Learning, Large Language Models, Natural Language Processing, and cloud automation</a:t>
            </a:r>
            <a:r>
              <a:rPr lang="en-US" sz="2200" dirty="0"/>
              <a:t> into a unified platform. The system enables developers to connect external code repositories such as GitHub, after which an </a:t>
            </a:r>
            <a:r>
              <a:rPr lang="en-US" sz="2200" b="1" dirty="0"/>
              <a:t>ML-based code analysis model</a:t>
            </a:r>
            <a:r>
              <a:rPr lang="en-US" sz="2200" dirty="0"/>
              <a:t> analyzes the source code to identify the programming language, framework, dependencies, architecture, and infrastructure requirements. Based on these characteristics, an </a:t>
            </a:r>
            <a:r>
              <a:rPr lang="en-US" sz="2200" b="1" dirty="0"/>
              <a:t>ML-driven cloud-service recommendation model</a:t>
            </a:r>
            <a:r>
              <a:rPr lang="en-US" sz="2200" dirty="0"/>
              <a:t> recommends suitable services and deployment strategies across </a:t>
            </a:r>
            <a:r>
              <a:rPr lang="en-US" sz="2200" b="1" dirty="0"/>
              <a:t>AWS, Microsoft Azure, and Google Cloud Platform (GCP)</a:t>
            </a:r>
            <a:r>
              <a:rPr lang="en-US" sz="2200" dirty="0"/>
              <a:t> by considering application requirements, cost, performance, scalability, and resource utilization. A decision and rule layer allows users to enforce deployment preferences, such as selecting a specific cloud provider or choosing the most cost-effective option.</a:t>
            </a:r>
          </a:p>
          <a:p>
            <a:pPr algn="just"/>
            <a:r>
              <a:rPr lang="en-US" sz="2200" dirty="0"/>
              <a:t>The framework also incorporates an </a:t>
            </a:r>
            <a:r>
              <a:rPr lang="en-US" sz="2200" b="1" dirty="0"/>
              <a:t>LLM-based application intelligence module</a:t>
            </a:r>
            <a:r>
              <a:rPr lang="en-US" sz="2200" dirty="0"/>
              <a:t> to provide context-specific insights about the codebase, architecture, dependencies, functionality, and deployment requirements. </a:t>
            </a:r>
            <a:r>
              <a:rPr lang="en-US" sz="2200" b="1" dirty="0"/>
              <a:t>Terraform and cloud provider APIs</a:t>
            </a:r>
            <a:r>
              <a:rPr lang="en-US" sz="2200" dirty="0"/>
              <a:t> are used to automatically provision the selected infrastructure and deploy applications through CI/CD pipelines. The system generates an </a:t>
            </a:r>
            <a:r>
              <a:rPr lang="en-US" sz="2200" b="1" dirty="0"/>
              <a:t>explainable deployment report</a:t>
            </a:r>
            <a:r>
              <a:rPr lang="en-US" sz="2200" dirty="0"/>
              <a:t> describing the selected cloud resources, their purpose, configuration, and the reasoning behind deployment decisions. For operational reliability, an </a:t>
            </a:r>
            <a:r>
              <a:rPr lang="en-US" sz="2200" b="1" dirty="0"/>
              <a:t>ML-based monitoring and anomaly detection model</a:t>
            </a:r>
            <a:r>
              <a:rPr lang="en-US" sz="2200" dirty="0"/>
              <a:t> analyzes application and infrastructure metrics and logs to identify abnormal behavior, while an </a:t>
            </a:r>
            <a:r>
              <a:rPr lang="en-US" sz="2200" b="1" dirty="0"/>
              <a:t>ML-based error classification model</a:t>
            </a:r>
            <a:r>
              <a:rPr lang="en-US" sz="2200" dirty="0"/>
              <a:t> identifies deployment and runtime failures and predicts their probable causes. A rule-based automation engine can initiate corrective actions such as application restart, scaling, rollback, or redeployment. By combining </a:t>
            </a:r>
            <a:r>
              <a:rPr lang="en-US" sz="2200" b="1" dirty="0"/>
              <a:t>Machine Learning, Artificial Intelligence, Natural Language Processing, Infrastructure as Code, and multi-cloud automation</a:t>
            </a:r>
            <a:r>
              <a:rPr lang="en-US" sz="2200" dirty="0"/>
              <a:t>, the proposed framework aims to reduce manual DevOps effort, improve deployment reliability, optimize cloud-resource selection, and enable intelligent, autonomous, and explainable application deployment across heterogeneous cloud environments.</a:t>
            </a:r>
          </a:p>
          <a:p>
            <a:pPr algn="just"/>
            <a:endParaRPr lang="en-US" sz="2200" dirty="0"/>
          </a:p>
          <a:p>
            <a:r>
              <a:rPr lang="en-IN" sz="2200" b="1" dirty="0"/>
              <a:t>Keywords:</a:t>
            </a:r>
            <a:endParaRPr lang="en-IN" sz="2200" dirty="0"/>
          </a:p>
          <a:p>
            <a:r>
              <a:rPr lang="en-IN" sz="2200" dirty="0"/>
              <a:t>Artificial Intelligence, Machine Learning, Cloud Computing, DevOps Automation, Multi-Cloud Deployment, Infrastructure as Code, CI/CD, Anomaly Detection.</a:t>
            </a:r>
          </a:p>
          <a:p>
            <a:pPr algn="just"/>
            <a:endParaRPr lang="en-US" sz="2200" dirty="0"/>
          </a:p>
          <a:p>
            <a:pPr algn="just"/>
            <a:endParaRPr lang="en-IN"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637888" y="0"/>
            <a:ext cx="2759161" cy="1918923"/>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584139" y="547486"/>
            <a:ext cx="3613497" cy="738227"/>
          </a:xfrm>
          <a:prstGeom prst="rect">
            <a:avLst/>
          </a:prstGeom>
        </p:spPr>
        <p:txBody>
          <a:bodyPr lIns="0" tIns="0" rIns="0" bIns="0" rtlCol="0" anchor="t">
            <a:spAutoFit/>
          </a:bodyPr>
          <a:lstStyle/>
          <a:p>
            <a:pPr algn="ctr">
              <a:lnSpc>
                <a:spcPts val="6008"/>
              </a:lnSpc>
              <a:spcBef>
                <a:spcPct val="0"/>
              </a:spcBef>
            </a:pPr>
            <a:r>
              <a:rPr lang="en-US" sz="4291" b="1" dirty="0">
                <a:solidFill>
                  <a:srgbClr val="000000"/>
                </a:solidFill>
                <a:latin typeface="Open Sauce Bold"/>
                <a:ea typeface="Open Sauce Bold"/>
                <a:cs typeface="Open Sauce Bold"/>
                <a:sym typeface="Open Sauce Bold"/>
              </a:rPr>
              <a:t>Introduction:</a:t>
            </a:r>
          </a:p>
        </p:txBody>
      </p:sp>
      <p:sp>
        <p:nvSpPr>
          <p:cNvPr id="7" name="TextBox 6">
            <a:extLst>
              <a:ext uri="{FF2B5EF4-FFF2-40B4-BE49-F238E27FC236}">
                <a16:creationId xmlns:a16="http://schemas.microsoft.com/office/drawing/2014/main" id="{7469FA27-1ECC-4A81-BBCA-B218CC6349FD}"/>
              </a:ext>
            </a:extLst>
          </p:cNvPr>
          <p:cNvSpPr txBox="1"/>
          <p:nvPr/>
        </p:nvSpPr>
        <p:spPr>
          <a:xfrm>
            <a:off x="584139" y="2095500"/>
            <a:ext cx="15494061" cy="6740307"/>
          </a:xfrm>
          <a:prstGeom prst="rect">
            <a:avLst/>
          </a:prstGeom>
          <a:noFill/>
        </p:spPr>
        <p:txBody>
          <a:bodyPr wrap="square" rtlCol="0">
            <a:spAutoFit/>
          </a:bodyPr>
          <a:lstStyle/>
          <a:p>
            <a:pPr algn="just"/>
            <a:r>
              <a:rPr lang="en-US" sz="2400" dirty="0"/>
              <a:t>Cloud computing and DevOps have become essential technologies in modern software development, enabling organizations to develop, deploy, and scale applications efficiently. However, cloud application deployment involves several complex activities, such as analyzing application requirements, identifying dependencies, selecting appropriate cloud services, configuring infrastructure, establishing CI/CD pipelines, and managing deployment issues. These activities often depend on manual effort and specialized technical knowledge. The complexity increases further when applications need to be deployed across multiple cloud platforms with different services, configurations, and resource requirements. Therefore, there is a need for intelligent approaches that can assist developers in making effective deployment and infrastructure decisions.</a:t>
            </a:r>
          </a:p>
          <a:p>
            <a:pPr algn="just"/>
            <a:endParaRPr lang="en-US" sz="2400" dirty="0"/>
          </a:p>
          <a:p>
            <a:pPr algn="just"/>
            <a:r>
              <a:rPr lang="en-US" sz="2400" dirty="0"/>
              <a:t>The proposed </a:t>
            </a:r>
            <a:r>
              <a:rPr lang="en-US" sz="2400" b="1" dirty="0"/>
              <a:t>AI-Driven Autonomous DevOps Framework for Intelligent Cloud Infrastructure Provisioning and Application Deployment</a:t>
            </a:r>
            <a:r>
              <a:rPr lang="en-US" sz="2400" dirty="0"/>
              <a:t> addresses these challenges by integrating </a:t>
            </a:r>
            <a:r>
              <a:rPr lang="en-US" sz="2400" b="1" dirty="0"/>
              <a:t>Artificial Intelligence, Machine Learning, Natural Language Processing, cloud computing, and DevOps technologies</a:t>
            </a:r>
            <a:r>
              <a:rPr lang="en-US" sz="2400" dirty="0"/>
              <a:t>. The framework analyzes application source code to identify its characteristics, dependencies, architecture, and infrastructure requirements, and uses ML-based models to recommend suitable cloud services and deployment strategies. It also incorporates cloud resource provisioning, CI/CD pipelines, application monitoring, anomaly detection, and error classification to support different stages of the deployment lifecycle. By combining intelligent decision-making with multi-cloud technologies, the proposed framework aims to improve </a:t>
            </a:r>
            <a:r>
              <a:rPr lang="en-US" sz="2400" b="1" dirty="0"/>
              <a:t>deployment efficiency, reliability, scalability, and cost-effectiveness</a:t>
            </a:r>
            <a:r>
              <a:rPr lang="en-US" sz="2400" dirty="0"/>
              <a:t>, while reducing the complexity and technical effort involved in cloud application deployment.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CB09-171E-426F-5F29-8742EBCDD8ED}"/>
              </a:ext>
            </a:extLst>
          </p:cNvPr>
          <p:cNvSpPr>
            <a:spLocks noGrp="1"/>
          </p:cNvSpPr>
          <p:nvPr>
            <p:ph type="title"/>
          </p:nvPr>
        </p:nvSpPr>
        <p:spPr>
          <a:xfrm>
            <a:off x="457200" y="274638"/>
            <a:ext cx="9448800" cy="1143000"/>
          </a:xfrm>
        </p:spPr>
        <p:txBody>
          <a:bodyPr>
            <a:normAutofit/>
          </a:bodyPr>
          <a:lstStyle/>
          <a:p>
            <a:pPr algn="l"/>
            <a:r>
              <a:rPr lang="en-US" b="1" dirty="0">
                <a:solidFill>
                  <a:srgbClr val="000000"/>
                </a:solidFill>
                <a:latin typeface="Open Sauce Bold"/>
                <a:ea typeface="Open Sauce Bold"/>
                <a:cs typeface="Open Sauce Bold"/>
                <a:sym typeface="Open Sauce Bold"/>
              </a:rPr>
              <a:t>Literature Survey:</a:t>
            </a:r>
            <a:endParaRPr lang="en-IN" dirty="0"/>
          </a:p>
        </p:txBody>
      </p:sp>
      <p:graphicFrame>
        <p:nvGraphicFramePr>
          <p:cNvPr id="9" name="Content Placeholder 8">
            <a:extLst>
              <a:ext uri="{FF2B5EF4-FFF2-40B4-BE49-F238E27FC236}">
                <a16:creationId xmlns:a16="http://schemas.microsoft.com/office/drawing/2014/main" id="{FDF4F1E3-EDFB-4832-8DB2-1C19BF1385C9}"/>
              </a:ext>
            </a:extLst>
          </p:cNvPr>
          <p:cNvGraphicFramePr>
            <a:graphicFrameLocks noGrp="1"/>
          </p:cNvGraphicFramePr>
          <p:nvPr>
            <p:ph idx="1"/>
            <p:extLst>
              <p:ext uri="{D42A27DB-BD31-4B8C-83A1-F6EECF244321}">
                <p14:modId xmlns:p14="http://schemas.microsoft.com/office/powerpoint/2010/main" val="2024883733"/>
              </p:ext>
            </p:extLst>
          </p:nvPr>
        </p:nvGraphicFramePr>
        <p:xfrm>
          <a:off x="685800" y="1714500"/>
          <a:ext cx="16535400" cy="8416710"/>
        </p:xfrm>
        <a:graphic>
          <a:graphicData uri="http://schemas.openxmlformats.org/drawingml/2006/table">
            <a:tbl>
              <a:tblPr firstRow="1" bandRow="1">
                <a:tableStyleId>{5C22544A-7EE6-4342-B048-85BDC9FD1C3A}</a:tableStyleId>
              </a:tblPr>
              <a:tblGrid>
                <a:gridCol w="2755900">
                  <a:extLst>
                    <a:ext uri="{9D8B030D-6E8A-4147-A177-3AD203B41FA5}">
                      <a16:colId xmlns:a16="http://schemas.microsoft.com/office/drawing/2014/main" val="585174362"/>
                    </a:ext>
                  </a:extLst>
                </a:gridCol>
                <a:gridCol w="2755900">
                  <a:extLst>
                    <a:ext uri="{9D8B030D-6E8A-4147-A177-3AD203B41FA5}">
                      <a16:colId xmlns:a16="http://schemas.microsoft.com/office/drawing/2014/main" val="3104647894"/>
                    </a:ext>
                  </a:extLst>
                </a:gridCol>
                <a:gridCol w="2755900">
                  <a:extLst>
                    <a:ext uri="{9D8B030D-6E8A-4147-A177-3AD203B41FA5}">
                      <a16:colId xmlns:a16="http://schemas.microsoft.com/office/drawing/2014/main" val="3135662687"/>
                    </a:ext>
                  </a:extLst>
                </a:gridCol>
                <a:gridCol w="2755900">
                  <a:extLst>
                    <a:ext uri="{9D8B030D-6E8A-4147-A177-3AD203B41FA5}">
                      <a16:colId xmlns:a16="http://schemas.microsoft.com/office/drawing/2014/main" val="659717173"/>
                    </a:ext>
                  </a:extLst>
                </a:gridCol>
                <a:gridCol w="2755900">
                  <a:extLst>
                    <a:ext uri="{9D8B030D-6E8A-4147-A177-3AD203B41FA5}">
                      <a16:colId xmlns:a16="http://schemas.microsoft.com/office/drawing/2014/main" val="984906503"/>
                    </a:ext>
                  </a:extLst>
                </a:gridCol>
                <a:gridCol w="2755900">
                  <a:extLst>
                    <a:ext uri="{9D8B030D-6E8A-4147-A177-3AD203B41FA5}">
                      <a16:colId xmlns:a16="http://schemas.microsoft.com/office/drawing/2014/main" val="975873855"/>
                    </a:ext>
                  </a:extLst>
                </a:gridCol>
              </a:tblGrid>
              <a:tr h="826799">
                <a:tc>
                  <a:txBody>
                    <a:bodyPr/>
                    <a:lstStyle/>
                    <a:p>
                      <a:r>
                        <a:rPr lang="en-IN" sz="1800" dirty="0"/>
                        <a:t>Title of the paper</a:t>
                      </a:r>
                    </a:p>
                  </a:txBody>
                  <a:tcPr marL="20954" marR="20954" marT="10477" marB="10477" anchor="ctr"/>
                </a:tc>
                <a:tc>
                  <a:txBody>
                    <a:bodyPr/>
                    <a:lstStyle/>
                    <a:p>
                      <a:r>
                        <a:rPr lang="en-US" sz="1800"/>
                        <a:t>Author details and Journal / conference publishing information</a:t>
                      </a:r>
                    </a:p>
                  </a:txBody>
                  <a:tcPr marL="20954" marR="20954" marT="10477" marB="10477" anchor="ctr"/>
                </a:tc>
                <a:tc>
                  <a:txBody>
                    <a:bodyPr/>
                    <a:lstStyle/>
                    <a:p>
                      <a:r>
                        <a:rPr lang="en-US" sz="1800"/>
                        <a:t>Proposed method used in the Journal or conference paper</a:t>
                      </a:r>
                    </a:p>
                  </a:txBody>
                  <a:tcPr marL="20954" marR="20954" marT="10477" marB="10477" anchor="ctr"/>
                </a:tc>
                <a:tc>
                  <a:txBody>
                    <a:bodyPr/>
                    <a:lstStyle/>
                    <a:p>
                      <a:r>
                        <a:rPr lang="en-US" sz="1800"/>
                        <a:t>Dataset used in the Paper</a:t>
                      </a:r>
                    </a:p>
                  </a:txBody>
                  <a:tcPr marL="20954" marR="20954" marT="10477" marB="10477" anchor="ctr"/>
                </a:tc>
                <a:tc>
                  <a:txBody>
                    <a:bodyPr/>
                    <a:lstStyle/>
                    <a:p>
                      <a:r>
                        <a:rPr lang="en-US" sz="1800"/>
                        <a:t>Advantages of the proposed paper</a:t>
                      </a:r>
                    </a:p>
                  </a:txBody>
                  <a:tcPr marL="20954" marR="20954" marT="10477" marB="10477" anchor="ctr"/>
                </a:tc>
                <a:tc>
                  <a:txBody>
                    <a:bodyPr/>
                    <a:lstStyle/>
                    <a:p>
                      <a:r>
                        <a:rPr lang="en-US" sz="1800"/>
                        <a:t>Disadvantages / Limitations of the proposed paper</a:t>
                      </a:r>
                    </a:p>
                  </a:txBody>
                  <a:tcPr marL="20954" marR="20954" marT="10477" marB="10477" anchor="ctr"/>
                </a:tc>
                <a:extLst>
                  <a:ext uri="{0D108BD9-81ED-4DB2-BD59-A6C34878D82A}">
                    <a16:rowId xmlns:a16="http://schemas.microsoft.com/office/drawing/2014/main" val="4260598632"/>
                  </a:ext>
                </a:extLst>
              </a:tr>
              <a:tr h="1711309">
                <a:tc>
                  <a:txBody>
                    <a:bodyPr/>
                    <a:lstStyle/>
                    <a:p>
                      <a:r>
                        <a:rPr lang="en-US" sz="1800" dirty="0" err="1"/>
                        <a:t>TerraFormer</a:t>
                      </a:r>
                      <a:r>
                        <a:rPr lang="en-US" sz="1800" dirty="0"/>
                        <a:t>: Automated Infrastructure-as-Code with LLMs Fine-Tuned via Policy-Guided Verifier Feedback</a:t>
                      </a:r>
                    </a:p>
                  </a:txBody>
                  <a:tcPr marL="20954" marR="20954" marT="10477" marB="10477" anchor="ctr"/>
                </a:tc>
                <a:tc>
                  <a:txBody>
                    <a:bodyPr/>
                    <a:lstStyle/>
                    <a:p>
                      <a:r>
                        <a:rPr lang="en-IN" sz="1800" dirty="0"/>
                        <a:t>Jana, P., Davidson, S., Bhasker, B., Kan, A., </a:t>
                      </a:r>
                      <a:r>
                        <a:rPr lang="en-IN" sz="1800" dirty="0" err="1"/>
                        <a:t>Deoras</a:t>
                      </a:r>
                      <a:r>
                        <a:rPr lang="en-IN" sz="1800" dirty="0"/>
                        <a:t>, A., </a:t>
                      </a:r>
                      <a:r>
                        <a:rPr lang="en-IN" sz="1800" dirty="0" err="1"/>
                        <a:t>Callot</a:t>
                      </a:r>
                      <a:r>
                        <a:rPr lang="en-IN" sz="1800" dirty="0"/>
                        <a:t>, L. — </a:t>
                      </a:r>
                      <a:r>
                        <a:rPr lang="en-IN" sz="1800" dirty="0" err="1"/>
                        <a:t>arXiv</a:t>
                      </a:r>
                      <a:r>
                        <a:rPr lang="en-IN" sz="1800" dirty="0"/>
                        <a:t>, 2026</a:t>
                      </a:r>
                    </a:p>
                  </a:txBody>
                  <a:tcPr marL="20954" marR="20954" marT="10477" marB="10477" anchor="ctr"/>
                </a:tc>
                <a:tc>
                  <a:txBody>
                    <a:bodyPr/>
                    <a:lstStyle/>
                    <a:p>
                      <a:r>
                        <a:rPr lang="en-US" sz="1800"/>
                        <a:t>Neuro-symbolic framework using supervised fine-tuning and verifier-guided reinforcement learning for Terraform syntax, deployability and policy compliance</a:t>
                      </a:r>
                    </a:p>
                  </a:txBody>
                  <a:tcPr marL="20954" marR="20954" marT="10477" marB="10477" anchor="ctr"/>
                </a:tc>
                <a:tc>
                  <a:txBody>
                    <a:bodyPr/>
                    <a:lstStyle/>
                    <a:p>
                      <a:r>
                        <a:rPr lang="en-US" sz="1800"/>
                        <a:t>TF-Gen (152K instances) and TF-Mutn (52K instances)</a:t>
                      </a:r>
                    </a:p>
                  </a:txBody>
                  <a:tcPr marL="20954" marR="20954" marT="10477" marB="10477" anchor="ctr"/>
                </a:tc>
                <a:tc>
                  <a:txBody>
                    <a:bodyPr/>
                    <a:lstStyle/>
                    <a:p>
                      <a:r>
                        <a:rPr lang="en-US" sz="1800"/>
                        <a:t>Outperforms much larger LLMs on evaluated datasets; strong security and best-practice compliance</a:t>
                      </a:r>
                    </a:p>
                  </a:txBody>
                  <a:tcPr marL="20954" marR="20954" marT="10477" marB="10477" anchor="ctr"/>
                </a:tc>
                <a:tc>
                  <a:txBody>
                    <a:bodyPr/>
                    <a:lstStyle/>
                    <a:p>
                      <a:r>
                        <a:rPr lang="en-US" sz="1800"/>
                        <a:t>Requires large curated datasets and verifier tooling; ranks third on independent IaC-Eval</a:t>
                      </a:r>
                    </a:p>
                  </a:txBody>
                  <a:tcPr marL="20954" marR="20954" marT="10477" marB="10477" anchor="ctr"/>
                </a:tc>
                <a:extLst>
                  <a:ext uri="{0D108BD9-81ED-4DB2-BD59-A6C34878D82A}">
                    <a16:rowId xmlns:a16="http://schemas.microsoft.com/office/drawing/2014/main" val="3557342664"/>
                  </a:ext>
                </a:extLst>
              </a:tr>
              <a:tr h="1148927">
                <a:tc>
                  <a:txBody>
                    <a:bodyPr/>
                    <a:lstStyle/>
                    <a:p>
                      <a:r>
                        <a:rPr lang="en-US" sz="1800" dirty="0" err="1"/>
                        <a:t>IaC</a:t>
                      </a:r>
                      <a:r>
                        <a:rPr lang="en-US" sz="1800" dirty="0"/>
                        <a:t> Generation with LLMs: An Error Taxonomy and A Study on Configuration Knowledge Injection</a:t>
                      </a:r>
                    </a:p>
                  </a:txBody>
                  <a:tcPr marL="20954" marR="20954" marT="10477" marB="10477" anchor="ctr"/>
                </a:tc>
                <a:tc>
                  <a:txBody>
                    <a:bodyPr/>
                    <a:lstStyle/>
                    <a:p>
                      <a:r>
                        <a:rPr lang="nb-NO" sz="1800" dirty="0"/>
                        <a:t>Nekrasov, R. et al. — arXiv:2512.14792, 2025</a:t>
                      </a:r>
                    </a:p>
                  </a:txBody>
                  <a:tcPr marL="20954" marR="20954" marT="10477" marB="10477" anchor="ctr"/>
                </a:tc>
                <a:tc>
                  <a:txBody>
                    <a:bodyPr/>
                    <a:lstStyle/>
                    <a:p>
                      <a:r>
                        <a:rPr lang="en-US" sz="1800"/>
                        <a:t>Graph-RAG based structured configuration-knowledge injection into LLM-based IaC generation</a:t>
                      </a:r>
                    </a:p>
                  </a:txBody>
                  <a:tcPr marL="20954" marR="20954" marT="10477" marB="10477" anchor="ctr"/>
                </a:tc>
                <a:tc>
                  <a:txBody>
                    <a:bodyPr/>
                    <a:lstStyle/>
                    <a:p>
                      <a:r>
                        <a:rPr lang="en-US" sz="1800"/>
                        <a:t>Extended IaC-Eval benchmark using Terraform and AWS</a:t>
                      </a:r>
                    </a:p>
                  </a:txBody>
                  <a:tcPr marL="20954" marR="20954" marT="10477" marB="10477" anchor="ctr"/>
                </a:tc>
                <a:tc>
                  <a:txBody>
                    <a:bodyPr/>
                    <a:lstStyle/>
                    <a:p>
                      <a:r>
                        <a:rPr lang="en-US" sz="1800"/>
                        <a:t>Improves success rate from 27.1% to 75.3%; introduces an LLM-IaC error taxonomy</a:t>
                      </a:r>
                    </a:p>
                  </a:txBody>
                  <a:tcPr marL="20954" marR="20954" marT="10477" marB="10477" anchor="ctr"/>
                </a:tc>
                <a:tc>
                  <a:txBody>
                    <a:bodyPr/>
                    <a:lstStyle/>
                    <a:p>
                      <a:r>
                        <a:rPr lang="en-US" sz="1800"/>
                        <a:t>Baseline LLM performance is poor; Graph-RAG adds retrieval and engineering overhead</a:t>
                      </a:r>
                    </a:p>
                  </a:txBody>
                  <a:tcPr marL="20954" marR="20954" marT="10477" marB="10477" anchor="ctr"/>
                </a:tc>
                <a:extLst>
                  <a:ext uri="{0D108BD9-81ED-4DB2-BD59-A6C34878D82A}">
                    <a16:rowId xmlns:a16="http://schemas.microsoft.com/office/drawing/2014/main" val="3972821997"/>
                  </a:ext>
                </a:extLst>
              </a:tr>
              <a:tr h="1148927">
                <a:tc>
                  <a:txBody>
                    <a:bodyPr/>
                    <a:lstStyle/>
                    <a:p>
                      <a:r>
                        <a:rPr lang="en-US" sz="1800"/>
                        <a:t>Security-First Evaluation of Text-to-Terraform: Benchmarking LLMs and SLMs for Secure IaC Generation</a:t>
                      </a:r>
                    </a:p>
                  </a:txBody>
                  <a:tcPr marL="20954" marR="20954" marT="10477" marB="10477" anchor="ctr"/>
                </a:tc>
                <a:tc>
                  <a:txBody>
                    <a:bodyPr/>
                    <a:lstStyle/>
                    <a:p>
                      <a:r>
                        <a:rPr lang="en-IN" sz="1800"/>
                        <a:t>Santos Vargas, F.L. et al. — arXiv:2608.02672, 2026</a:t>
                      </a:r>
                    </a:p>
                  </a:txBody>
                  <a:tcPr marL="20954" marR="20954" marT="10477" marB="10477" anchor="ctr"/>
                </a:tc>
                <a:tc>
                  <a:txBody>
                    <a:bodyPr/>
                    <a:lstStyle/>
                    <a:p>
                      <a:r>
                        <a:rPr lang="en-US" sz="1800"/>
                        <a:t>Benchmarks LLMs/SLMs for AWS Terraform generation with Checkov and Trivy security scanning in GitLab CI/CD</a:t>
                      </a:r>
                    </a:p>
                  </a:txBody>
                  <a:tcPr marL="20954" marR="20954" marT="10477" marB="10477" anchor="ctr"/>
                </a:tc>
                <a:tc>
                  <a:txBody>
                    <a:bodyPr/>
                    <a:lstStyle/>
                    <a:p>
                      <a:r>
                        <a:rPr lang="en-IN" sz="1800"/>
                        <a:t>17 curated AWS Terraform generation scenarios</a:t>
                      </a:r>
                    </a:p>
                  </a:txBody>
                  <a:tcPr marL="20954" marR="20954" marT="10477" marB="10477" anchor="ctr"/>
                </a:tc>
                <a:tc>
                  <a:txBody>
                    <a:bodyPr/>
                    <a:lstStyle/>
                    <a:p>
                      <a:r>
                        <a:rPr lang="en-US" sz="1800"/>
                        <a:t>Shows syntactic validity and security compliance are different; multi-tool scanning improves security validation</a:t>
                      </a:r>
                    </a:p>
                  </a:txBody>
                  <a:tcPr marL="20954" marR="20954" marT="10477" marB="10477" anchor="ctr"/>
                </a:tc>
                <a:tc>
                  <a:txBody>
                    <a:bodyPr/>
                    <a:lstStyle/>
                    <a:p>
                      <a:r>
                        <a:rPr lang="en-US" sz="1800"/>
                        <a:t>Small scenario set; prompt engineering alone is insufficient for reliable security compliance</a:t>
                      </a:r>
                    </a:p>
                  </a:txBody>
                  <a:tcPr marL="20954" marR="20954" marT="10477" marB="10477" anchor="ctr"/>
                </a:tc>
                <a:extLst>
                  <a:ext uri="{0D108BD9-81ED-4DB2-BD59-A6C34878D82A}">
                    <a16:rowId xmlns:a16="http://schemas.microsoft.com/office/drawing/2014/main" val="3884283704"/>
                  </a:ext>
                </a:extLst>
              </a:tr>
              <a:tr h="1711309">
                <a:tc>
                  <a:txBody>
                    <a:bodyPr/>
                    <a:lstStyle/>
                    <a:p>
                      <a:r>
                        <a:rPr lang="en-US" sz="1800"/>
                        <a:t>Autonomous Infrastructure Provisioning Using AI-Driven DevOps Automation Framework (ADAF)</a:t>
                      </a:r>
                    </a:p>
                  </a:txBody>
                  <a:tcPr marL="20954" marR="20954" marT="10477" marB="10477" anchor="ctr"/>
                </a:tc>
                <a:tc>
                  <a:txBody>
                    <a:bodyPr/>
                    <a:lstStyle/>
                    <a:p>
                      <a:r>
                        <a:rPr lang="en-US" sz="1800"/>
                        <a:t>Multiple authors — International Journal of Science, Engineering and Technology, 2026</a:t>
                      </a:r>
                    </a:p>
                  </a:txBody>
                  <a:tcPr marL="20954" marR="20954" marT="10477" marB="10477" anchor="ctr"/>
                </a:tc>
                <a:tc>
                  <a:txBody>
                    <a:bodyPr/>
                    <a:lstStyle/>
                    <a:p>
                      <a:r>
                        <a:rPr lang="en-US" sz="1800"/>
                        <a:t>Closed-loop framework combining ML, LLMs and Deep Reinforcement Learning for workload forecasting, IaC synthesis and autonomous provisioning</a:t>
                      </a:r>
                    </a:p>
                  </a:txBody>
                  <a:tcPr marL="20954" marR="20954" marT="10477" marB="10477" anchor="ctr"/>
                </a:tc>
                <a:tc>
                  <a:txBody>
                    <a:bodyPr/>
                    <a:lstStyle/>
                    <a:p>
                      <a:r>
                        <a:rPr lang="en-US" sz="1800"/>
                        <a:t>Synthetic benchmarks and production-grade microservices across AWS, GCP and Azure</a:t>
                      </a:r>
                    </a:p>
                  </a:txBody>
                  <a:tcPr marL="20954" marR="20954" marT="10477" marB="10477" anchor="ctr"/>
                </a:tc>
                <a:tc>
                  <a:txBody>
                    <a:bodyPr/>
                    <a:lstStyle/>
                    <a:p>
                      <a:r>
                        <a:rPr lang="en-US" sz="1800"/>
                        <a:t>92% faster provisioning; 43% cost reduction; improved MTTD; 91.4% autonomous deployment success</a:t>
                      </a:r>
                    </a:p>
                  </a:txBody>
                  <a:tcPr marL="20954" marR="20954" marT="10477" marB="10477" anchor="ctr"/>
                </a:tc>
                <a:tc>
                  <a:txBody>
                    <a:bodyPr/>
                    <a:lstStyle/>
                    <a:p>
                      <a:r>
                        <a:rPr lang="en-US" sz="1800"/>
                        <a:t>DRL requires around 320 training episodes; evaluated only on three cloud environments</a:t>
                      </a:r>
                    </a:p>
                  </a:txBody>
                  <a:tcPr marL="20954" marR="20954" marT="10477" marB="10477" anchor="ctr"/>
                </a:tc>
                <a:extLst>
                  <a:ext uri="{0D108BD9-81ED-4DB2-BD59-A6C34878D82A}">
                    <a16:rowId xmlns:a16="http://schemas.microsoft.com/office/drawing/2014/main" val="108031697"/>
                  </a:ext>
                </a:extLst>
              </a:tr>
              <a:tr h="1148927">
                <a:tc>
                  <a:txBody>
                    <a:bodyPr/>
                    <a:lstStyle/>
                    <a:p>
                      <a:r>
                        <a:rPr lang="en-US" sz="1800"/>
                        <a:t>LogSage: An LLM-Based Framework for CI/CD Failure Detection and Remediation with Industrial Validation</a:t>
                      </a:r>
                    </a:p>
                  </a:txBody>
                  <a:tcPr marL="20954" marR="20954" marT="10477" marB="10477" anchor="ctr"/>
                </a:tc>
                <a:tc>
                  <a:txBody>
                    <a:bodyPr/>
                    <a:lstStyle/>
                    <a:p>
                      <a:r>
                        <a:rPr lang="en-IN" sz="1800"/>
                        <a:t>Multiple authors — arXiv:2506.03691, 2025</a:t>
                      </a:r>
                    </a:p>
                  </a:txBody>
                  <a:tcPr marL="20954" marR="20954" marT="10477" marB="10477" anchor="ctr"/>
                </a:tc>
                <a:tc>
                  <a:txBody>
                    <a:bodyPr/>
                    <a:lstStyle/>
                    <a:p>
                      <a:r>
                        <a:rPr lang="en-US" sz="1800"/>
                        <a:t>LLM framework combining log anomaly detection, automated CI/CD failure diagnosis and remediation</a:t>
                      </a:r>
                    </a:p>
                  </a:txBody>
                  <a:tcPr marL="20954" marR="20954" marT="10477" marB="10477" anchor="ctr"/>
                </a:tc>
                <a:tc>
                  <a:txBody>
                    <a:bodyPr/>
                    <a:lstStyle/>
                    <a:p>
                      <a:r>
                        <a:rPr lang="it-IT" sz="1800"/>
                        <a:t>Industrial CI/CD pipeline logs</a:t>
                      </a:r>
                    </a:p>
                  </a:txBody>
                  <a:tcPr marL="20954" marR="20954" marT="10477" marB="10477" anchor="ctr"/>
                </a:tc>
                <a:tc>
                  <a:txBody>
                    <a:bodyPr/>
                    <a:lstStyle/>
                    <a:p>
                      <a:r>
                        <a:rPr lang="en-US" sz="1800"/>
                        <a:t>End-to-end detection and remediation; validated in an industrial CI/CD environment</a:t>
                      </a:r>
                    </a:p>
                  </a:txBody>
                  <a:tcPr marL="20954" marR="20954" marT="10477" marB="10477" anchor="ctr"/>
                </a:tc>
                <a:tc>
                  <a:txBody>
                    <a:bodyPr/>
                    <a:lstStyle/>
                    <a:p>
                      <a:r>
                        <a:rPr lang="en-US" sz="1800" dirty="0"/>
                        <a:t>Generalization beyond the tested environment is unclear; LLM inference adds cost and latency</a:t>
                      </a:r>
                    </a:p>
                  </a:txBody>
                  <a:tcPr marL="20954" marR="20954" marT="10477" marB="10477" anchor="ctr"/>
                </a:tc>
                <a:extLst>
                  <a:ext uri="{0D108BD9-81ED-4DB2-BD59-A6C34878D82A}">
                    <a16:rowId xmlns:a16="http://schemas.microsoft.com/office/drawing/2014/main" val="2999451342"/>
                  </a:ext>
                </a:extLst>
              </a:tr>
            </a:tbl>
          </a:graphicData>
        </a:graphic>
      </p:graphicFrame>
    </p:spTree>
    <p:extLst>
      <p:ext uri="{BB962C8B-B14F-4D97-AF65-F5344CB8AC3E}">
        <p14:creationId xmlns:p14="http://schemas.microsoft.com/office/powerpoint/2010/main" val="4065428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CB09-171E-426F-5F29-8742EBCDD8ED}"/>
              </a:ext>
            </a:extLst>
          </p:cNvPr>
          <p:cNvSpPr>
            <a:spLocks noGrp="1"/>
          </p:cNvSpPr>
          <p:nvPr>
            <p:ph type="title"/>
          </p:nvPr>
        </p:nvSpPr>
        <p:spPr>
          <a:xfrm>
            <a:off x="457200" y="274638"/>
            <a:ext cx="9448800" cy="1143000"/>
          </a:xfrm>
        </p:spPr>
        <p:txBody>
          <a:bodyPr>
            <a:normAutofit/>
          </a:bodyPr>
          <a:lstStyle/>
          <a:p>
            <a:pPr algn="l"/>
            <a:r>
              <a:rPr lang="en-US" b="1" dirty="0">
                <a:solidFill>
                  <a:srgbClr val="000000"/>
                </a:solidFill>
                <a:latin typeface="Open Sauce Bold"/>
                <a:ea typeface="Open Sauce Bold"/>
                <a:cs typeface="Open Sauce Bold"/>
                <a:sym typeface="Open Sauce Bold"/>
              </a:rPr>
              <a:t>Literature Survey:</a:t>
            </a:r>
            <a:endParaRPr lang="en-IN" dirty="0"/>
          </a:p>
        </p:txBody>
      </p:sp>
      <p:graphicFrame>
        <p:nvGraphicFramePr>
          <p:cNvPr id="5" name="Content Placeholder 4">
            <a:extLst>
              <a:ext uri="{FF2B5EF4-FFF2-40B4-BE49-F238E27FC236}">
                <a16:creationId xmlns:a16="http://schemas.microsoft.com/office/drawing/2014/main" id="{1F0ED7E9-438C-4706-AE12-275FEF9E956C}"/>
              </a:ext>
            </a:extLst>
          </p:cNvPr>
          <p:cNvGraphicFramePr>
            <a:graphicFrameLocks noGrp="1"/>
          </p:cNvGraphicFramePr>
          <p:nvPr>
            <p:ph idx="1"/>
            <p:extLst>
              <p:ext uri="{D42A27DB-BD31-4B8C-83A1-F6EECF244321}">
                <p14:modId xmlns:p14="http://schemas.microsoft.com/office/powerpoint/2010/main" val="1190966293"/>
              </p:ext>
            </p:extLst>
          </p:nvPr>
        </p:nvGraphicFramePr>
        <p:xfrm>
          <a:off x="685800" y="1638300"/>
          <a:ext cx="16383000" cy="8374063"/>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3239060997"/>
                    </a:ext>
                  </a:extLst>
                </a:gridCol>
                <a:gridCol w="2730500">
                  <a:extLst>
                    <a:ext uri="{9D8B030D-6E8A-4147-A177-3AD203B41FA5}">
                      <a16:colId xmlns:a16="http://schemas.microsoft.com/office/drawing/2014/main" val="3445846870"/>
                    </a:ext>
                  </a:extLst>
                </a:gridCol>
                <a:gridCol w="2730500">
                  <a:extLst>
                    <a:ext uri="{9D8B030D-6E8A-4147-A177-3AD203B41FA5}">
                      <a16:colId xmlns:a16="http://schemas.microsoft.com/office/drawing/2014/main" val="2068201528"/>
                    </a:ext>
                  </a:extLst>
                </a:gridCol>
                <a:gridCol w="2730500">
                  <a:extLst>
                    <a:ext uri="{9D8B030D-6E8A-4147-A177-3AD203B41FA5}">
                      <a16:colId xmlns:a16="http://schemas.microsoft.com/office/drawing/2014/main" val="785625698"/>
                    </a:ext>
                  </a:extLst>
                </a:gridCol>
                <a:gridCol w="2730500">
                  <a:extLst>
                    <a:ext uri="{9D8B030D-6E8A-4147-A177-3AD203B41FA5}">
                      <a16:colId xmlns:a16="http://schemas.microsoft.com/office/drawing/2014/main" val="3543607280"/>
                    </a:ext>
                  </a:extLst>
                </a:gridCol>
                <a:gridCol w="2730500">
                  <a:extLst>
                    <a:ext uri="{9D8B030D-6E8A-4147-A177-3AD203B41FA5}">
                      <a16:colId xmlns:a16="http://schemas.microsoft.com/office/drawing/2014/main" val="1155144766"/>
                    </a:ext>
                  </a:extLst>
                </a:gridCol>
              </a:tblGrid>
              <a:tr h="874995">
                <a:tc>
                  <a:txBody>
                    <a:bodyPr/>
                    <a:lstStyle/>
                    <a:p>
                      <a:r>
                        <a:rPr lang="en-IN" sz="1800"/>
                        <a:t>Title of the paper</a:t>
                      </a:r>
                    </a:p>
                  </a:txBody>
                  <a:tcPr marL="22186" marR="22186" marT="11093" marB="11093" anchor="ctr"/>
                </a:tc>
                <a:tc>
                  <a:txBody>
                    <a:bodyPr/>
                    <a:lstStyle/>
                    <a:p>
                      <a:r>
                        <a:rPr lang="en-US" sz="1800"/>
                        <a:t>Author details and Journal / conference publishing information</a:t>
                      </a:r>
                    </a:p>
                  </a:txBody>
                  <a:tcPr marL="22186" marR="22186" marT="11093" marB="11093" anchor="ctr"/>
                </a:tc>
                <a:tc>
                  <a:txBody>
                    <a:bodyPr/>
                    <a:lstStyle/>
                    <a:p>
                      <a:r>
                        <a:rPr lang="en-US" sz="1800"/>
                        <a:t>Proposed method used in the Journal or conference paper</a:t>
                      </a:r>
                    </a:p>
                  </a:txBody>
                  <a:tcPr marL="22186" marR="22186" marT="11093" marB="11093" anchor="ctr"/>
                </a:tc>
                <a:tc>
                  <a:txBody>
                    <a:bodyPr/>
                    <a:lstStyle/>
                    <a:p>
                      <a:r>
                        <a:rPr lang="en-US" sz="1800"/>
                        <a:t>Dataset used in the Paper</a:t>
                      </a:r>
                    </a:p>
                  </a:txBody>
                  <a:tcPr marL="22186" marR="22186" marT="11093" marB="11093" anchor="ctr"/>
                </a:tc>
                <a:tc>
                  <a:txBody>
                    <a:bodyPr/>
                    <a:lstStyle/>
                    <a:p>
                      <a:r>
                        <a:rPr lang="en-US" sz="1800"/>
                        <a:t>Advantages of the proposed paper</a:t>
                      </a:r>
                    </a:p>
                  </a:txBody>
                  <a:tcPr marL="22186" marR="22186" marT="11093" marB="11093" anchor="ctr"/>
                </a:tc>
                <a:tc>
                  <a:txBody>
                    <a:bodyPr/>
                    <a:lstStyle/>
                    <a:p>
                      <a:r>
                        <a:rPr lang="en-US" sz="1800"/>
                        <a:t>Disadvantages / Limitations of the proposed paper</a:t>
                      </a:r>
                    </a:p>
                  </a:txBody>
                  <a:tcPr marL="22186" marR="22186" marT="11093" marB="11093" anchor="ctr"/>
                </a:tc>
                <a:extLst>
                  <a:ext uri="{0D108BD9-81ED-4DB2-BD59-A6C34878D82A}">
                    <a16:rowId xmlns:a16="http://schemas.microsoft.com/office/drawing/2014/main" val="3151798598"/>
                  </a:ext>
                </a:extLst>
              </a:tr>
              <a:tr h="1443012">
                <a:tc>
                  <a:txBody>
                    <a:bodyPr/>
                    <a:lstStyle/>
                    <a:p>
                      <a:r>
                        <a:rPr lang="en-IN" sz="1800"/>
                        <a:t>Automatic Root Cause Analysis via Large Language Models for Cloud Incidents (RCACopilot)</a:t>
                      </a:r>
                    </a:p>
                  </a:txBody>
                  <a:tcPr marL="22186" marR="22186" marT="11093" marB="11093" anchor="ctr"/>
                </a:tc>
                <a:tc>
                  <a:txBody>
                    <a:bodyPr/>
                    <a:lstStyle/>
                    <a:p>
                      <a:r>
                        <a:rPr lang="en-IN" sz="1800" dirty="0"/>
                        <a:t>Chen, Y., </a:t>
                      </a:r>
                      <a:r>
                        <a:rPr lang="en-IN" sz="1800" dirty="0" err="1"/>
                        <a:t>Xie</a:t>
                      </a:r>
                      <a:r>
                        <a:rPr lang="en-IN" sz="1800" dirty="0"/>
                        <a:t>, H., Ma, M. et al. — </a:t>
                      </a:r>
                      <a:r>
                        <a:rPr lang="en-IN" sz="1800" dirty="0" err="1"/>
                        <a:t>EuroSys</a:t>
                      </a:r>
                      <a:r>
                        <a:rPr lang="en-IN" sz="1800" dirty="0"/>
                        <a:t> '24, ACM, 2024</a:t>
                      </a:r>
                    </a:p>
                  </a:txBody>
                  <a:tcPr marL="22186" marR="22186" marT="11093" marB="11093" anchor="ctr"/>
                </a:tc>
                <a:tc>
                  <a:txBody>
                    <a:bodyPr/>
                    <a:lstStyle/>
                    <a:p>
                      <a:r>
                        <a:rPr lang="en-US" sz="1800"/>
                        <a:t>LLM-based on-call system that aggregates diagnostic data, predicts root-cause categories and generates explanatory narratives</a:t>
                      </a:r>
                    </a:p>
                  </a:txBody>
                  <a:tcPr marL="22186" marR="22186" marT="11093" marB="11093" anchor="ctr"/>
                </a:tc>
                <a:tc>
                  <a:txBody>
                    <a:bodyPr/>
                    <a:lstStyle/>
                    <a:p>
                      <a:r>
                        <a:rPr lang="en-US" sz="1800"/>
                        <a:t>One year of real-world production incidents from Microsoft</a:t>
                      </a:r>
                    </a:p>
                  </a:txBody>
                  <a:tcPr marL="22186" marR="22186" marT="11093" marB="11093" anchor="ctr"/>
                </a:tc>
                <a:tc>
                  <a:txBody>
                    <a:bodyPr/>
                    <a:lstStyle/>
                    <a:p>
                      <a:r>
                        <a:rPr lang="en-US" sz="1800"/>
                        <a:t>RCA accuracy up to 0.766; deployed and validated in a real production environment</a:t>
                      </a:r>
                    </a:p>
                  </a:txBody>
                  <a:tcPr marL="22186" marR="22186" marT="11093" marB="11093" anchor="ctr"/>
                </a:tc>
                <a:tc>
                  <a:txBody>
                    <a:bodyPr/>
                    <a:lstStyle/>
                    <a:p>
                      <a:r>
                        <a:rPr lang="en-US" sz="1800"/>
                        <a:t>Accuracy drops for previously unseen root causes; depends on troubleshooting guides and handlers</a:t>
                      </a:r>
                    </a:p>
                  </a:txBody>
                  <a:tcPr marL="22186" marR="22186" marT="11093" marB="11093" anchor="ctr"/>
                </a:tc>
                <a:extLst>
                  <a:ext uri="{0D108BD9-81ED-4DB2-BD59-A6C34878D82A}">
                    <a16:rowId xmlns:a16="http://schemas.microsoft.com/office/drawing/2014/main" val="1011759941"/>
                  </a:ext>
                </a:extLst>
              </a:tr>
              <a:tr h="1443012">
                <a:tc>
                  <a:txBody>
                    <a:bodyPr/>
                    <a:lstStyle/>
                    <a:p>
                      <a:r>
                        <a:rPr lang="en-US" sz="1800" dirty="0" err="1"/>
                        <a:t>AIOps</a:t>
                      </a:r>
                      <a:r>
                        <a:rPr lang="en-US" sz="1800" dirty="0"/>
                        <a:t> for Log Anomaly Detection in the Era of LLMs: A Systematic Literature Review</a:t>
                      </a:r>
                    </a:p>
                  </a:txBody>
                  <a:tcPr marL="22186" marR="22186" marT="11093" marB="11093" anchor="ctr"/>
                </a:tc>
                <a:tc>
                  <a:txBody>
                    <a:bodyPr/>
                    <a:lstStyle/>
                    <a:p>
                      <a:r>
                        <a:rPr lang="en-US" sz="1800"/>
                        <a:t>Multiple authors — Intelligent Systems with Applications, ScienceDirect, 2025</a:t>
                      </a:r>
                    </a:p>
                  </a:txBody>
                  <a:tcPr marL="22186" marR="22186" marT="11093" marB="11093" anchor="ctr"/>
                </a:tc>
                <a:tc>
                  <a:txBody>
                    <a:bodyPr/>
                    <a:lstStyle/>
                    <a:p>
                      <a:r>
                        <a:rPr lang="en-US" sz="1800" dirty="0"/>
                        <a:t>Systematic review of NLP/LLM techniques for log-based anomaly detection and root-cause analysis</a:t>
                      </a:r>
                    </a:p>
                  </a:txBody>
                  <a:tcPr marL="22186" marR="22186" marT="11093" marB="11093" anchor="ctr"/>
                </a:tc>
                <a:tc>
                  <a:txBody>
                    <a:bodyPr/>
                    <a:lstStyle/>
                    <a:p>
                      <a:r>
                        <a:rPr lang="en-US" sz="1800" dirty="0"/>
                        <a:t>Multiple published log-anomaly datasets; meta-analysis</a:t>
                      </a:r>
                    </a:p>
                  </a:txBody>
                  <a:tcPr marL="22186" marR="22186" marT="11093" marB="11093" anchor="ctr"/>
                </a:tc>
                <a:tc>
                  <a:txBody>
                    <a:bodyPr/>
                    <a:lstStyle/>
                    <a:p>
                      <a:r>
                        <a:rPr lang="en-US" sz="1800"/>
                        <a:t>Consolidates recent research and highlights improved interpretability and semantic understanding</a:t>
                      </a:r>
                    </a:p>
                  </a:txBody>
                  <a:tcPr marL="22186" marR="22186" marT="11093" marB="11093" anchor="ctr"/>
                </a:tc>
                <a:tc>
                  <a:txBody>
                    <a:bodyPr/>
                    <a:lstStyle/>
                    <a:p>
                      <a:r>
                        <a:rPr lang="en-US" sz="1800"/>
                        <a:t>Computational-efficiency constraints; limited cross-task adaptability; requires domain tuning</a:t>
                      </a:r>
                    </a:p>
                  </a:txBody>
                  <a:tcPr marL="22186" marR="22186" marT="11093" marB="11093" anchor="ctr"/>
                </a:tc>
                <a:extLst>
                  <a:ext uri="{0D108BD9-81ED-4DB2-BD59-A6C34878D82A}">
                    <a16:rowId xmlns:a16="http://schemas.microsoft.com/office/drawing/2014/main" val="3611414823"/>
                  </a:ext>
                </a:extLst>
              </a:tr>
              <a:tr h="1443012">
                <a:tc>
                  <a:txBody>
                    <a:bodyPr/>
                    <a:lstStyle/>
                    <a:p>
                      <a:r>
                        <a:rPr lang="en-US" sz="1800"/>
                        <a:t>Intelligent Resource Allocation Optimization for Cloud Computing via Machine Learning</a:t>
                      </a:r>
                    </a:p>
                  </a:txBody>
                  <a:tcPr marL="22186" marR="22186" marT="11093" marB="11093" anchor="ctr"/>
                </a:tc>
                <a:tc>
                  <a:txBody>
                    <a:bodyPr/>
                    <a:lstStyle/>
                    <a:p>
                      <a:r>
                        <a:rPr lang="en-IN" sz="1800" dirty="0"/>
                        <a:t>Multiple authors — arXiv:2504.03682, 2025</a:t>
                      </a:r>
                    </a:p>
                  </a:txBody>
                  <a:tcPr marL="22186" marR="22186" marT="11093" marB="11093" anchor="ctr"/>
                </a:tc>
                <a:tc>
                  <a:txBody>
                    <a:bodyPr/>
                    <a:lstStyle/>
                    <a:p>
                      <a:r>
                        <a:rPr lang="en-US" sz="1800"/>
                        <a:t>LSTM-based demand forecasting combined with a Deep Q-Network for dynamic cloud-resource scheduling</a:t>
                      </a:r>
                    </a:p>
                  </a:txBody>
                  <a:tcPr marL="22186" marR="22186" marT="11093" marB="11093" anchor="ctr"/>
                </a:tc>
                <a:tc>
                  <a:txBody>
                    <a:bodyPr/>
                    <a:lstStyle/>
                    <a:p>
                      <a:r>
                        <a:rPr lang="en-IN" sz="1800"/>
                        <a:t>Production cloud operational data</a:t>
                      </a:r>
                    </a:p>
                  </a:txBody>
                  <a:tcPr marL="22186" marR="22186" marT="11093" marB="11093" anchor="ctr"/>
                </a:tc>
                <a:tc>
                  <a:txBody>
                    <a:bodyPr/>
                    <a:lstStyle/>
                    <a:p>
                      <a:r>
                        <a:rPr lang="en-US" sz="1800"/>
                        <a:t>32.5% better resource utilization; 43.3% lower response time; 26.6% lower operational cost</a:t>
                      </a:r>
                    </a:p>
                  </a:txBody>
                  <a:tcPr marL="22186" marR="22186" marT="11093" marB="11093" anchor="ctr"/>
                </a:tc>
                <a:tc>
                  <a:txBody>
                    <a:bodyPr/>
                    <a:lstStyle/>
                    <a:p>
                      <a:r>
                        <a:rPr lang="en-US" sz="1800"/>
                        <a:t>Evaluated in one production environment; cross-cloud generalization is untested</a:t>
                      </a:r>
                    </a:p>
                  </a:txBody>
                  <a:tcPr marL="22186" marR="22186" marT="11093" marB="11093" anchor="ctr"/>
                </a:tc>
                <a:extLst>
                  <a:ext uri="{0D108BD9-81ED-4DB2-BD59-A6C34878D82A}">
                    <a16:rowId xmlns:a16="http://schemas.microsoft.com/office/drawing/2014/main" val="855801284"/>
                  </a:ext>
                </a:extLst>
              </a:tr>
              <a:tr h="1443012">
                <a:tc>
                  <a:txBody>
                    <a:bodyPr/>
                    <a:lstStyle/>
                    <a:p>
                      <a:r>
                        <a:rPr lang="en-US" sz="1800"/>
                        <a:t>Safe and Adaptive Cloud Healing: Verifying LLM-Generated Recovery Plans with a Neural-Symbolic World Model</a:t>
                      </a:r>
                    </a:p>
                  </a:txBody>
                  <a:tcPr marL="22186" marR="22186" marT="11093" marB="11093" anchor="ctr"/>
                </a:tc>
                <a:tc>
                  <a:txBody>
                    <a:bodyPr/>
                    <a:lstStyle/>
                    <a:p>
                      <a:r>
                        <a:rPr lang="en-IN" sz="1800"/>
                        <a:t>Multiple authors — arXiv:2607.01595, 2026</a:t>
                      </a:r>
                    </a:p>
                  </a:txBody>
                  <a:tcPr marL="22186" marR="22186" marT="11093" marB="11093" anchor="ctr"/>
                </a:tc>
                <a:tc>
                  <a:txBody>
                    <a:bodyPr/>
                    <a:lstStyle/>
                    <a:p>
                      <a:r>
                        <a:rPr lang="en-US" sz="1800"/>
                        <a:t>Neural-symbolic world model verifies LLM-generated recovery plans before execution</a:t>
                      </a:r>
                    </a:p>
                  </a:txBody>
                  <a:tcPr marL="22186" marR="22186" marT="11093" marB="11093" anchor="ctr"/>
                </a:tc>
                <a:tc>
                  <a:txBody>
                    <a:bodyPr/>
                    <a:lstStyle/>
                    <a:p>
                      <a:r>
                        <a:rPr lang="en-IN" sz="1800"/>
                        <a:t>Simulated cloud fault-injection scenarios</a:t>
                      </a:r>
                    </a:p>
                  </a:txBody>
                  <a:tcPr marL="22186" marR="22186" marT="11093" marB="11093" anchor="ctr"/>
                </a:tc>
                <a:tc>
                  <a:txBody>
                    <a:bodyPr/>
                    <a:lstStyle/>
                    <a:p>
                      <a:r>
                        <a:rPr lang="en-US" sz="1800"/>
                        <a:t>Reduces the risk of unsafe autonomous recovery actions</a:t>
                      </a:r>
                    </a:p>
                  </a:txBody>
                  <a:tcPr marL="22186" marR="22186" marT="11093" marB="11093" anchor="ctr"/>
                </a:tc>
                <a:tc>
                  <a:txBody>
                    <a:bodyPr/>
                    <a:lstStyle/>
                    <a:p>
                      <a:r>
                        <a:rPr lang="en-US" sz="1800"/>
                        <a:t>Verification depends on world-model fidelity and adds latency</a:t>
                      </a:r>
                    </a:p>
                  </a:txBody>
                  <a:tcPr marL="22186" marR="22186" marT="11093" marB="11093" anchor="ctr"/>
                </a:tc>
                <a:extLst>
                  <a:ext uri="{0D108BD9-81ED-4DB2-BD59-A6C34878D82A}">
                    <a16:rowId xmlns:a16="http://schemas.microsoft.com/office/drawing/2014/main" val="546440406"/>
                  </a:ext>
                </a:extLst>
              </a:tr>
              <a:tr h="1727020">
                <a:tc>
                  <a:txBody>
                    <a:bodyPr/>
                    <a:lstStyle/>
                    <a:p>
                      <a:r>
                        <a:rPr lang="en-US" sz="1800"/>
                        <a:t>From Reactive to Predictive: A Pattern-Aware Framework for Kubernetes Autoscaling with Large Language Model Integration</a:t>
                      </a:r>
                    </a:p>
                  </a:txBody>
                  <a:tcPr marL="22186" marR="22186" marT="11093" marB="11093" anchor="ctr"/>
                </a:tc>
                <a:tc>
                  <a:txBody>
                    <a:bodyPr/>
                    <a:lstStyle/>
                    <a:p>
                      <a:r>
                        <a:rPr lang="en-US" sz="1800"/>
                        <a:t>Multiple authors — Journal of Systems and Software, ScienceDirect, 2026</a:t>
                      </a:r>
                    </a:p>
                  </a:txBody>
                  <a:tcPr marL="22186" marR="22186" marT="11093" marB="11093" anchor="ctr"/>
                </a:tc>
                <a:tc>
                  <a:txBody>
                    <a:bodyPr/>
                    <a:lstStyle/>
                    <a:p>
                      <a:r>
                        <a:rPr lang="en-US" sz="1800"/>
                        <a:t>Predictive HPA combining time-series forecasting, hyperparameter optimization and LLM-based workload-pattern recognition</a:t>
                      </a:r>
                    </a:p>
                  </a:txBody>
                  <a:tcPr marL="22186" marR="22186" marT="11093" marB="11093" anchor="ctr"/>
                </a:tc>
                <a:tc>
                  <a:txBody>
                    <a:bodyPr/>
                    <a:lstStyle/>
                    <a:p>
                      <a:r>
                        <a:rPr lang="en-IN" sz="1800" dirty="0"/>
                        <a:t>Kubernetes container-workload traces</a:t>
                      </a:r>
                    </a:p>
                  </a:txBody>
                  <a:tcPr marL="22186" marR="22186" marT="11093" marB="11093" anchor="ctr"/>
                </a:tc>
                <a:tc>
                  <a:txBody>
                    <a:bodyPr/>
                    <a:lstStyle/>
                    <a:p>
                      <a:r>
                        <a:rPr lang="en-US" sz="1800"/>
                        <a:t>96.7% pattern-classification accuracy with low inference latency; supports predictive autoscaling</a:t>
                      </a:r>
                    </a:p>
                  </a:txBody>
                  <a:tcPr marL="22186" marR="22186" marT="11093" marB="11093" anchor="ctr"/>
                </a:tc>
                <a:tc>
                  <a:txBody>
                    <a:bodyPr/>
                    <a:lstStyle/>
                    <a:p>
                      <a:r>
                        <a:rPr lang="en-US" sz="1800" dirty="0"/>
                        <a:t>LLM integration adds complexity; training-time and memory trade-offs vary</a:t>
                      </a:r>
                    </a:p>
                  </a:txBody>
                  <a:tcPr marL="22186" marR="22186" marT="11093" marB="11093" anchor="ctr"/>
                </a:tc>
                <a:extLst>
                  <a:ext uri="{0D108BD9-81ED-4DB2-BD59-A6C34878D82A}">
                    <a16:rowId xmlns:a16="http://schemas.microsoft.com/office/drawing/2014/main" val="3511490801"/>
                  </a:ext>
                </a:extLst>
              </a:tr>
            </a:tbl>
          </a:graphicData>
        </a:graphic>
      </p:graphicFrame>
    </p:spTree>
    <p:extLst>
      <p:ext uri="{BB962C8B-B14F-4D97-AF65-F5344CB8AC3E}">
        <p14:creationId xmlns:p14="http://schemas.microsoft.com/office/powerpoint/2010/main" val="330066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dirty="0"/>
          </a:p>
        </p:txBody>
      </p:sp>
      <p:sp>
        <p:nvSpPr>
          <p:cNvPr id="3" name="Freeform 3"/>
          <p:cNvSpPr/>
          <p:nvPr/>
        </p:nvSpPr>
        <p:spPr>
          <a:xfrm>
            <a:off x="15528839"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47940" y="547486"/>
            <a:ext cx="3413572" cy="738227"/>
          </a:xfrm>
          <a:prstGeom prst="rect">
            <a:avLst/>
          </a:prstGeom>
        </p:spPr>
        <p:txBody>
          <a:bodyPr lIns="0" tIns="0" rIns="0" bIns="0" rtlCol="0" anchor="t">
            <a:spAutoFit/>
          </a:bodyPr>
          <a:lstStyle/>
          <a:p>
            <a:pPr algn="ctr">
              <a:lnSpc>
                <a:spcPts val="6008"/>
              </a:lnSpc>
              <a:spcBef>
                <a:spcPct val="0"/>
              </a:spcBef>
            </a:pPr>
            <a:r>
              <a:rPr lang="en-US" sz="4291" b="1">
                <a:solidFill>
                  <a:srgbClr val="000000"/>
                </a:solidFill>
                <a:latin typeface="Open Sauce Bold"/>
                <a:ea typeface="Open Sauce Bold"/>
                <a:cs typeface="Open Sauce Bold"/>
                <a:sym typeface="Open Sauce Bold"/>
              </a:rPr>
              <a:t>Objectives:</a:t>
            </a:r>
          </a:p>
        </p:txBody>
      </p:sp>
      <p:sp>
        <p:nvSpPr>
          <p:cNvPr id="5" name="TextBox 4">
            <a:extLst>
              <a:ext uri="{FF2B5EF4-FFF2-40B4-BE49-F238E27FC236}">
                <a16:creationId xmlns:a16="http://schemas.microsoft.com/office/drawing/2014/main" id="{7F84DD88-F8AF-4BB0-AEF4-3D4279B3388A}"/>
              </a:ext>
            </a:extLst>
          </p:cNvPr>
          <p:cNvSpPr txBox="1"/>
          <p:nvPr/>
        </p:nvSpPr>
        <p:spPr>
          <a:xfrm>
            <a:off x="685800" y="2019300"/>
            <a:ext cx="16611600" cy="6370975"/>
          </a:xfrm>
          <a:prstGeom prst="rect">
            <a:avLst/>
          </a:prstGeom>
          <a:noFill/>
        </p:spPr>
        <p:txBody>
          <a:bodyPr wrap="square" rtlCol="0">
            <a:spAutoFit/>
          </a:bodyPr>
          <a:lstStyle/>
          <a:p>
            <a:r>
              <a:rPr lang="en-US" sz="2400" b="1" dirty="0"/>
              <a:t>1. Codebase-Based Decision Making</a:t>
            </a:r>
          </a:p>
          <a:p>
            <a:r>
              <a:rPr lang="en-US" sz="2400" dirty="0"/>
              <a:t>To develop an intelligent ML-based decision-making system that analyzes application code and recommends suitable cloud services and deployment strategies.</a:t>
            </a:r>
          </a:p>
          <a:p>
            <a:r>
              <a:rPr lang="en-US" sz="2400" dirty="0"/>
              <a:t>• Analyze the source code, programming language, framework, dependencies, and architecture.</a:t>
            </a:r>
            <a:br>
              <a:rPr lang="en-US" sz="2400" dirty="0"/>
            </a:br>
            <a:r>
              <a:rPr lang="en-US" sz="2400" dirty="0"/>
              <a:t>• Identify application infrastructure and deployment requirements.</a:t>
            </a:r>
            <a:br>
              <a:rPr lang="en-US" sz="2400" dirty="0"/>
            </a:br>
            <a:r>
              <a:rPr lang="en-US" sz="2400" dirty="0"/>
              <a:t>• Recommend suitable cloud services across </a:t>
            </a:r>
            <a:r>
              <a:rPr lang="en-US" sz="2400" b="1" dirty="0"/>
              <a:t>AWS, Azure, and GCP</a:t>
            </a:r>
            <a:r>
              <a:rPr lang="en-US" sz="2400" dirty="0"/>
              <a:t>.</a:t>
            </a:r>
            <a:br>
              <a:rPr lang="en-US" sz="2400" dirty="0"/>
            </a:br>
            <a:r>
              <a:rPr lang="en-US" sz="2400" dirty="0"/>
              <a:t>• Consider cost, performance, scalability, and resource requirements.</a:t>
            </a:r>
            <a:br>
              <a:rPr lang="en-US" sz="2400" dirty="0"/>
            </a:br>
            <a:r>
              <a:rPr lang="en-US" sz="2400" dirty="0"/>
              <a:t>• Determine an appropriate deployment strategy based on application characteristics.</a:t>
            </a:r>
          </a:p>
          <a:p>
            <a:endParaRPr lang="en-US" sz="2400" dirty="0"/>
          </a:p>
          <a:p>
            <a:r>
              <a:rPr lang="en-US" sz="2400" b="1" dirty="0"/>
              <a:t>2. Context-Aware Application Question Answering</a:t>
            </a:r>
          </a:p>
          <a:p>
            <a:r>
              <a:rPr lang="en-US" sz="2400" dirty="0"/>
              <a:t>To develop an intelligent question-answering system that provides application-specific information based on the analyzed codebase and technical knowledge.</a:t>
            </a:r>
          </a:p>
          <a:p>
            <a:r>
              <a:rPr lang="en-US" sz="2400" dirty="0"/>
              <a:t>• Allow users to ask questions about the application using natural language.</a:t>
            </a:r>
            <a:br>
              <a:rPr lang="en-US" sz="2400" dirty="0"/>
            </a:br>
            <a:r>
              <a:rPr lang="en-US" sz="2400" dirty="0"/>
              <a:t>• Provide information about application architecture, dependencies, and functionality.</a:t>
            </a:r>
            <a:br>
              <a:rPr lang="en-US" sz="2400" dirty="0"/>
            </a:br>
            <a:r>
              <a:rPr lang="en-US" sz="2400" dirty="0"/>
              <a:t>• Identify application deployment and infrastructure requirements.</a:t>
            </a:r>
            <a:br>
              <a:rPr lang="en-US" sz="2400" dirty="0"/>
            </a:br>
            <a:r>
              <a:rPr lang="en-US" sz="2400" dirty="0"/>
              <a:t>• Generate context-specific responses based on the analyzed application.</a:t>
            </a:r>
            <a:br>
              <a:rPr lang="en-US" sz="2400" dirty="0"/>
            </a:br>
            <a:r>
              <a:rPr lang="en-US" sz="2400" dirty="0"/>
              <a:t>• Help developers understand complex codebases and configurations.</a:t>
            </a:r>
          </a:p>
        </p:txBody>
      </p:sp>
    </p:spTree>
    <p:extLst>
      <p:ext uri="{BB962C8B-B14F-4D97-AF65-F5344CB8AC3E}">
        <p14:creationId xmlns:p14="http://schemas.microsoft.com/office/powerpoint/2010/main" val="2174867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490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528839"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47940" y="547486"/>
            <a:ext cx="3413572" cy="738227"/>
          </a:xfrm>
          <a:prstGeom prst="rect">
            <a:avLst/>
          </a:prstGeom>
        </p:spPr>
        <p:txBody>
          <a:bodyPr lIns="0" tIns="0" rIns="0" bIns="0" rtlCol="0" anchor="t">
            <a:spAutoFit/>
          </a:bodyPr>
          <a:lstStyle/>
          <a:p>
            <a:pPr algn="ctr">
              <a:lnSpc>
                <a:spcPts val="6008"/>
              </a:lnSpc>
              <a:spcBef>
                <a:spcPct val="0"/>
              </a:spcBef>
            </a:pPr>
            <a:r>
              <a:rPr lang="en-US" sz="4291" b="1">
                <a:solidFill>
                  <a:srgbClr val="000000"/>
                </a:solidFill>
                <a:latin typeface="Open Sauce Bold"/>
                <a:ea typeface="Open Sauce Bold"/>
                <a:cs typeface="Open Sauce Bold"/>
                <a:sym typeface="Open Sauce Bold"/>
              </a:rPr>
              <a:t>Objectives:</a:t>
            </a:r>
          </a:p>
        </p:txBody>
      </p:sp>
      <p:sp>
        <p:nvSpPr>
          <p:cNvPr id="5" name="TextBox 4">
            <a:extLst>
              <a:ext uri="{FF2B5EF4-FFF2-40B4-BE49-F238E27FC236}">
                <a16:creationId xmlns:a16="http://schemas.microsoft.com/office/drawing/2014/main" id="{7F84DD88-F8AF-4BB0-AEF4-3D4279B3388A}"/>
              </a:ext>
            </a:extLst>
          </p:cNvPr>
          <p:cNvSpPr txBox="1"/>
          <p:nvPr/>
        </p:nvSpPr>
        <p:spPr>
          <a:xfrm>
            <a:off x="685800" y="2019300"/>
            <a:ext cx="16611600" cy="7478970"/>
          </a:xfrm>
          <a:prstGeom prst="rect">
            <a:avLst/>
          </a:prstGeom>
          <a:noFill/>
        </p:spPr>
        <p:txBody>
          <a:bodyPr wrap="square" rtlCol="0">
            <a:spAutoFit/>
          </a:bodyPr>
          <a:lstStyle/>
          <a:p>
            <a:r>
              <a:rPr lang="en-US" sz="2400" b="1" dirty="0"/>
              <a:t>3. Cloud Provisioning and Deployment Reporting</a:t>
            </a:r>
          </a:p>
          <a:p>
            <a:r>
              <a:rPr lang="en-US" sz="2400" dirty="0"/>
              <a:t>To implement cloud infrastructure provisioning and application deployment while providing clear and explainable deployment decisions.</a:t>
            </a:r>
          </a:p>
          <a:p>
            <a:r>
              <a:rPr lang="en-US" sz="2400" dirty="0"/>
              <a:t>• Provision required cloud resources using </a:t>
            </a:r>
            <a:r>
              <a:rPr lang="en-US" sz="2400" b="1" dirty="0"/>
              <a:t>Terraform and cloud provider APIs</a:t>
            </a:r>
            <a:r>
              <a:rPr lang="en-US" sz="2400" dirty="0"/>
              <a:t>.</a:t>
            </a:r>
            <a:br>
              <a:rPr lang="en-US" sz="2400" dirty="0"/>
            </a:br>
            <a:r>
              <a:rPr lang="en-US" sz="2400" dirty="0"/>
              <a:t>• Configure and deploy applications through </a:t>
            </a:r>
            <a:r>
              <a:rPr lang="en-US" sz="2400" b="1" dirty="0"/>
              <a:t>CI/CD pipelines</a:t>
            </a:r>
            <a:r>
              <a:rPr lang="en-US" sz="2400" dirty="0"/>
              <a:t>.</a:t>
            </a:r>
            <a:br>
              <a:rPr lang="en-US" sz="2400" dirty="0"/>
            </a:br>
            <a:r>
              <a:rPr lang="en-US" sz="2400" dirty="0"/>
              <a:t>• Support deployment across </a:t>
            </a:r>
            <a:r>
              <a:rPr lang="en-US" sz="2400" b="1" dirty="0"/>
              <a:t>AWS, Azure, and GCP</a:t>
            </a:r>
            <a:r>
              <a:rPr lang="en-US" sz="2400" dirty="0"/>
              <a:t>.</a:t>
            </a:r>
            <a:br>
              <a:rPr lang="en-US" sz="2400" dirty="0"/>
            </a:br>
            <a:r>
              <a:rPr lang="en-US" sz="2400" dirty="0"/>
              <a:t>• Generate an explainable deployment report.</a:t>
            </a:r>
            <a:br>
              <a:rPr lang="en-US" sz="2400" dirty="0"/>
            </a:br>
            <a:r>
              <a:rPr lang="en-US" sz="2400" dirty="0"/>
              <a:t>• Describe selected cloud services, configurations, and their purpose.</a:t>
            </a:r>
            <a:br>
              <a:rPr lang="en-US" sz="2400" dirty="0"/>
            </a:br>
            <a:r>
              <a:rPr lang="en-US" sz="2400" dirty="0"/>
              <a:t>• Provide the rationale behind each cloud and deployment decision.</a:t>
            </a:r>
          </a:p>
          <a:p>
            <a:endParaRPr lang="en-US" sz="2400" dirty="0"/>
          </a:p>
          <a:p>
            <a:r>
              <a:rPr lang="en-US" sz="2400" b="1" dirty="0"/>
              <a:t>4. Deployment Monitoring and Error Response</a:t>
            </a:r>
          </a:p>
          <a:p>
            <a:r>
              <a:rPr lang="en-US" sz="2400" dirty="0"/>
              <a:t>To develop an intelligent monitoring and error-handling system that identifies deployment and runtime problems and supports appropriate corrective actions.</a:t>
            </a:r>
          </a:p>
          <a:p>
            <a:r>
              <a:rPr lang="en-US" sz="2400" dirty="0"/>
              <a:t>• Monitor application and infrastructure metrics, logs, and resource usage.</a:t>
            </a:r>
            <a:br>
              <a:rPr lang="en-US" sz="2400" dirty="0"/>
            </a:br>
            <a:r>
              <a:rPr lang="en-US" sz="2400" dirty="0"/>
              <a:t>• Detect abnormal behavior using </a:t>
            </a:r>
            <a:r>
              <a:rPr lang="en-US" sz="2400" b="1" dirty="0"/>
              <a:t>ML-based anomaly detection</a:t>
            </a:r>
            <a:r>
              <a:rPr lang="en-US" sz="2400" dirty="0"/>
              <a:t>.</a:t>
            </a:r>
            <a:br>
              <a:rPr lang="en-US" sz="2400" dirty="0"/>
            </a:br>
            <a:r>
              <a:rPr lang="en-US" sz="2400" dirty="0"/>
              <a:t>• Classify build, deployment, runtime, and resource-related failures.</a:t>
            </a:r>
            <a:br>
              <a:rPr lang="en-US" sz="2400" dirty="0"/>
            </a:br>
            <a:r>
              <a:rPr lang="en-US" sz="2400" dirty="0"/>
              <a:t>• Identify the probable causes of detected errors.</a:t>
            </a:r>
            <a:br>
              <a:rPr lang="en-US" sz="2400" dirty="0"/>
            </a:br>
            <a:r>
              <a:rPr lang="en-US" sz="2400" dirty="0"/>
              <a:t>• Support corrective actions such as </a:t>
            </a:r>
            <a:r>
              <a:rPr lang="en-US" sz="2400" b="1" dirty="0"/>
              <a:t>restart, scaling, rollback, or redeployment</a:t>
            </a:r>
            <a:r>
              <a:rPr lang="en-US" sz="2400" dirty="0"/>
              <a:t>.</a:t>
            </a:r>
            <a:br>
              <a:rPr lang="en-US" sz="2400" dirty="0"/>
            </a:br>
            <a:r>
              <a:rPr lang="en-US" sz="2400" dirty="0"/>
              <a:t>• Evaluate system reliability, response time, and reduction in manual intervention.</a:t>
            </a:r>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490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528839"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47940" y="547486"/>
            <a:ext cx="11891660" cy="703591"/>
          </a:xfrm>
          <a:prstGeom prst="rect">
            <a:avLst/>
          </a:prstGeom>
        </p:spPr>
        <p:txBody>
          <a:bodyPr wrap="square" lIns="0" tIns="0" rIns="0" bIns="0" rtlCol="0" anchor="t">
            <a:spAutoFit/>
          </a:bodyPr>
          <a:lstStyle/>
          <a:p>
            <a:pPr>
              <a:lnSpc>
                <a:spcPts val="6008"/>
              </a:lnSpc>
              <a:spcBef>
                <a:spcPct val="0"/>
              </a:spcBef>
            </a:pPr>
            <a:r>
              <a:rPr lang="en-US" sz="4291" b="1" dirty="0">
                <a:solidFill>
                  <a:srgbClr val="000000"/>
                </a:solidFill>
                <a:latin typeface="Open Sauce Bold"/>
                <a:ea typeface="Open Sauce Bold"/>
                <a:cs typeface="Open Sauce Bold"/>
                <a:sym typeface="Open Sauce Bold"/>
              </a:rPr>
              <a:t>Proposed System Architecture:</a:t>
            </a:r>
          </a:p>
        </p:txBody>
      </p:sp>
      <p:pic>
        <p:nvPicPr>
          <p:cNvPr id="7" name="Picture 6">
            <a:extLst>
              <a:ext uri="{FF2B5EF4-FFF2-40B4-BE49-F238E27FC236}">
                <a16:creationId xmlns:a16="http://schemas.microsoft.com/office/drawing/2014/main" id="{0CD6AB3C-1A97-4D9C-B6E4-C003398A67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1181100"/>
            <a:ext cx="14929928" cy="8686800"/>
          </a:xfrm>
          <a:prstGeom prst="rect">
            <a:avLst/>
          </a:prstGeom>
        </p:spPr>
      </p:pic>
    </p:spTree>
    <p:extLst>
      <p:ext uri="{BB962C8B-B14F-4D97-AF65-F5344CB8AC3E}">
        <p14:creationId xmlns:p14="http://schemas.microsoft.com/office/powerpoint/2010/main" val="3343066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528839" y="-106017"/>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238815" y="547486"/>
            <a:ext cx="4522245" cy="1473032"/>
          </a:xfrm>
          <a:prstGeom prst="rect">
            <a:avLst/>
          </a:prstGeom>
        </p:spPr>
        <p:txBody>
          <a:bodyPr lIns="0" tIns="0" rIns="0" bIns="0" rtlCol="0" anchor="t">
            <a:spAutoFit/>
          </a:bodyPr>
          <a:lstStyle/>
          <a:p>
            <a:pPr algn="ctr">
              <a:lnSpc>
                <a:spcPts val="6008"/>
              </a:lnSpc>
              <a:spcBef>
                <a:spcPct val="0"/>
              </a:spcBef>
            </a:pPr>
            <a:r>
              <a:rPr lang="en-US" sz="4291" b="1" dirty="0">
                <a:solidFill>
                  <a:srgbClr val="000000"/>
                </a:solidFill>
                <a:latin typeface="Open Sauce Bold"/>
                <a:ea typeface="Open Sauce Bold"/>
                <a:cs typeface="Open Sauce Bold"/>
                <a:sym typeface="Open Sauce Bold"/>
              </a:rPr>
              <a:t>Base Paper Link(If any):</a:t>
            </a:r>
          </a:p>
        </p:txBody>
      </p:sp>
      <p:sp>
        <p:nvSpPr>
          <p:cNvPr id="5" name="TextBox 4">
            <a:extLst>
              <a:ext uri="{FF2B5EF4-FFF2-40B4-BE49-F238E27FC236}">
                <a16:creationId xmlns:a16="http://schemas.microsoft.com/office/drawing/2014/main" id="{0F2D11A2-B218-4A1A-A6BF-5C886D1E84CA}"/>
              </a:ext>
            </a:extLst>
          </p:cNvPr>
          <p:cNvSpPr txBox="1"/>
          <p:nvPr/>
        </p:nvSpPr>
        <p:spPr>
          <a:xfrm>
            <a:off x="1066800" y="2476500"/>
            <a:ext cx="12115800" cy="1200329"/>
          </a:xfrm>
          <a:prstGeom prst="rect">
            <a:avLst/>
          </a:prstGeom>
          <a:noFill/>
        </p:spPr>
        <p:txBody>
          <a:bodyPr wrap="square" rtlCol="0">
            <a:spAutoFit/>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hlinkClick r:id="rId4"/>
              </a:rPr>
              <a:t>https://journals.plos.org/plosone/article?id=10.1371%2Fjournal.pone.0105297&amp;utm_source=chatgpt.com</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CB09-171E-426F-5F29-8742EBCDD8ED}"/>
              </a:ext>
            </a:extLst>
          </p:cNvPr>
          <p:cNvSpPr>
            <a:spLocks noGrp="1"/>
          </p:cNvSpPr>
          <p:nvPr>
            <p:ph type="title"/>
          </p:nvPr>
        </p:nvSpPr>
        <p:spPr>
          <a:xfrm>
            <a:off x="457200" y="274638"/>
            <a:ext cx="9448800" cy="1143000"/>
          </a:xfrm>
        </p:spPr>
        <p:txBody>
          <a:bodyPr>
            <a:normAutofit/>
          </a:bodyPr>
          <a:lstStyle/>
          <a:p>
            <a:pPr algn="l"/>
            <a:r>
              <a:rPr lang="en-US" b="1" dirty="0">
                <a:solidFill>
                  <a:srgbClr val="000000"/>
                </a:solidFill>
                <a:latin typeface="Open Sauce Bold"/>
                <a:ea typeface="Open Sauce Bold"/>
                <a:cs typeface="Open Sauce Bold"/>
                <a:sym typeface="Open Sauce Bold"/>
              </a:rPr>
              <a:t>References:</a:t>
            </a:r>
            <a:endParaRPr lang="en-IN" dirty="0"/>
          </a:p>
        </p:txBody>
      </p:sp>
      <p:sp>
        <p:nvSpPr>
          <p:cNvPr id="5" name="Content Placeholder 4">
            <a:extLst>
              <a:ext uri="{FF2B5EF4-FFF2-40B4-BE49-F238E27FC236}">
                <a16:creationId xmlns:a16="http://schemas.microsoft.com/office/drawing/2014/main" id="{CE47C80A-1E94-44EE-AAF6-B373E4E5E17A}"/>
              </a:ext>
            </a:extLst>
          </p:cNvPr>
          <p:cNvSpPr>
            <a:spLocks noGrp="1"/>
          </p:cNvSpPr>
          <p:nvPr>
            <p:ph idx="1"/>
          </p:nvPr>
        </p:nvSpPr>
        <p:spPr>
          <a:xfrm>
            <a:off x="457200" y="1930129"/>
            <a:ext cx="16078200" cy="6667500"/>
          </a:xfrm>
        </p:spPr>
        <p:txBody>
          <a:bodyPr>
            <a:noAutofit/>
          </a:bodyPr>
          <a:lstStyle/>
          <a:p>
            <a:pPr marL="0" indent="0" algn="just">
              <a:buNone/>
            </a:pPr>
            <a:r>
              <a:rPr lang="en-US" sz="2400" b="1" dirty="0"/>
              <a:t>[1] </a:t>
            </a:r>
            <a:r>
              <a:rPr lang="en-US" sz="2400" dirty="0"/>
              <a:t>Humble, J., &amp; Farley, D. (2010).</a:t>
            </a:r>
            <a:r>
              <a:rPr lang="en-US" sz="2400" b="1" dirty="0"/>
              <a:t> </a:t>
            </a:r>
            <a:r>
              <a:rPr lang="en-US" sz="2400" i="1" dirty="0"/>
              <a:t>Continuous Delivery: Reliable Software Releases through Build, Test, and Deployment Automation.</a:t>
            </a:r>
            <a:r>
              <a:rPr lang="en-US" sz="2400" dirty="0"/>
              <a:t> Addison-Wesley Professional.</a:t>
            </a:r>
          </a:p>
          <a:p>
            <a:pPr marL="0" indent="0" algn="just">
              <a:buNone/>
            </a:pPr>
            <a:br>
              <a:rPr lang="en-US" sz="2400" dirty="0"/>
            </a:br>
            <a:r>
              <a:rPr lang="en-US" sz="2400" b="1" dirty="0"/>
              <a:t>[2] </a:t>
            </a:r>
            <a:r>
              <a:rPr lang="en-US" sz="2400" dirty="0"/>
              <a:t>Zhang, Q., Fang, C., </a:t>
            </a:r>
            <a:r>
              <a:rPr lang="en-US" sz="2400" dirty="0" err="1"/>
              <a:t>Xie</a:t>
            </a:r>
            <a:r>
              <a:rPr lang="en-US" sz="2400" dirty="0"/>
              <a:t>, Y., et al. (2023)</a:t>
            </a:r>
            <a:r>
              <a:rPr lang="en-US" sz="2400" b="1" dirty="0"/>
              <a:t>.</a:t>
            </a:r>
            <a:r>
              <a:rPr lang="en-US" sz="2400" dirty="0"/>
              <a:t> </a:t>
            </a:r>
            <a:r>
              <a:rPr lang="en-US" sz="2400" i="1" dirty="0"/>
              <a:t>A Survey on Large Language Models for Software Engineering.</a:t>
            </a:r>
            <a:r>
              <a:rPr lang="en-US" sz="2400" dirty="0"/>
              <a:t> arXiv:2312.15223.</a:t>
            </a:r>
          </a:p>
          <a:p>
            <a:pPr marL="0" indent="0" algn="just">
              <a:buNone/>
            </a:pPr>
            <a:endParaRPr lang="en-US" sz="2400" dirty="0"/>
          </a:p>
          <a:p>
            <a:pPr marL="0" indent="0" algn="just">
              <a:buNone/>
            </a:pPr>
            <a:r>
              <a:rPr lang="en-US" sz="2400" b="1" dirty="0"/>
              <a:t>[3] </a:t>
            </a:r>
            <a:r>
              <a:rPr lang="en-IN" sz="2400" dirty="0"/>
              <a:t>Hou, X., Zhao, Y., Liu, Y., et al. (2024). </a:t>
            </a:r>
            <a:r>
              <a:rPr lang="en-IN" sz="2400" i="1" dirty="0"/>
              <a:t>Large Language Models for Software Engineering: A Systematic Literature Review.</a:t>
            </a:r>
            <a:r>
              <a:rPr lang="en-IN" sz="2400" dirty="0"/>
              <a:t> ACM Transactions on Software Engineering and Methodology, 33(8), Article 220.</a:t>
            </a:r>
          </a:p>
          <a:p>
            <a:pPr marL="0" indent="0" algn="just">
              <a:buNone/>
            </a:pPr>
            <a:endParaRPr lang="en-IN" sz="2400" dirty="0"/>
          </a:p>
          <a:p>
            <a:pPr marL="0" indent="0" algn="just">
              <a:buNone/>
            </a:pPr>
            <a:r>
              <a:rPr lang="en-US" sz="2400" b="1" dirty="0"/>
              <a:t>[</a:t>
            </a:r>
            <a:r>
              <a:rPr lang="en-IN" sz="2400" b="1" dirty="0"/>
              <a:t>4]</a:t>
            </a:r>
            <a:r>
              <a:rPr lang="en-US" sz="2400" dirty="0"/>
              <a:t> </a:t>
            </a:r>
            <a:r>
              <a:rPr lang="en-US" sz="2400" dirty="0" err="1"/>
              <a:t>Patcas</a:t>
            </a:r>
            <a:r>
              <a:rPr lang="en-US" sz="2400" dirty="0"/>
              <a:t>, R., &amp; </a:t>
            </a:r>
            <a:r>
              <a:rPr lang="en-US" sz="2400" dirty="0" err="1"/>
              <a:t>Motogna</a:t>
            </a:r>
            <a:r>
              <a:rPr lang="en-US" sz="2400" dirty="0"/>
              <a:t>, S. (2026). </a:t>
            </a:r>
            <a:r>
              <a:rPr lang="en-US" sz="2400" i="1" dirty="0"/>
              <a:t>An evaluation study of large language models for addressing code quality issues.</a:t>
            </a:r>
            <a:r>
              <a:rPr lang="en-US" sz="2400" dirty="0"/>
              <a:t> Empirical Software Engineering, 31, 118.</a:t>
            </a:r>
          </a:p>
          <a:p>
            <a:pPr marL="0" indent="0" algn="just">
              <a:buNone/>
            </a:pPr>
            <a:endParaRPr lang="en-US" sz="2400" b="1" dirty="0"/>
          </a:p>
          <a:p>
            <a:pPr marL="0" indent="0" algn="just">
              <a:buNone/>
            </a:pPr>
            <a:r>
              <a:rPr lang="en-US" sz="2400" b="1" dirty="0"/>
              <a:t>[5] </a:t>
            </a:r>
            <a:r>
              <a:rPr lang="en-US" sz="2400" dirty="0"/>
              <a:t>Abtahi, S. M., &amp; Azim, A. (2025). </a:t>
            </a:r>
            <a:r>
              <a:rPr lang="en-US" sz="2400" i="1" dirty="0"/>
              <a:t>Augmenting Large Language Models with Static Code Analysis for Automated Code Quality Improvements.</a:t>
            </a:r>
            <a:r>
              <a:rPr lang="en-US" sz="2400" dirty="0"/>
              <a:t> arXiv:2506.10330.</a:t>
            </a:r>
            <a:endParaRPr lang="en-IN" sz="2400" b="1" dirty="0"/>
          </a:p>
        </p:txBody>
      </p:sp>
      <p:sp>
        <p:nvSpPr>
          <p:cNvPr id="6" name="Freeform 3">
            <a:extLst>
              <a:ext uri="{FF2B5EF4-FFF2-40B4-BE49-F238E27FC236}">
                <a16:creationId xmlns:a16="http://schemas.microsoft.com/office/drawing/2014/main" id="{1B3D6911-95C0-4EC6-87BE-6744F3A96369}"/>
              </a:ext>
            </a:extLst>
          </p:cNvPr>
          <p:cNvSpPr/>
          <p:nvPr/>
        </p:nvSpPr>
        <p:spPr>
          <a:xfrm>
            <a:off x="15392400"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2"/>
            <a:stretch>
              <a:fillRect/>
            </a:stretch>
          </a:blipFill>
        </p:spPr>
        <p:txBody>
          <a:bodyPr/>
          <a:lstStyle/>
          <a:p>
            <a:endParaRPr lang="en-IN"/>
          </a:p>
        </p:txBody>
      </p:sp>
    </p:spTree>
    <p:extLst>
      <p:ext uri="{BB962C8B-B14F-4D97-AF65-F5344CB8AC3E}">
        <p14:creationId xmlns:p14="http://schemas.microsoft.com/office/powerpoint/2010/main" val="3957730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710588" y="0"/>
            <a:ext cx="2759161" cy="1918923"/>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6510290" y="4169183"/>
            <a:ext cx="5267419" cy="1160986"/>
          </a:xfrm>
          <a:prstGeom prst="rect">
            <a:avLst/>
          </a:prstGeom>
        </p:spPr>
        <p:txBody>
          <a:bodyPr lIns="0" tIns="0" rIns="0" bIns="0" rtlCol="0" anchor="t">
            <a:spAutoFit/>
          </a:bodyPr>
          <a:lstStyle/>
          <a:p>
            <a:pPr algn="ctr">
              <a:lnSpc>
                <a:spcPts val="9508"/>
              </a:lnSpc>
              <a:spcBef>
                <a:spcPct val="0"/>
              </a:spcBef>
            </a:pPr>
            <a:r>
              <a:rPr lang="en-US" sz="6791" b="1">
                <a:solidFill>
                  <a:srgbClr val="000000"/>
                </a:solidFill>
                <a:latin typeface="Open Sauce Bold"/>
                <a:ea typeface="Open Sauce Bold"/>
                <a:cs typeface="Open Sauce Bold"/>
                <a:sym typeface="Open Sau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482</TotalTime>
  <Words>2150</Words>
  <Application>Microsoft Office PowerPoint</Application>
  <PresentationFormat>Custom</PresentationFormat>
  <Paragraphs>129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Times New Roman</vt:lpstr>
      <vt:lpstr>Arial</vt:lpstr>
      <vt:lpstr>Open Sauce Bold</vt:lpstr>
      <vt:lpstr>Calibri</vt:lpstr>
      <vt:lpstr>Office Theme</vt:lpstr>
      <vt:lpstr>PowerPoint Presentation</vt:lpstr>
      <vt:lpstr>PowerPoint Presentation</vt:lpstr>
      <vt:lpstr>PowerPoint Presentation</vt:lpstr>
      <vt:lpstr>Literature Survey:</vt:lpstr>
      <vt:lpstr>Literature Survey:</vt:lpstr>
      <vt:lpstr>PowerPoint Presentation</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PROJECT ABSTRACT</dc:title>
  <cp:lastModifiedBy>Jagadeeswar J</cp:lastModifiedBy>
  <cp:revision>28</cp:revision>
  <dcterms:created xsi:type="dcterms:W3CDTF">2006-08-16T00:00:00Z</dcterms:created>
  <dcterms:modified xsi:type="dcterms:W3CDTF">2026-09-15T15:06:43Z</dcterms:modified>
  <dc:identifier>DAHBHb9LjcI</dc:identifier>
</cp:coreProperties>
</file>