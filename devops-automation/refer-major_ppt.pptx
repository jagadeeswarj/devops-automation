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68" r:id="rId2"/>
    <p:sldId id="257" r:id="rId3"/>
    <p:sldId id="258" r:id="rId4"/>
    <p:sldId id="271" r:id="rId5"/>
    <p:sldId id="272" r:id="rId6"/>
    <p:sldId id="259" r:id="rId7"/>
    <p:sldId id="273" r:id="rId8"/>
    <p:sldId id="274" r:id="rId9"/>
    <p:sldId id="275" r:id="rId10"/>
    <p:sldId id="269" r:id="rId11"/>
    <p:sldId id="267" r:id="rId12"/>
    <p:sldId id="276" r:id="rId13"/>
    <p:sldId id="285" r:id="rId14"/>
    <p:sldId id="286" r:id="rId15"/>
    <p:sldId id="287" r:id="rId16"/>
    <p:sldId id="288" r:id="rId17"/>
    <p:sldId id="289" r:id="rId18"/>
    <p:sldId id="277" r:id="rId19"/>
    <p:sldId id="278" r:id="rId20"/>
    <p:sldId id="280" r:id="rId21"/>
    <p:sldId id="282" r:id="rId22"/>
    <p:sldId id="283" r:id="rId23"/>
    <p:sldId id="284" r:id="rId24"/>
    <p:sldId id="262" r:id="rId25"/>
    <p:sldId id="264" r:id="rId26"/>
    <p:sldId id="265" r:id="rId27"/>
    <p:sldId id="260" r:id="rId28"/>
    <p:sldId id="261" r:id="rId29"/>
  </p:sldIdLst>
  <p:sldSz cx="18288000" cy="10287000"/>
  <p:notesSz cx="6858000" cy="9144000"/>
  <p:embeddedFontLst>
    <p:embeddedFont>
      <p:font typeface="Open Sauce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26" dt="2026-10-02T10:03:03.763"/>
    <p1510:client id="{38937420-8095-A987-BDE5-5D39AFEE0795}" v="83" dt="2026-10-02T07:44:54.766"/>
    <p1510:client id="{894627CD-1B5E-4EFF-9C00-F0A28FCA43F5}" v="1292" dt="2026-10-01T15:21:15.611"/>
    <p1510:client id="{A4034C30-DC15-B85E-B466-E6E7E127ADD5}" v="187" dt="2026-10-02T07:13:46.3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9DC039-54BD-4321-92EC-F27EAE69885E}" type="datetimeFigureOut">
              <a:rPr lang="en-IN" smtClean="0"/>
              <a:t>02-10-2026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AFBAA-1D04-4B45-8542-7F0EFFBF013A}" type="slidenum">
              <a:rPr lang="en-IN" smtClean="0"/>
              <a:t>‹#›</a:t>
            </a:fld>
            <a:endParaRPr lang="en-IN"/>
          </a:p>
        </p:txBody>
      </p:sp>
    </p:spTree>
    <p:extLst>
      <p:ext uri="{BB962C8B-B14F-4D97-AF65-F5344CB8AC3E}">
        <p14:creationId xmlns:p14="http://schemas.microsoft.com/office/powerpoint/2010/main" val="137310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9BAFBAA-1D04-4B45-8542-7F0EFFBF013A}" type="slidenum">
              <a:rPr lang="en-IN" smtClean="0"/>
              <a:t>10</a:t>
            </a:fld>
            <a:endParaRPr lang="en-IN"/>
          </a:p>
        </p:txBody>
      </p:sp>
    </p:spTree>
    <p:extLst>
      <p:ext uri="{BB962C8B-B14F-4D97-AF65-F5344CB8AC3E}">
        <p14:creationId xmlns:p14="http://schemas.microsoft.com/office/powerpoint/2010/main" val="4122370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9BAFBAA-1D04-4B45-8542-7F0EFFBF013A}" type="slidenum">
              <a:rPr lang="en-IN" smtClean="0"/>
              <a:t>11</a:t>
            </a:fld>
            <a:endParaRPr lang="en-IN"/>
          </a:p>
        </p:txBody>
      </p:sp>
    </p:spTree>
    <p:extLst>
      <p:ext uri="{BB962C8B-B14F-4D97-AF65-F5344CB8AC3E}">
        <p14:creationId xmlns:p14="http://schemas.microsoft.com/office/powerpoint/2010/main" val="3188766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hyperlink" Target="https://drive.google.com/file/d/1ZE_hfx3vOmniPm0BIRmUCWPzQv7dgN7i/view?usp=sharing" TargetMode="Externa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8" Type="http://schemas.openxmlformats.org/officeDocument/2006/relationships/hyperlink" Target="https://drive.google.com/file/d/1_F4Ls9wvS2FSRwciOBWSRAcxrbxjJYEf/view?usp=sharing" TargetMode="External"/><Relationship Id="rId3" Type="http://schemas.openxmlformats.org/officeDocument/2006/relationships/image" Target="../media/image3.png"/><Relationship Id="rId7" Type="http://schemas.openxmlformats.org/officeDocument/2006/relationships/hyperlink" Target="https://drive.google.com/file/d/18UadF54X8wM3tdz03XwID2aJbWT1CeqF/view?usp=sharing" TargetMode="External"/><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hyperlink" Target="https://drive.google.com/file/d/1sUNpv2KY-35uoy9_uZ8DdTirTbsbiBR-/view?usp=sharing" TargetMode="External"/><Relationship Id="rId11" Type="http://schemas.openxmlformats.org/officeDocument/2006/relationships/hyperlink" Target="https://drive.google.com/file/d/18xkhocw7ilhh5wxIMZbyiR48ngQIk7BB/view?usp=sharing" TargetMode="External"/><Relationship Id="rId5" Type="http://schemas.openxmlformats.org/officeDocument/2006/relationships/hyperlink" Target="https://drive.google.com/file/d/1zOj7BHbFt9zktps71L25-ErmOz3hVyzR/view?usp=sharing" TargetMode="External"/><Relationship Id="rId10" Type="http://schemas.openxmlformats.org/officeDocument/2006/relationships/hyperlink" Target="https://drive.google.com/file/d/1WFrcU8GuiAxGGKdXi_mgvMKKg5QF_kDu/view?usp=sharing" TargetMode="External"/><Relationship Id="rId4" Type="http://schemas.openxmlformats.org/officeDocument/2006/relationships/hyperlink" Target="https://drive.google.com/file/d/1ZE_hfx3vOmniPm0BIRmUCWPzQv7dgN7i/view?usp=sharing" TargetMode="External"/><Relationship Id="rId9" Type="http://schemas.openxmlformats.org/officeDocument/2006/relationships/hyperlink" Target="https://drive.google.com/file/d/15oizueHxkKYXvmUS-X1gTMr4pLdgFZ1h/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66676"/>
            <a:ext cx="17983200" cy="2486024"/>
          </a:xfrm>
        </p:spPr>
        <p:txBody>
          <a:bodyPr>
            <a:normAutofit fontScale="90000"/>
          </a:bodyPr>
          <a:lstStyle/>
          <a:p>
            <a:br>
              <a:rPr lang="en-IN"/>
            </a:br>
            <a:br>
              <a:rPr lang="en-IN"/>
            </a:br>
            <a:br>
              <a:rPr lang="en-IN"/>
            </a:br>
            <a:br>
              <a:rPr lang="en-IN"/>
            </a:br>
            <a:endParaRPr lang="en-IN"/>
          </a:p>
        </p:txBody>
      </p:sp>
      <p:sp>
        <p:nvSpPr>
          <p:cNvPr id="3" name="Subtitle 2"/>
          <p:cNvSpPr>
            <a:spLocks noGrp="1"/>
          </p:cNvSpPr>
          <p:nvPr>
            <p:ph type="subTitle" idx="1"/>
          </p:nvPr>
        </p:nvSpPr>
        <p:spPr>
          <a:xfrm>
            <a:off x="609600" y="2552700"/>
            <a:ext cx="17297400" cy="2354184"/>
          </a:xfrm>
        </p:spPr>
        <p:txBody>
          <a:bodyPr vert="horz" lIns="91440" tIns="45720" rIns="91440" bIns="45720" rtlCol="0" anchor="t">
            <a:noAutofit/>
          </a:bodyPr>
          <a:lstStyle/>
          <a:p>
            <a:pPr>
              <a:lnSpc>
                <a:spcPts val="6008"/>
              </a:lnSpc>
              <a:spcBef>
                <a:spcPct val="0"/>
              </a:spcBef>
            </a:pPr>
            <a:r>
              <a:rPr lang="en-US" sz="3600" b="1" u="sng">
                <a:solidFill>
                  <a:srgbClr val="002060"/>
                </a:solidFill>
                <a:latin typeface="Open Sauce Bold"/>
                <a:ea typeface="Open Sauce Bold"/>
                <a:cs typeface="Open Sauce Bold"/>
                <a:sym typeface="Open Sauce Bold"/>
              </a:rPr>
              <a:t>B-Tech Data Science-C Major Project Review </a:t>
            </a:r>
          </a:p>
          <a:p>
            <a:r>
              <a:rPr lang="en-US" sz="3600" b="1">
                <a:solidFill>
                  <a:srgbClr val="002060"/>
                </a:solidFill>
                <a:latin typeface="Open Sauce Bold"/>
                <a:ea typeface="Open Sauce Bold"/>
                <a:cs typeface="Open Sauce Bold"/>
              </a:rPr>
              <a:t>Smart Intelligent Passenger Assistance System for Airports</a:t>
            </a:r>
            <a:br>
              <a:rPr lang="en-US" sz="3600" b="1">
                <a:solidFill>
                  <a:srgbClr val="002060"/>
                </a:solidFill>
                <a:latin typeface="Open Sauce Bold"/>
                <a:ea typeface="Open Sauce Bold"/>
                <a:cs typeface="Open Sauce Bold"/>
              </a:rPr>
            </a:br>
            <a:r>
              <a:rPr lang="en-US" sz="3600" b="1">
                <a:solidFill>
                  <a:srgbClr val="002060"/>
                </a:solidFill>
                <a:latin typeface="Open Sauce Bold"/>
                <a:ea typeface="Open Sauce Bold"/>
                <a:cs typeface="Open Sauce Bold"/>
              </a:rPr>
              <a:t>(SIPAS)</a:t>
            </a:r>
            <a:endParaRPr lang="en-US" sz="3600">
              <a:solidFill>
                <a:srgbClr val="000000"/>
              </a:solidFill>
              <a:latin typeface="Open Sauce Bold"/>
              <a:ea typeface="Open Sauce Bold"/>
              <a:cs typeface="Open Sauce Bold"/>
            </a:endParaRPr>
          </a:p>
          <a:p>
            <a:pPr>
              <a:lnSpc>
                <a:spcPts val="6008"/>
              </a:lnSpc>
              <a:spcBef>
                <a:spcPct val="0"/>
              </a:spcBef>
            </a:pPr>
            <a:endParaRPr lang="en-US" sz="3600" b="1">
              <a:solidFill>
                <a:schemeClr val="accent6">
                  <a:lumMod val="75000"/>
                </a:schemeClr>
              </a:solidFill>
              <a:latin typeface="Open Sauce Bold"/>
              <a:ea typeface="Open Sauce Bold"/>
              <a:cs typeface="Open Sauce Bold"/>
            </a:endParaRPr>
          </a:p>
        </p:txBody>
      </p:sp>
      <p:pic>
        <p:nvPicPr>
          <p:cNvPr id="4" name="Picture 3">
            <a:extLst>
              <a:ext uri="{FF2B5EF4-FFF2-40B4-BE49-F238E27FC236}">
                <a16:creationId xmlns:a16="http://schemas.microsoft.com/office/drawing/2014/main" id="{BE02D836-7B44-9056-998D-7A2B2986E82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1" y="66676"/>
            <a:ext cx="16306800" cy="2354186"/>
          </a:xfrm>
          <a:prstGeom prst="rect">
            <a:avLst/>
          </a:prstGeom>
          <a:noFill/>
          <a:ln>
            <a:noFill/>
          </a:ln>
        </p:spPr>
      </p:pic>
      <p:sp>
        <p:nvSpPr>
          <p:cNvPr id="5" name="TextBox 4"/>
          <p:cNvSpPr txBox="1"/>
          <p:nvPr/>
        </p:nvSpPr>
        <p:spPr>
          <a:xfrm>
            <a:off x="939801" y="6896100"/>
            <a:ext cx="7010400" cy="2062103"/>
          </a:xfrm>
          <a:prstGeom prst="rect">
            <a:avLst/>
          </a:prstGeom>
          <a:noFill/>
          <a:ln>
            <a:solidFill>
              <a:schemeClr val="accent1"/>
            </a:solidFill>
          </a:ln>
        </p:spPr>
        <p:txBody>
          <a:bodyPr wrap="square" rtlCol="0">
            <a:spAutoFit/>
          </a:bodyPr>
          <a:lstStyle/>
          <a:p>
            <a:r>
              <a:rPr lang="en-US" sz="3200" b="1">
                <a:latin typeface="Times New Roman" panose="02020603050405020304" pitchFamily="18" charset="0"/>
                <a:cs typeface="Times New Roman" panose="02020603050405020304" pitchFamily="18" charset="0"/>
              </a:rPr>
              <a:t>Under The Supervision of</a:t>
            </a:r>
          </a:p>
          <a:p>
            <a:r>
              <a:rPr lang="en-US" sz="3200" b="1">
                <a:latin typeface="Times New Roman" panose="02020603050405020304" pitchFamily="18" charset="0"/>
                <a:cs typeface="Times New Roman" panose="02020603050405020304" pitchFamily="18" charset="0"/>
              </a:rPr>
              <a:t>Name:</a:t>
            </a:r>
            <a:r>
              <a:rPr lang="en-US" sz="3200"/>
              <a:t> Mr. </a:t>
            </a:r>
            <a:r>
              <a:rPr lang="en-US" sz="3200" err="1"/>
              <a:t>Manmath</a:t>
            </a:r>
            <a:r>
              <a:rPr lang="en-US" sz="3200"/>
              <a:t> </a:t>
            </a:r>
            <a:r>
              <a:rPr lang="en-US" sz="3200" err="1"/>
              <a:t>Nath</a:t>
            </a:r>
            <a:r>
              <a:rPr lang="en-US" sz="3200"/>
              <a:t> Das</a:t>
            </a:r>
            <a:endParaRPr lang="en-US" sz="3200" b="1">
              <a:latin typeface="Times New Roman" panose="02020603050405020304" pitchFamily="18" charset="0"/>
              <a:cs typeface="Times New Roman" panose="02020603050405020304" pitchFamily="18" charset="0"/>
            </a:endParaRPr>
          </a:p>
          <a:p>
            <a:r>
              <a:rPr lang="en-US" sz="3200" b="1">
                <a:latin typeface="Times New Roman" panose="02020603050405020304" pitchFamily="18" charset="0"/>
                <a:cs typeface="Times New Roman" panose="02020603050405020304" pitchFamily="18" charset="0"/>
              </a:rPr>
              <a:t>Designation:</a:t>
            </a:r>
            <a:r>
              <a:rPr lang="en-US" sz="3200"/>
              <a:t> Assistant Professor </a:t>
            </a:r>
            <a:endParaRPr lang="en-US" sz="3200" b="1">
              <a:latin typeface="Times New Roman" panose="02020603050405020304" pitchFamily="18" charset="0"/>
              <a:cs typeface="Times New Roman" panose="02020603050405020304" pitchFamily="18" charset="0"/>
            </a:endParaRPr>
          </a:p>
          <a:p>
            <a:r>
              <a:rPr lang="en-US" sz="3200" b="1">
                <a:latin typeface="Times New Roman" panose="02020603050405020304" pitchFamily="18" charset="0"/>
                <a:cs typeface="Times New Roman" panose="02020603050405020304" pitchFamily="18" charset="0"/>
              </a:rPr>
              <a:t>Dept. of CSE-(</a:t>
            </a:r>
            <a:r>
              <a:rPr lang="en-US" sz="3200" b="1" err="1">
                <a:latin typeface="Times New Roman" panose="02020603050405020304" pitchFamily="18" charset="0"/>
                <a:cs typeface="Times New Roman" panose="02020603050405020304" pitchFamily="18" charset="0"/>
              </a:rPr>
              <a:t>CyS</a:t>
            </a:r>
            <a:r>
              <a:rPr lang="en-US" sz="3200" b="1">
                <a:latin typeface="Times New Roman" panose="02020603050405020304" pitchFamily="18" charset="0"/>
                <a:cs typeface="Times New Roman" panose="02020603050405020304" pitchFamily="18" charset="0"/>
              </a:rPr>
              <a:t>, DS) and AI&amp;DS</a:t>
            </a:r>
            <a:endParaRPr lang="en-IN" sz="3200" b="1">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2D38C6F-EE47-577F-AF4F-EC86BAB20EB9}"/>
              </a:ext>
            </a:extLst>
          </p:cNvPr>
          <p:cNvGraphicFramePr>
            <a:graphicFrameLocks noGrp="1"/>
          </p:cNvGraphicFramePr>
          <p:nvPr>
            <p:extLst>
              <p:ext uri="{D42A27DB-BD31-4B8C-83A1-F6EECF244321}">
                <p14:modId xmlns:p14="http://schemas.microsoft.com/office/powerpoint/2010/main" val="3045688538"/>
              </p:ext>
            </p:extLst>
          </p:nvPr>
        </p:nvGraphicFramePr>
        <p:xfrm>
          <a:off x="8945880" y="5038722"/>
          <a:ext cx="9220200" cy="4615818"/>
        </p:xfrm>
        <a:graphic>
          <a:graphicData uri="http://schemas.openxmlformats.org/drawingml/2006/table">
            <a:tbl>
              <a:tblPr firstRow="1" bandRow="1">
                <a:tableStyleId>{93296810-A885-4BE3-A3E7-6D5BEEA58F35}</a:tableStyleId>
              </a:tblPr>
              <a:tblGrid>
                <a:gridCol w="4610100">
                  <a:extLst>
                    <a:ext uri="{9D8B030D-6E8A-4147-A177-3AD203B41FA5}">
                      <a16:colId xmlns:a16="http://schemas.microsoft.com/office/drawing/2014/main" val="151676286"/>
                    </a:ext>
                  </a:extLst>
                </a:gridCol>
                <a:gridCol w="4610100">
                  <a:extLst>
                    <a:ext uri="{9D8B030D-6E8A-4147-A177-3AD203B41FA5}">
                      <a16:colId xmlns:a16="http://schemas.microsoft.com/office/drawing/2014/main" val="2561979612"/>
                    </a:ext>
                  </a:extLst>
                </a:gridCol>
              </a:tblGrid>
              <a:tr h="769303">
                <a:tc gridSpan="2">
                  <a:txBody>
                    <a:bodyPr/>
                    <a:lstStyle/>
                    <a:p>
                      <a:pPr algn="ctr"/>
                      <a:r>
                        <a:rPr lang="en-IN" sz="3600" b="1">
                          <a:latin typeface="Times New Roman" panose="02020603050405020304" pitchFamily="18" charset="0"/>
                          <a:cs typeface="Times New Roman" panose="02020603050405020304" pitchFamily="18" charset="0"/>
                        </a:rPr>
                        <a:t>Batch No. </a:t>
                      </a:r>
                    </a:p>
                  </a:txBody>
                  <a:tcPr/>
                </a:tc>
                <a:tc hMerge="1">
                  <a:txBody>
                    <a:bodyPr/>
                    <a:lstStyle/>
                    <a:p>
                      <a:pPr algn="ctr"/>
                      <a:endParaRPr lang="en-IN" sz="3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337647"/>
                  </a:ext>
                </a:extLst>
              </a:tr>
              <a:tr h="769303">
                <a:tc>
                  <a:txBody>
                    <a:bodyPr/>
                    <a:lstStyle/>
                    <a:p>
                      <a:pPr algn="ctr"/>
                      <a:r>
                        <a:rPr lang="en-US" sz="3600" b="1">
                          <a:latin typeface="Times New Roman" panose="02020603050405020304" pitchFamily="18" charset="0"/>
                          <a:cs typeface="Times New Roman" panose="02020603050405020304" pitchFamily="18" charset="0"/>
                        </a:rPr>
                        <a:t>Student Name</a:t>
                      </a:r>
                      <a:endParaRPr lang="en-IN" sz="3600" b="1">
                        <a:latin typeface="Times New Roman" panose="02020603050405020304" pitchFamily="18" charset="0"/>
                        <a:cs typeface="Times New Roman" panose="02020603050405020304" pitchFamily="18" charset="0"/>
                      </a:endParaRPr>
                    </a:p>
                  </a:txBody>
                  <a:tcPr/>
                </a:tc>
                <a:tc>
                  <a:txBody>
                    <a:bodyPr/>
                    <a:lstStyle/>
                    <a:p>
                      <a:pPr algn="ctr"/>
                      <a:r>
                        <a:rPr lang="en-US" sz="3600" b="1">
                          <a:latin typeface="Times New Roman" panose="02020603050405020304" pitchFamily="18" charset="0"/>
                          <a:cs typeface="Times New Roman" panose="02020603050405020304" pitchFamily="18" charset="0"/>
                        </a:rPr>
                        <a:t>Roll Number</a:t>
                      </a:r>
                      <a:endParaRPr lang="en-IN" sz="3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77076932"/>
                  </a:ext>
                </a:extLst>
              </a:tr>
              <a:tr h="769303">
                <a:tc>
                  <a:txBody>
                    <a:bodyPr/>
                    <a:lstStyle/>
                    <a:p>
                      <a:pPr algn="ctr"/>
                      <a:r>
                        <a:rPr lang="en-IN" sz="2400">
                          <a:latin typeface="Times New Roman" panose="02020603050405020304" pitchFamily="18" charset="0"/>
                          <a:cs typeface="Times New Roman" panose="02020603050405020304" pitchFamily="18" charset="0"/>
                        </a:rPr>
                        <a:t>23071A67E5 </a:t>
                      </a:r>
                    </a:p>
                  </a:txBody>
                  <a:tcPr/>
                </a:tc>
                <a:tc>
                  <a:txBody>
                    <a:bodyPr/>
                    <a:lstStyle/>
                    <a:p>
                      <a:pPr algn="ctr"/>
                      <a:r>
                        <a:rPr lang="en-IN" sz="2400">
                          <a:latin typeface="Times New Roman" panose="02020603050405020304" pitchFamily="18" charset="0"/>
                          <a:cs typeface="Times New Roman" panose="02020603050405020304" pitchFamily="18" charset="0"/>
                        </a:rPr>
                        <a:t>D. </a:t>
                      </a:r>
                      <a:r>
                        <a:rPr lang="en-IN" sz="2400" err="1">
                          <a:latin typeface="Times New Roman" panose="02020603050405020304" pitchFamily="18" charset="0"/>
                          <a:cs typeface="Times New Roman" panose="02020603050405020304" pitchFamily="18" charset="0"/>
                        </a:rPr>
                        <a:t>Nitish</a:t>
                      </a:r>
                      <a:r>
                        <a:rPr lang="en-IN" sz="2400" baseline="0">
                          <a:latin typeface="Times New Roman" panose="02020603050405020304" pitchFamily="18" charset="0"/>
                          <a:cs typeface="Times New Roman" panose="02020603050405020304" pitchFamily="18" charset="0"/>
                        </a:rPr>
                        <a:t> Varma</a:t>
                      </a:r>
                      <a:endParaRPr lang="en-IN" sz="24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7787186"/>
                  </a:ext>
                </a:extLst>
              </a:tr>
              <a:tr h="769303">
                <a:tc>
                  <a:txBody>
                    <a:bodyPr/>
                    <a:lstStyle/>
                    <a:p>
                      <a:pPr algn="ctr"/>
                      <a:r>
                        <a:rPr lang="en-IN" sz="2400">
                          <a:latin typeface="Times New Roman" panose="02020603050405020304" pitchFamily="18" charset="0"/>
                          <a:cs typeface="Times New Roman" panose="02020603050405020304" pitchFamily="18" charset="0"/>
                        </a:rPr>
                        <a:t>23071A67E9</a:t>
                      </a:r>
                    </a:p>
                  </a:txBody>
                  <a:tcPr/>
                </a:tc>
                <a:tc>
                  <a:txBody>
                    <a:bodyPr/>
                    <a:lstStyle/>
                    <a:p>
                      <a:pPr algn="ctr"/>
                      <a:r>
                        <a:rPr lang="en-IN" sz="2400">
                          <a:latin typeface="Times New Roman" panose="02020603050405020304" pitchFamily="18" charset="0"/>
                          <a:cs typeface="Times New Roman" panose="02020603050405020304" pitchFamily="18" charset="0"/>
                        </a:rPr>
                        <a:t>G. N. </a:t>
                      </a:r>
                      <a:r>
                        <a:rPr lang="en-IN" sz="2400" err="1">
                          <a:latin typeface="Times New Roman" panose="02020603050405020304" pitchFamily="18" charset="0"/>
                          <a:cs typeface="Times New Roman" panose="02020603050405020304" pitchFamily="18" charset="0"/>
                        </a:rPr>
                        <a:t>Nishanth</a:t>
                      </a:r>
                      <a:endParaRPr lang="en-IN" sz="24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2078170"/>
                  </a:ext>
                </a:extLst>
              </a:tr>
              <a:tr h="769303">
                <a:tc>
                  <a:txBody>
                    <a:bodyPr/>
                    <a:lstStyle/>
                    <a:p>
                      <a:pPr algn="ctr"/>
                      <a:r>
                        <a:rPr lang="en-IN" sz="2400">
                          <a:latin typeface="Times New Roman" panose="02020603050405020304" pitchFamily="18" charset="0"/>
                          <a:cs typeface="Times New Roman" panose="02020603050405020304" pitchFamily="18" charset="0"/>
                        </a:rPr>
                        <a:t>23071A67F6</a:t>
                      </a:r>
                    </a:p>
                  </a:txBody>
                  <a:tcPr/>
                </a:tc>
                <a:tc>
                  <a:txBody>
                    <a:bodyPr/>
                    <a:lstStyle/>
                    <a:p>
                      <a:pPr algn="ctr"/>
                      <a:r>
                        <a:rPr lang="en-IN" sz="2400">
                          <a:latin typeface="Times New Roman" panose="02020603050405020304" pitchFamily="18" charset="0"/>
                          <a:cs typeface="Times New Roman" panose="02020603050405020304" pitchFamily="18" charset="0"/>
                        </a:rPr>
                        <a:t>K. Sai </a:t>
                      </a:r>
                      <a:r>
                        <a:rPr lang="en-IN" sz="2400" err="1">
                          <a:latin typeface="Times New Roman" panose="02020603050405020304" pitchFamily="18" charset="0"/>
                          <a:cs typeface="Times New Roman" panose="02020603050405020304" pitchFamily="18" charset="0"/>
                        </a:rPr>
                        <a:t>Venkat</a:t>
                      </a:r>
                      <a:r>
                        <a:rPr lang="en-IN" sz="2400">
                          <a:latin typeface="Times New Roman" panose="02020603050405020304" pitchFamily="18" charset="0"/>
                          <a:cs typeface="Times New Roman" panose="02020603050405020304" pitchFamily="18" charset="0"/>
                        </a:rPr>
                        <a:t> </a:t>
                      </a:r>
                    </a:p>
                  </a:txBody>
                  <a:tcPr/>
                </a:tc>
                <a:extLst>
                  <a:ext uri="{0D108BD9-81ED-4DB2-BD59-A6C34878D82A}">
                    <a16:rowId xmlns:a16="http://schemas.microsoft.com/office/drawing/2014/main" val="630055293"/>
                  </a:ext>
                </a:extLst>
              </a:tr>
              <a:tr h="769303">
                <a:tc>
                  <a:txBody>
                    <a:bodyPr/>
                    <a:lstStyle/>
                    <a:p>
                      <a:pPr algn="ctr"/>
                      <a:r>
                        <a:rPr lang="en-IN" sz="2400">
                          <a:latin typeface="Times New Roman" panose="02020603050405020304" pitchFamily="18" charset="0"/>
                          <a:cs typeface="Times New Roman" panose="02020603050405020304" pitchFamily="18" charset="0"/>
                        </a:rPr>
                        <a:t>23071A67J6</a:t>
                      </a:r>
                    </a:p>
                  </a:txBody>
                  <a:tcPr/>
                </a:tc>
                <a:tc>
                  <a:txBody>
                    <a:bodyPr/>
                    <a:lstStyle/>
                    <a:p>
                      <a:pPr algn="ctr"/>
                      <a:r>
                        <a:rPr lang="en-IN" sz="2400">
                          <a:latin typeface="Times New Roman" panose="02020603050405020304" pitchFamily="18" charset="0"/>
                          <a:cs typeface="Times New Roman" panose="02020603050405020304" pitchFamily="18" charset="0"/>
                        </a:rPr>
                        <a:t>T. Pranavi</a:t>
                      </a:r>
                    </a:p>
                  </a:txBody>
                  <a:tcPr/>
                </a:tc>
                <a:extLst>
                  <a:ext uri="{0D108BD9-81ED-4DB2-BD59-A6C34878D82A}">
                    <a16:rowId xmlns:a16="http://schemas.microsoft.com/office/drawing/2014/main" val="71663248"/>
                  </a:ext>
                </a:extLst>
              </a:tr>
            </a:tbl>
          </a:graphicData>
        </a:graphic>
      </p:graphicFrame>
    </p:spTree>
    <p:extLst>
      <p:ext uri="{BB962C8B-B14F-4D97-AF65-F5344CB8AC3E}">
        <p14:creationId xmlns:p14="http://schemas.microsoft.com/office/powerpoint/2010/main" val="1923443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392400"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685800" y="876300"/>
            <a:ext cx="2795623" cy="738227"/>
          </a:xfrm>
          <a:prstGeom prst="rect">
            <a:avLst/>
          </a:prstGeom>
        </p:spPr>
        <p:txBody>
          <a:bodyPr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Abstract:</a:t>
            </a:r>
          </a:p>
        </p:txBody>
      </p:sp>
      <p:sp>
        <p:nvSpPr>
          <p:cNvPr id="5" name="TextBox 4"/>
          <p:cNvSpPr txBox="1"/>
          <p:nvPr/>
        </p:nvSpPr>
        <p:spPr>
          <a:xfrm>
            <a:off x="914400" y="2019300"/>
            <a:ext cx="16230600" cy="7201972"/>
          </a:xfrm>
          <a:prstGeom prst="rect">
            <a:avLst/>
          </a:prstGeom>
        </p:spPr>
        <p:txBody>
          <a:bodyPr wrap="square" lIns="0" tIns="0" rIns="0" bIns="0" rtlCol="0" anchor="t">
            <a:spAutoFit/>
          </a:bodyPr>
          <a:lstStyle/>
          <a:p>
            <a:pPr algn="just">
              <a:lnSpc>
                <a:spcPct val="150000"/>
              </a:lnSpc>
              <a:spcBef>
                <a:spcPct val="0"/>
              </a:spcBef>
            </a:pPr>
            <a:r>
              <a:rPr lang="en-US" sz="2400">
                <a:solidFill>
                  <a:srgbClr val="000000"/>
                </a:solidFill>
                <a:latin typeface="Times New Roman" panose="02020603050405020304" pitchFamily="18" charset="0"/>
                <a:ea typeface="Open Sauce Bold"/>
                <a:cs typeface="Times New Roman" panose="02020603050405020304" pitchFamily="18" charset="0"/>
                <a:sym typeface="Open Sauce Bold"/>
              </a:rPr>
              <a:t>Airports are complex environments where passengers, particularly elderly travelers, first-time flyers, and those unfamiliar with airport procedures, may face difficulties in navigation, flight management, baggage identification, transportation, and emergencies. This project proposes an AI powered Airport Assistant that provides a unified, context-aware platform for seamless passenger assistance throughout the airport journey. The application offers indoor navigation to terminals, gates, and essential facilities, optimized for airport environments. It also provides real-time flight tracking, including flight status, gate information, and live flight location. A baggage assistance module enables passengers to monitor baggage status after landing and scan baggage barcodes using their smartphone camera to verify ownership and reduce accidental exchanges. The application provides information on airport transit services such as buses and metro systems, with links to their official websites and applications. An </a:t>
            </a:r>
            <a:r>
              <a:rPr lang="en-US" sz="2400" err="1">
                <a:solidFill>
                  <a:srgbClr val="000000"/>
                </a:solidFill>
                <a:latin typeface="Times New Roman" panose="02020603050405020304" pitchFamily="18" charset="0"/>
                <a:ea typeface="Open Sauce Bold"/>
                <a:cs typeface="Times New Roman" panose="02020603050405020304" pitchFamily="18" charset="0"/>
                <a:sym typeface="Open Sauce Bold"/>
              </a:rPr>
              <a:t>agentic</a:t>
            </a:r>
            <a:r>
              <a:rPr lang="en-US" sz="2400">
                <a:solidFill>
                  <a:srgbClr val="000000"/>
                </a:solidFill>
                <a:latin typeface="Times New Roman" panose="02020603050405020304" pitchFamily="18" charset="0"/>
                <a:ea typeface="Open Sauce Bold"/>
                <a:cs typeface="Times New Roman" panose="02020603050405020304" pitchFamily="18" charset="0"/>
                <a:sym typeface="Open Sauce Bold"/>
              </a:rPr>
              <a:t> AI assistant understands the passenger’s journey context and performs relevant actions, such as automatically opening navigation when directions to a specific gate are requested. An emergency assistance feature allows passengers to send their location to designated authorities during medical or safety emergencies. Additionally, a personal mentor feature allows passengers to register a trusted Gmail contact who receives important journey updates, including security completion, baggage check-in, and boarding. </a:t>
            </a:r>
          </a:p>
          <a:p>
            <a:pPr algn="just">
              <a:lnSpc>
                <a:spcPct val="150000"/>
              </a:lnSpc>
              <a:spcBef>
                <a:spcPct val="0"/>
              </a:spcBef>
            </a:pPr>
            <a:r>
              <a:rPr lang="en-US" sz="2400" b="1">
                <a:solidFill>
                  <a:srgbClr val="000000"/>
                </a:solidFill>
                <a:latin typeface="Times New Roman" panose="02020603050405020304" pitchFamily="18" charset="0"/>
                <a:ea typeface="Open Sauce Bold"/>
                <a:cs typeface="Times New Roman" panose="02020603050405020304" pitchFamily="18" charset="0"/>
                <a:sym typeface="Open Sauce Bold"/>
              </a:rPr>
              <a:t>Keywords:</a:t>
            </a:r>
            <a:r>
              <a:rPr lang="en-US" sz="2400">
                <a:solidFill>
                  <a:srgbClr val="000000"/>
                </a:solidFill>
                <a:latin typeface="Times New Roman" panose="02020603050405020304" pitchFamily="18" charset="0"/>
                <a:ea typeface="Open Sauce Bold"/>
                <a:cs typeface="Times New Roman" panose="02020603050405020304" pitchFamily="18" charset="0"/>
                <a:sym typeface="Open Sauce Bold"/>
              </a:rPr>
              <a:t> Airport Assistant, Indoor Navigation, Real time Flight Tracking, Baggage Verification, Emergency Assistance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817817" y="83661"/>
            <a:ext cx="13121930" cy="1464440"/>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sym typeface="Open Sauce Bold"/>
              </a:rPr>
              <a:t>    CHAPTER-1 Introduction:</a:t>
            </a:r>
            <a:br>
              <a:rPr lang="en-US" sz="4250" b="1">
                <a:solidFill>
                  <a:srgbClr val="000000"/>
                </a:solidFill>
                <a:latin typeface="Open Sauce Bold"/>
                <a:ea typeface="Open Sauce Bold"/>
                <a:cs typeface="Open Sauce Bold"/>
              </a:rPr>
            </a:br>
            <a:r>
              <a:rPr lang="en-US" sz="4250" b="1">
                <a:solidFill>
                  <a:srgbClr val="000000"/>
                </a:solidFill>
                <a:latin typeface="Open Sauce Bold"/>
                <a:ea typeface="Open Sauce Bold"/>
                <a:cs typeface="Open Sauce Bold"/>
              </a:rPr>
              <a:t>1.1  Background of the problem</a:t>
            </a:r>
          </a:p>
        </p:txBody>
      </p:sp>
      <p:sp>
        <p:nvSpPr>
          <p:cNvPr id="5" name="TextBox 4"/>
          <p:cNvSpPr txBox="1"/>
          <p:nvPr/>
        </p:nvSpPr>
        <p:spPr>
          <a:xfrm>
            <a:off x="702365" y="1794154"/>
            <a:ext cx="17313965" cy="8494633"/>
          </a:xfrm>
          <a:prstGeom prst="rect">
            <a:avLst/>
          </a:prstGeom>
        </p:spPr>
        <p:txBody>
          <a:bodyPr wrap="square" lIns="0" tIns="0" rIns="0" bIns="0" rtlCol="0" anchor="t">
            <a:spAutoFit/>
          </a:bodyPr>
          <a:lstStyle/>
          <a:p>
            <a:pPr algn="just"/>
            <a:r>
              <a:rPr lang="en-US" sz="2400">
                <a:solidFill>
                  <a:srgbClr val="000000"/>
                </a:solidFill>
                <a:latin typeface="Times New Roman"/>
                <a:ea typeface="+mn-lt"/>
                <a:cs typeface="Times New Roman"/>
              </a:rPr>
              <a:t>Airports are large and dynamic environments where passengers need to complete several activities during their journey, such as finding terminals and gates, checking flight information, locating baggage, using airport transportation, communicating with airport staff, and responding to unexpected situations. Unlike simple travel environments, airports require passengers to continuously understand and respond to changing information within limited time. These challenges can become more difficult for first-time flyers, elderly passengers, passengers with limited mobility, and travelers who are unfamiliar with airport procedures or the local language. As a result, passengers may experience confusion, stress, and difficulty in making the right decisions at different stages of their journey.</a:t>
            </a:r>
            <a:endParaRPr lang="en-US" sz="2400">
              <a:latin typeface="Times New Roman"/>
              <a:ea typeface="+mn-lt"/>
              <a:cs typeface="Times New Roman"/>
            </a:endParaRPr>
          </a:p>
          <a:p>
            <a:pPr algn="just"/>
            <a:endParaRPr lang="en-US" sz="2400">
              <a:latin typeface="Times New Roman"/>
              <a:ea typeface="Calibri"/>
              <a:cs typeface="Times New Roman"/>
            </a:endParaRPr>
          </a:p>
          <a:p>
            <a:pPr algn="just"/>
            <a:r>
              <a:rPr lang="en-US" sz="2400">
                <a:solidFill>
                  <a:srgbClr val="000000"/>
                </a:solidFill>
                <a:latin typeface="Times New Roman"/>
                <a:ea typeface="+mn-lt"/>
                <a:cs typeface="Times New Roman"/>
              </a:rPr>
              <a:t>The existing airport assistance experience is often distributed across multiple systems and information sources. Flight updates may be available through airline applications or airport displays, navigation may require separate maps or signage, transportation information may be provided through different websites or applications, and emergency assistance may require direct communication with airport authorities. Similarly, passengers may need to approach staff members whenever they require personalized assistance. In such situations, they may have to explain their complete context, including their flight number, source, destination, gate, current location, and specific requirement. Repeatedly providing this information can consume time and may become inconvenient, particularly when the passenger needs immediate assistance.</a:t>
            </a:r>
            <a:endParaRPr lang="en-US" sz="2400">
              <a:latin typeface="Times New Roman"/>
              <a:cs typeface="Times New Roman"/>
            </a:endParaRPr>
          </a:p>
          <a:p>
            <a:pPr algn="just"/>
            <a:endParaRPr lang="en-US" sz="2400">
              <a:solidFill>
                <a:srgbClr val="000000"/>
              </a:solidFill>
              <a:latin typeface="Times New Roman"/>
              <a:ea typeface="+mn-lt"/>
              <a:cs typeface="Times New Roman"/>
            </a:endParaRPr>
          </a:p>
          <a:p>
            <a:pPr algn="just"/>
            <a:r>
              <a:rPr lang="en-US" sz="2400">
                <a:solidFill>
                  <a:srgbClr val="000000"/>
                </a:solidFill>
                <a:latin typeface="Times New Roman"/>
                <a:ea typeface="+mn-lt"/>
                <a:cs typeface="Times New Roman"/>
              </a:rPr>
              <a:t>Recent developments in Artificial Intelligence (AI), Large Language Models (LLMs), multimodal systems, and agentic AI provide an opportunity to address these challenges through a unified and context-aware assistance platform. An intelligent system can understand natural-language requests, identify the passenger's current context, and connect the request with the appropriate service instead of requiring the passenger to manually search through different features. Therefore, there is a need for an AI-powered airport assistance system that can bring multiple passenger services together and provide personalized support throughout the airport journey. Such a system can help passengers access navigation, flight information, baggage guidance, transportation, language assistance, emergency support, and other services through a single platform, reducing confusion and making the overall airport experience more convenient.</a:t>
            </a:r>
            <a:endParaRPr lang="en-US" sz="2400">
              <a:latin typeface="Times New Roman"/>
              <a:ea typeface="Calibri"/>
              <a:cs typeface="Times New Roman"/>
            </a:endParaRPr>
          </a:p>
          <a:p>
            <a:pPr algn="just"/>
            <a:endParaRPr lang="en-US" sz="2400">
              <a:solidFill>
                <a:srgbClr val="000000"/>
              </a:solidFill>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5AEDC-E911-67EF-46A7-A6414667C9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481B24-D77F-BD3B-1BBF-88944E40092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85C3B7D-75CD-E472-C11A-A5E6527FBB39}"/>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CC0B6127-62C6-59F1-A2D8-489E4AB0F4E5}"/>
              </a:ext>
            </a:extLst>
          </p:cNvPr>
          <p:cNvSpPr txBox="1"/>
          <p:nvPr/>
        </p:nvSpPr>
        <p:spPr>
          <a:xfrm>
            <a:off x="-2911121" y="762835"/>
            <a:ext cx="13121930"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1.2  Need and Relevance</a:t>
            </a:r>
          </a:p>
        </p:txBody>
      </p:sp>
      <p:sp>
        <p:nvSpPr>
          <p:cNvPr id="5" name="TextBox 4">
            <a:extLst>
              <a:ext uri="{FF2B5EF4-FFF2-40B4-BE49-F238E27FC236}">
                <a16:creationId xmlns:a16="http://schemas.microsoft.com/office/drawing/2014/main" id="{A3BB2070-D649-5ECB-666E-050B16A62314}"/>
              </a:ext>
            </a:extLst>
          </p:cNvPr>
          <p:cNvSpPr txBox="1"/>
          <p:nvPr/>
        </p:nvSpPr>
        <p:spPr>
          <a:xfrm>
            <a:off x="487017" y="1943241"/>
            <a:ext cx="17313965" cy="7755969"/>
          </a:xfrm>
          <a:prstGeom prst="rect">
            <a:avLst/>
          </a:prstGeom>
        </p:spPr>
        <p:txBody>
          <a:bodyPr wrap="square" lIns="0" tIns="0" rIns="0" bIns="0" rtlCol="0" anchor="t">
            <a:spAutoFit/>
          </a:bodyPr>
          <a:lstStyle/>
          <a:p>
            <a:pPr algn="just"/>
            <a:r>
              <a:rPr lang="en-US" sz="2400">
                <a:solidFill>
                  <a:srgbClr val="000000"/>
                </a:solidFill>
                <a:latin typeface="Times New Roman"/>
                <a:ea typeface="+mn-lt"/>
                <a:cs typeface="Times New Roman"/>
              </a:rPr>
              <a:t>The increasing complexity of modern airports creates a need for passenger assistance that is simple, accessible, and available throughout the entire journey. Passengers are required to make several decisions within limited time, often while dealing with unfamiliar surroundings, changing information, language barriers, or unexpected situations. For first-time travelers, elderly passengers, and passengers who require additional assistance, even basic activities such as finding the correct gate, understanding airport information, or locating baggage can become challenging.</a:t>
            </a:r>
            <a:endParaRPr lang="en-US" sz="2400">
              <a:latin typeface="Times New Roman"/>
              <a:cs typeface="Times New Roman"/>
            </a:endParaRPr>
          </a:p>
          <a:p>
            <a:pPr algn="just"/>
            <a:endParaRPr lang="en-US" sz="2400">
              <a:solidFill>
                <a:srgbClr val="000000"/>
              </a:solidFill>
              <a:latin typeface="Times New Roman"/>
              <a:ea typeface="+mn-lt"/>
              <a:cs typeface="Times New Roman"/>
            </a:endParaRPr>
          </a:p>
          <a:p>
            <a:pPr algn="just"/>
            <a:r>
              <a:rPr lang="en-US" sz="2400">
                <a:solidFill>
                  <a:srgbClr val="000000"/>
                </a:solidFill>
                <a:latin typeface="Times New Roman"/>
                <a:ea typeface="+mn-lt"/>
                <a:cs typeface="Times New Roman"/>
              </a:rPr>
              <a:t>The relevance of an intelligent assistance system comes from the need to provide </a:t>
            </a:r>
            <a:r>
              <a:rPr lang="en-US" sz="2400" b="1">
                <a:solidFill>
                  <a:srgbClr val="000000"/>
                </a:solidFill>
                <a:latin typeface="Times New Roman"/>
                <a:ea typeface="+mn-lt"/>
                <a:cs typeface="Times New Roman"/>
              </a:rPr>
              <a:t>timely and personalized support based on the passenger's situation</a:t>
            </a:r>
            <a:r>
              <a:rPr lang="en-US" sz="2400">
                <a:solidFill>
                  <a:srgbClr val="000000"/>
                </a:solidFill>
                <a:latin typeface="Times New Roman"/>
                <a:ea typeface="+mn-lt"/>
                <a:cs typeface="Times New Roman"/>
              </a:rPr>
              <a:t>. Airport information is not always useful when presented without context. For example, knowing a gate number does not help much if a passenger does not know how to reach that gate, and knowing that baggage is available does not help if the passenger cannot identify the correct baggage belt. Similarly, during an emergency or language-related difficulty, passengers need immediate and understandable assistance rather than having to search through multiple sources.</a:t>
            </a:r>
            <a:endParaRPr lang="en-US" sz="2400">
              <a:latin typeface="Times New Roman"/>
              <a:cs typeface="Times New Roman"/>
            </a:endParaRPr>
          </a:p>
          <a:p>
            <a:pPr algn="just"/>
            <a:endParaRPr lang="en-US" sz="2400">
              <a:solidFill>
                <a:srgbClr val="000000"/>
              </a:solidFill>
              <a:latin typeface="Times New Roman"/>
              <a:ea typeface="+mn-lt"/>
              <a:cs typeface="Times New Roman"/>
            </a:endParaRPr>
          </a:p>
          <a:p>
            <a:pPr algn="just"/>
            <a:r>
              <a:rPr lang="en-US" sz="2400">
                <a:solidFill>
                  <a:srgbClr val="000000"/>
                </a:solidFill>
                <a:latin typeface="Times New Roman"/>
                <a:ea typeface="+mn-lt"/>
                <a:cs typeface="Times New Roman"/>
              </a:rPr>
              <a:t>There is also a need to reduce the communication gap between passengers, their families, and airport services. Family members may want to remain informed about a passenger's journey, while passengers may need assistance without repeatedly explaining their complete travel details to different people. A system that can maintain relevant journey context can make this interaction more efficient and reduce unnecessary delays. Therefore, an intelligent, context-aware airport assistance platform is relevant for creating a more </a:t>
            </a:r>
            <a:r>
              <a:rPr lang="en-US" sz="2400" b="1">
                <a:solidFill>
                  <a:srgbClr val="000000"/>
                </a:solidFill>
                <a:latin typeface="Times New Roman"/>
                <a:ea typeface="+mn-lt"/>
                <a:cs typeface="Times New Roman"/>
              </a:rPr>
              <a:t>connected, accessible, and passenger-oriented airport experience</a:t>
            </a:r>
            <a:r>
              <a:rPr lang="en-US" sz="2400">
                <a:solidFill>
                  <a:srgbClr val="000000"/>
                </a:solidFill>
                <a:latin typeface="Times New Roman"/>
                <a:ea typeface="+mn-lt"/>
                <a:cs typeface="Times New Roman"/>
              </a:rPr>
              <a:t>. The use of AI and multimodal interaction further provides an opportunity to make assistance more natural, allowing passengers to communicate their requirements in their own words rather than having to understand the structure of the application first. This makes the concept relevant not only for providing information, but also for helping passengers </a:t>
            </a:r>
            <a:r>
              <a:rPr lang="en-US" sz="2400" b="1">
                <a:solidFill>
                  <a:srgbClr val="000000"/>
                </a:solidFill>
                <a:latin typeface="Times New Roman"/>
                <a:ea typeface="+mn-lt"/>
                <a:cs typeface="Times New Roman"/>
              </a:rPr>
              <a:t>understand, navigate, communicate, and respond to situations throughout their airport journey</a:t>
            </a:r>
            <a:r>
              <a:rPr lang="en-US" sz="2400">
                <a:solidFill>
                  <a:srgbClr val="000000"/>
                </a:solidFill>
                <a:latin typeface="Times New Roman"/>
                <a:ea typeface="+mn-lt"/>
                <a:cs typeface="Times New Roman"/>
              </a:rPr>
              <a:t>.</a:t>
            </a:r>
            <a:endParaRPr lang="en-US" sz="2400">
              <a:latin typeface="Times New Roman"/>
              <a:cs typeface="Times New Roman"/>
            </a:endParaRPr>
          </a:p>
          <a:p>
            <a:pPr algn="just"/>
            <a:endParaRPr lang="en-US" sz="2400">
              <a:solidFill>
                <a:srgbClr val="000000"/>
              </a:solidFill>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267165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A8417-1640-DB42-3988-47D9473FFF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78D6AF-00B8-288F-B3DC-CDBF76F5F6D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72D71198-A26B-75DA-0CCB-B60056C14E4C}"/>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AEFE86BC-A3E2-19A5-A351-C195CF2AE812}"/>
              </a:ext>
            </a:extLst>
          </p:cNvPr>
          <p:cNvSpPr txBox="1"/>
          <p:nvPr/>
        </p:nvSpPr>
        <p:spPr>
          <a:xfrm>
            <a:off x="-3278243" y="778281"/>
            <a:ext cx="13121930"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1.3 Problem Statement</a:t>
            </a:r>
          </a:p>
        </p:txBody>
      </p:sp>
      <p:sp>
        <p:nvSpPr>
          <p:cNvPr id="5" name="TextBox 4">
            <a:extLst>
              <a:ext uri="{FF2B5EF4-FFF2-40B4-BE49-F238E27FC236}">
                <a16:creationId xmlns:a16="http://schemas.microsoft.com/office/drawing/2014/main" id="{F1659A7B-0490-2951-0859-C32B7A5A9E63}"/>
              </a:ext>
            </a:extLst>
          </p:cNvPr>
          <p:cNvSpPr txBox="1"/>
          <p:nvPr/>
        </p:nvSpPr>
        <p:spPr>
          <a:xfrm>
            <a:off x="487017" y="1943241"/>
            <a:ext cx="17313965" cy="6463308"/>
          </a:xfrm>
          <a:prstGeom prst="rect">
            <a:avLst/>
          </a:prstGeom>
        </p:spPr>
        <p:txBody>
          <a:bodyPr wrap="square" lIns="0" tIns="0" rIns="0" bIns="0" rtlCol="0" anchor="t">
            <a:spAutoFit/>
          </a:bodyPr>
          <a:lstStyle/>
          <a:p>
            <a:pPr algn="just"/>
            <a:r>
              <a:rPr lang="en-GB" sz="2800" b="1">
                <a:latin typeface="Times New Roman"/>
                <a:cs typeface="Times New Roman"/>
              </a:rPr>
              <a:t>Fragmented Passenger Information and Service Access:</a:t>
            </a:r>
            <a:r>
              <a:rPr lang="en-GB" sz="2800">
                <a:latin typeface="Times New Roman"/>
                <a:cs typeface="Times New Roman"/>
              </a:rPr>
              <a:t> </a:t>
            </a:r>
            <a:endParaRPr lang="en-US" sz="2800">
              <a:ea typeface="Calibri"/>
              <a:cs typeface="Calibri"/>
            </a:endParaRPr>
          </a:p>
          <a:p>
            <a:pPr algn="just"/>
            <a:r>
              <a:rPr lang="en-GB" sz="2800">
                <a:latin typeface="Times New Roman"/>
                <a:cs typeface="Times New Roman"/>
              </a:rPr>
              <a:t>Passengers often need to access boarding information, baggage details, and essential airport services through different sources, making it difficult to obtain the required information quickly and conveniently.</a:t>
            </a:r>
            <a:endParaRPr lang="en-GB" sz="2800">
              <a:ea typeface="Calibri"/>
              <a:cs typeface="Calibri"/>
            </a:endParaRPr>
          </a:p>
          <a:p>
            <a:pPr algn="just"/>
            <a:endParaRPr lang="en-GB" sz="2800">
              <a:latin typeface="Times New Roman"/>
              <a:cs typeface="Times New Roman"/>
            </a:endParaRPr>
          </a:p>
          <a:p>
            <a:pPr algn="just"/>
            <a:r>
              <a:rPr lang="en-GB" sz="2800" b="1">
                <a:latin typeface="Times New Roman"/>
                <a:cs typeface="Times New Roman"/>
              </a:rPr>
              <a:t>Communication and Language Barriers: </a:t>
            </a:r>
          </a:p>
          <a:p>
            <a:pPr algn="just"/>
            <a:r>
              <a:rPr lang="en-GB" sz="2800">
                <a:latin typeface="Times New Roman"/>
                <a:cs typeface="Times New Roman"/>
              </a:rPr>
              <a:t>Passengers may face difficulties communicating with airport personnel or understanding travel-related information due to language barriers and the absence of personalized, conversational assistance. </a:t>
            </a:r>
            <a:endParaRPr lang="en-US" sz="2800">
              <a:latin typeface="Times New Roman"/>
              <a:cs typeface="Times New Roman"/>
            </a:endParaRPr>
          </a:p>
          <a:p>
            <a:pPr algn="just"/>
            <a:endParaRPr lang="en-GB" sz="2800">
              <a:latin typeface="Times New Roman"/>
              <a:cs typeface="Times New Roman"/>
            </a:endParaRPr>
          </a:p>
          <a:p>
            <a:pPr algn="just"/>
            <a:r>
              <a:rPr lang="en-GB" sz="2800" b="1">
                <a:latin typeface="Times New Roman"/>
                <a:cs typeface="Times New Roman"/>
              </a:rPr>
              <a:t>Complex Airport Mobility and Changing Travel Information: </a:t>
            </a:r>
          </a:p>
          <a:p>
            <a:pPr algn="just"/>
            <a:r>
              <a:rPr lang="en-GB" sz="2800">
                <a:latin typeface="Times New Roman"/>
                <a:cs typeface="Times New Roman"/>
              </a:rPr>
              <a:t>Passengers may struggle with indoor airport navigation, transportation planning, and continuously changing flight or boarding information, particularly in unfamiliar airport environments. </a:t>
            </a:r>
            <a:endParaRPr lang="en-US" sz="2800">
              <a:latin typeface="Times New Roman"/>
              <a:cs typeface="Times New Roman"/>
            </a:endParaRPr>
          </a:p>
          <a:p>
            <a:pPr algn="just"/>
            <a:endParaRPr lang="en-GB" sz="2800">
              <a:latin typeface="Times New Roman"/>
              <a:cs typeface="Times New Roman"/>
            </a:endParaRPr>
          </a:p>
          <a:p>
            <a:pPr algn="just"/>
            <a:r>
              <a:rPr lang="en-GB" sz="2800" b="1">
                <a:latin typeface="Times New Roman"/>
                <a:cs typeface="Times New Roman"/>
              </a:rPr>
              <a:t>Limited Integrated Safety and Assistance Mechanisms: </a:t>
            </a:r>
            <a:endParaRPr lang="en-GB" sz="2800" b="1">
              <a:latin typeface="Times New Roman"/>
              <a:ea typeface="Calibri"/>
              <a:cs typeface="Times New Roman"/>
            </a:endParaRPr>
          </a:p>
          <a:p>
            <a:pPr algn="just"/>
            <a:r>
              <a:rPr lang="en-GB" sz="2800">
                <a:latin typeface="Times New Roman"/>
                <a:cs typeface="Times New Roman"/>
              </a:rPr>
              <a:t>Passengers may not have a unified mechanism to receive timely assistance during emergencies or to keep trusted contacts informed about important stages of their journey, affecting the responsiveness and accessibility of airport support.</a:t>
            </a:r>
            <a:endParaRPr lang="en-US" sz="2800">
              <a:latin typeface="Times New Roman"/>
              <a:ea typeface="Calibri"/>
              <a:cs typeface="Times New Roman"/>
            </a:endParaRPr>
          </a:p>
        </p:txBody>
      </p:sp>
    </p:spTree>
    <p:extLst>
      <p:ext uri="{BB962C8B-B14F-4D97-AF65-F5344CB8AC3E}">
        <p14:creationId xmlns:p14="http://schemas.microsoft.com/office/powerpoint/2010/main" val="320304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7940" y="547486"/>
            <a:ext cx="4424050" cy="703591"/>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sym typeface="Open Sauce Bold"/>
              </a:rPr>
              <a:t>1.4  Objectives:</a:t>
            </a:r>
          </a:p>
        </p:txBody>
      </p:sp>
      <p:sp>
        <p:nvSpPr>
          <p:cNvPr id="6" name="Freeform 2"/>
          <p:cNvSpPr/>
          <p:nvPr/>
        </p:nvSpPr>
        <p:spPr>
          <a:xfrm>
            <a:off x="309059" y="1913497"/>
            <a:ext cx="17985566" cy="7291795"/>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lIns="91440" tIns="45720" rIns="91440" bIns="45720" anchor="ctr"/>
          <a:lstStyle/>
          <a:p>
            <a:r>
              <a:rPr lang="en-GB" sz="2800">
                <a:latin typeface="Times New Roman"/>
                <a:cs typeface="Times New Roman"/>
              </a:rPr>
              <a:t>* To develop an </a:t>
            </a:r>
            <a:r>
              <a:rPr lang="en-GB" sz="2800" b="1">
                <a:latin typeface="Times New Roman"/>
                <a:cs typeface="Times New Roman"/>
              </a:rPr>
              <a:t>intelligent passenger information and assistance framework</a:t>
            </a:r>
            <a:r>
              <a:rPr lang="en-GB" sz="2800">
                <a:latin typeface="Times New Roman"/>
                <a:cs typeface="Times New Roman"/>
              </a:rPr>
              <a:t> that automates boarding-pass information extraction, baggage guidance, and access to essential airport services.</a:t>
            </a:r>
            <a:br>
              <a:rPr lang="en-GB" sz="2800">
                <a:latin typeface="Times New Roman"/>
                <a:cs typeface="Times New Roman"/>
              </a:rPr>
            </a:br>
            <a:endParaRPr lang="en-GB" sz="2800">
              <a:latin typeface="Times New Roman"/>
              <a:cs typeface="Times New Roman"/>
            </a:endParaRPr>
          </a:p>
          <a:p>
            <a:r>
              <a:rPr lang="en-GB" sz="2800">
                <a:latin typeface="Times New Roman"/>
                <a:cs typeface="Times New Roman"/>
              </a:rPr>
              <a:t>* To develop an </a:t>
            </a:r>
            <a:r>
              <a:rPr lang="en-GB" sz="2800" b="1">
                <a:latin typeface="Times New Roman"/>
                <a:cs typeface="Times New Roman"/>
              </a:rPr>
              <a:t>AI-driven multilingual and conversational assistance mechanism</a:t>
            </a:r>
            <a:r>
              <a:rPr lang="en-GB" sz="2800">
                <a:latin typeface="Times New Roman"/>
                <a:cs typeface="Times New Roman"/>
              </a:rPr>
              <a:t> that enables effective passenger–airport personnel communication and provides intelligent responses to travel-related queries.</a:t>
            </a:r>
            <a:br>
              <a:rPr lang="en-GB" sz="2800">
                <a:latin typeface="Times New Roman"/>
                <a:cs typeface="Times New Roman"/>
              </a:rPr>
            </a:br>
            <a:endParaRPr lang="en-GB" sz="2800">
              <a:latin typeface="Times New Roman"/>
              <a:cs typeface="Times New Roman"/>
            </a:endParaRPr>
          </a:p>
          <a:p>
            <a:r>
              <a:rPr lang="en-GB" sz="2800">
                <a:latin typeface="Times New Roman"/>
                <a:cs typeface="Times New Roman"/>
              </a:rPr>
              <a:t>* To design an </a:t>
            </a:r>
            <a:r>
              <a:rPr lang="en-GB" sz="2800" b="1">
                <a:latin typeface="Times New Roman"/>
                <a:cs typeface="Times New Roman"/>
              </a:rPr>
              <a:t>intelligent mobility and navigation framework</a:t>
            </a:r>
            <a:r>
              <a:rPr lang="en-GB" sz="2800">
                <a:latin typeface="Times New Roman"/>
                <a:cs typeface="Times New Roman"/>
              </a:rPr>
              <a:t> that supports indoor airport navigation, transit planning, flight-time monitoring, boarding alerts, and real-time airport transportation tracking.</a:t>
            </a:r>
            <a:br>
              <a:rPr lang="en-GB" sz="2800">
                <a:latin typeface="Times New Roman"/>
                <a:cs typeface="Times New Roman"/>
              </a:rPr>
            </a:br>
            <a:endParaRPr lang="en-US" sz="2800">
              <a:latin typeface="Times New Roman"/>
              <a:cs typeface="Times New Roman"/>
            </a:endParaRPr>
          </a:p>
          <a:p>
            <a:r>
              <a:rPr lang="en-GB" sz="2800">
                <a:latin typeface="Times New Roman"/>
                <a:cs typeface="Times New Roman"/>
              </a:rPr>
              <a:t>* To </a:t>
            </a:r>
            <a:r>
              <a:rPr lang="en-GB" sz="2800" b="1">
                <a:latin typeface="Times New Roman"/>
                <a:cs typeface="Times New Roman"/>
              </a:rPr>
              <a:t>enhance passenger safety and operational efficiency</a:t>
            </a:r>
            <a:r>
              <a:rPr lang="en-GB" sz="2800">
                <a:latin typeface="Times New Roman"/>
                <a:cs typeface="Times New Roman"/>
              </a:rPr>
              <a:t> through integrated emergency notification and assistance mechanisms, contributing to a more accessible, responsive, and passenger-centric airport environment.</a:t>
            </a:r>
            <a:endParaRPr lang="en-US" sz="28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F4DB7-6983-0343-6408-C4D536F6420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DA3BA3-F7CB-319F-0C82-71F2CEEB906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DF334EA9-40B2-12B2-26D6-523909D832DE}"/>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A89280C2-CAE7-987A-9127-08DFA451C8EE}"/>
              </a:ext>
            </a:extLst>
          </p:cNvPr>
          <p:cNvSpPr txBox="1"/>
          <p:nvPr/>
        </p:nvSpPr>
        <p:spPr>
          <a:xfrm>
            <a:off x="-3592982" y="215064"/>
            <a:ext cx="13121930"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1.5 Scope of Work</a:t>
            </a:r>
          </a:p>
        </p:txBody>
      </p:sp>
      <p:sp>
        <p:nvSpPr>
          <p:cNvPr id="5" name="TextBox 4">
            <a:extLst>
              <a:ext uri="{FF2B5EF4-FFF2-40B4-BE49-F238E27FC236}">
                <a16:creationId xmlns:a16="http://schemas.microsoft.com/office/drawing/2014/main" id="{76B8CFED-0610-8079-4044-3359B6520909}"/>
              </a:ext>
            </a:extLst>
          </p:cNvPr>
          <p:cNvSpPr txBox="1"/>
          <p:nvPr/>
        </p:nvSpPr>
        <p:spPr>
          <a:xfrm>
            <a:off x="487017" y="1363459"/>
            <a:ext cx="17313965" cy="8002191"/>
          </a:xfrm>
          <a:prstGeom prst="rect">
            <a:avLst/>
          </a:prstGeom>
        </p:spPr>
        <p:txBody>
          <a:bodyPr wrap="square" lIns="0" tIns="0" rIns="0" bIns="0" rtlCol="0" anchor="t">
            <a:spAutoFit/>
          </a:bodyPr>
          <a:lstStyle/>
          <a:p>
            <a:r>
              <a:rPr lang="en-GB" sz="2600">
                <a:latin typeface="Times New Roman"/>
                <a:ea typeface="+mn-lt"/>
                <a:cs typeface="Times New Roman"/>
              </a:rPr>
              <a:t>• </a:t>
            </a:r>
            <a:r>
              <a:rPr lang="en-GB" sz="2600" b="1">
                <a:latin typeface="Times New Roman"/>
                <a:ea typeface="+mn-lt"/>
                <a:cs typeface="Times New Roman"/>
              </a:rPr>
              <a:t>Integrated Passenger Assistance:</a:t>
            </a:r>
            <a:endParaRPr lang="en-GB" sz="2600" b="1">
              <a:latin typeface="Times New Roman"/>
              <a:ea typeface="Calibri"/>
              <a:cs typeface="Times New Roman"/>
            </a:endParaRPr>
          </a:p>
          <a:p>
            <a:r>
              <a:rPr lang="en-GB" sz="2600">
                <a:latin typeface="Times New Roman"/>
                <a:ea typeface="+mn-lt"/>
                <a:cs typeface="Times New Roman"/>
              </a:rPr>
              <a:t>  Develop a unified platform that provides passengers with essential assistance throughout different stages of their airport journey.</a:t>
            </a:r>
            <a:endParaRPr lang="en-GB" sz="2600">
              <a:latin typeface="Times New Roman"/>
              <a:ea typeface="Calibri"/>
              <a:cs typeface="Times New Roman"/>
            </a:endParaRPr>
          </a:p>
          <a:p>
            <a:pPr>
              <a:buFont typeface="Arial"/>
              <a:buChar char="•"/>
            </a:pPr>
            <a:endParaRPr lang="en-GB" sz="2600">
              <a:latin typeface="Times New Roman"/>
              <a:cs typeface="Times New Roman"/>
            </a:endParaRPr>
          </a:p>
          <a:p>
            <a:r>
              <a:rPr lang="en-GB" sz="2600">
                <a:latin typeface="Times New Roman"/>
                <a:ea typeface="+mn-lt"/>
                <a:cs typeface="Times New Roman"/>
              </a:rPr>
              <a:t>• </a:t>
            </a:r>
            <a:r>
              <a:rPr lang="en-GB" sz="2600" b="1">
                <a:latin typeface="Times New Roman"/>
                <a:ea typeface="+mn-lt"/>
                <a:cs typeface="Times New Roman"/>
              </a:rPr>
              <a:t>Intelligent Information &amp; Service Access:</a:t>
            </a:r>
            <a:endParaRPr lang="en-GB" sz="2600" b="1">
              <a:latin typeface="Times New Roman"/>
              <a:ea typeface="Calibri"/>
              <a:cs typeface="Times New Roman"/>
            </a:endParaRPr>
          </a:p>
          <a:p>
            <a:r>
              <a:rPr lang="en-GB" sz="2600">
                <a:latin typeface="Times New Roman"/>
                <a:ea typeface="+mn-lt"/>
                <a:cs typeface="Times New Roman"/>
              </a:rPr>
              <a:t>  Provide access to flight information, baggage guidance, airport services, and public transit information through a single platform.</a:t>
            </a:r>
            <a:endParaRPr lang="en-GB" sz="2600">
              <a:latin typeface="Times New Roman"/>
              <a:ea typeface="Calibri"/>
              <a:cs typeface="Times New Roman"/>
            </a:endParaRPr>
          </a:p>
          <a:p>
            <a:pPr>
              <a:buFont typeface="Arial"/>
              <a:buChar char="•"/>
            </a:pPr>
            <a:endParaRPr lang="en-GB" sz="2600">
              <a:latin typeface="Times New Roman"/>
              <a:cs typeface="Times New Roman"/>
            </a:endParaRPr>
          </a:p>
          <a:p>
            <a:r>
              <a:rPr lang="en-GB" sz="2600">
                <a:latin typeface="Times New Roman"/>
                <a:ea typeface="+mn-lt"/>
                <a:cs typeface="Times New Roman"/>
              </a:rPr>
              <a:t>• </a:t>
            </a:r>
            <a:r>
              <a:rPr lang="en-GB" sz="2600" b="1">
                <a:latin typeface="Times New Roman"/>
                <a:ea typeface="+mn-lt"/>
                <a:cs typeface="Times New Roman"/>
              </a:rPr>
              <a:t>Multilingual &amp; Conversational Assistance:</a:t>
            </a:r>
            <a:endParaRPr lang="en-GB" sz="2600" b="1">
              <a:latin typeface="Times New Roman"/>
              <a:ea typeface="Calibri"/>
              <a:cs typeface="Times New Roman"/>
            </a:endParaRPr>
          </a:p>
          <a:p>
            <a:r>
              <a:rPr lang="en-GB" sz="2600">
                <a:latin typeface="Times New Roman"/>
                <a:ea typeface="+mn-lt"/>
                <a:cs typeface="Times New Roman"/>
              </a:rPr>
              <a:t>  Support passengers through voice and visual language translation and enable natural-language interaction with an AI-based assistant.</a:t>
            </a:r>
            <a:endParaRPr lang="en-GB" sz="2600">
              <a:latin typeface="Times New Roman"/>
              <a:ea typeface="Calibri"/>
              <a:cs typeface="Times New Roman"/>
            </a:endParaRPr>
          </a:p>
          <a:p>
            <a:endParaRPr lang="en-GB" sz="2600">
              <a:latin typeface="Times New Roman"/>
              <a:cs typeface="Times New Roman"/>
            </a:endParaRPr>
          </a:p>
          <a:p>
            <a:r>
              <a:rPr lang="en-GB" sz="2600">
                <a:latin typeface="Times New Roman"/>
                <a:ea typeface="+mn-lt"/>
                <a:cs typeface="Times New Roman"/>
              </a:rPr>
              <a:t>• </a:t>
            </a:r>
            <a:r>
              <a:rPr lang="en-GB" sz="2600" b="1">
                <a:latin typeface="Times New Roman"/>
                <a:ea typeface="+mn-lt"/>
                <a:cs typeface="Times New Roman"/>
              </a:rPr>
              <a:t>Navigation &amp; Mobility Support:</a:t>
            </a:r>
            <a:endParaRPr lang="en-GB" sz="2600" b="1">
              <a:latin typeface="Times New Roman"/>
              <a:ea typeface="Calibri"/>
              <a:cs typeface="Times New Roman"/>
            </a:endParaRPr>
          </a:p>
          <a:p>
            <a:r>
              <a:rPr lang="en-GB" sz="2600">
                <a:latin typeface="Times New Roman"/>
                <a:ea typeface="+mn-lt"/>
                <a:cs typeface="Times New Roman"/>
              </a:rPr>
              <a:t>  Provide indoor airport navigation, route guidance, flight updates, and assistance in identifying and tracking available airport transportation.</a:t>
            </a:r>
            <a:endParaRPr lang="en-GB" sz="2600">
              <a:latin typeface="Times New Roman"/>
              <a:ea typeface="Calibri"/>
              <a:cs typeface="Times New Roman"/>
            </a:endParaRPr>
          </a:p>
          <a:p>
            <a:pPr>
              <a:buFont typeface="Arial"/>
              <a:buChar char="•"/>
            </a:pPr>
            <a:endParaRPr lang="en-GB" sz="2600">
              <a:latin typeface="Times New Roman"/>
              <a:cs typeface="Times New Roman"/>
            </a:endParaRPr>
          </a:p>
          <a:p>
            <a:r>
              <a:rPr lang="en-GB" sz="2600">
                <a:latin typeface="Times New Roman"/>
                <a:ea typeface="+mn-lt"/>
                <a:cs typeface="Times New Roman"/>
              </a:rPr>
              <a:t>• </a:t>
            </a:r>
            <a:r>
              <a:rPr lang="en-GB" sz="2600" b="1">
                <a:latin typeface="Times New Roman"/>
                <a:ea typeface="+mn-lt"/>
                <a:cs typeface="Times New Roman"/>
              </a:rPr>
              <a:t>Safety &amp; Personalized Assistance:</a:t>
            </a:r>
            <a:endParaRPr lang="en-GB" sz="2600" b="1">
              <a:latin typeface="Times New Roman"/>
              <a:ea typeface="Calibri"/>
              <a:cs typeface="Times New Roman"/>
            </a:endParaRPr>
          </a:p>
          <a:p>
            <a:r>
              <a:rPr lang="en-GB" sz="2600">
                <a:latin typeface="Times New Roman"/>
                <a:ea typeface="+mn-lt"/>
                <a:cs typeface="Times New Roman"/>
              </a:rPr>
              <a:t>  Provide emergency assistance, SOS-based location sharing, and automated journey updates to registered parents or guardians.</a:t>
            </a:r>
            <a:endParaRPr lang="en-GB" sz="2600">
              <a:latin typeface="Times New Roman"/>
              <a:ea typeface="Calibri"/>
              <a:cs typeface="Times New Roman"/>
            </a:endParaRPr>
          </a:p>
          <a:p>
            <a:pPr>
              <a:buFont typeface="Arial"/>
              <a:buChar char="•"/>
            </a:pPr>
            <a:endParaRPr lang="en-GB" sz="2600">
              <a:latin typeface="Times New Roman"/>
              <a:cs typeface="Times New Roman"/>
            </a:endParaRPr>
          </a:p>
          <a:p>
            <a:r>
              <a:rPr lang="en-GB" sz="2600">
                <a:latin typeface="Times New Roman"/>
                <a:ea typeface="+mn-lt"/>
                <a:cs typeface="Times New Roman"/>
              </a:rPr>
              <a:t>• </a:t>
            </a:r>
            <a:r>
              <a:rPr lang="en-GB" sz="2600" b="1">
                <a:latin typeface="Times New Roman"/>
                <a:ea typeface="+mn-lt"/>
                <a:cs typeface="Times New Roman"/>
              </a:rPr>
              <a:t>Context-Aware Agentic AI:</a:t>
            </a:r>
            <a:endParaRPr lang="en-GB" sz="2600" b="1">
              <a:latin typeface="Times New Roman"/>
              <a:ea typeface="Calibri"/>
              <a:cs typeface="Times New Roman"/>
            </a:endParaRPr>
          </a:p>
          <a:p>
            <a:r>
              <a:rPr lang="en-GB" sz="2600">
                <a:latin typeface="Times New Roman"/>
                <a:ea typeface="+mn-lt"/>
                <a:cs typeface="Times New Roman"/>
              </a:rPr>
              <a:t>  Enable the AI assistant to understand the passenger's request and available journey context, and initiate the relevant service or action automatically.</a:t>
            </a:r>
            <a:endParaRPr lang="en-GB" sz="2600">
              <a:latin typeface="Times New Roman"/>
              <a:ea typeface="Calibri"/>
              <a:cs typeface="Times New Roman"/>
            </a:endParaRPr>
          </a:p>
        </p:txBody>
      </p:sp>
    </p:spTree>
    <p:extLst>
      <p:ext uri="{BB962C8B-B14F-4D97-AF65-F5344CB8AC3E}">
        <p14:creationId xmlns:p14="http://schemas.microsoft.com/office/powerpoint/2010/main" val="1953037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6D9A5-B211-4AE7-0C19-EC8A5F4A00E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7BCED21-DFCF-F87B-64B1-BA87E930E1B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59217B7-88E6-75B9-1B5D-33EF85C00499}"/>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758334A0-7157-D0C7-9D28-A8C9F7082156}"/>
              </a:ext>
            </a:extLst>
          </p:cNvPr>
          <p:cNvSpPr txBox="1"/>
          <p:nvPr/>
        </p:nvSpPr>
        <p:spPr>
          <a:xfrm>
            <a:off x="-1986156" y="215064"/>
            <a:ext cx="13121930"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1.6  Organization of the Report</a:t>
            </a:r>
          </a:p>
        </p:txBody>
      </p:sp>
      <p:sp>
        <p:nvSpPr>
          <p:cNvPr id="6" name="TextBox 5">
            <a:extLst>
              <a:ext uri="{FF2B5EF4-FFF2-40B4-BE49-F238E27FC236}">
                <a16:creationId xmlns:a16="http://schemas.microsoft.com/office/drawing/2014/main" id="{4F9A2374-CF2C-D7E3-BE6A-7003BAEDEDCE}"/>
              </a:ext>
            </a:extLst>
          </p:cNvPr>
          <p:cNvSpPr txBox="1"/>
          <p:nvPr/>
        </p:nvSpPr>
        <p:spPr>
          <a:xfrm>
            <a:off x="538172" y="1751439"/>
            <a:ext cx="1656146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latin typeface="Times New Roman"/>
                <a:ea typeface="Calibri"/>
                <a:cs typeface="Times New Roman"/>
              </a:rPr>
              <a:t>Chapter</a:t>
            </a:r>
            <a:r>
              <a:rPr lang="en-GB" sz="2800" b="1">
                <a:latin typeface="Times New Roman"/>
                <a:ea typeface="+mn-lt"/>
                <a:cs typeface="Times New Roman"/>
              </a:rPr>
              <a:t> 1 – Introduction</a:t>
            </a:r>
            <a:br>
              <a:rPr lang="en-GB" sz="2800" b="1">
                <a:latin typeface="Times New Roman"/>
                <a:ea typeface="+mn-lt"/>
                <a:cs typeface="Times New Roman"/>
              </a:rPr>
            </a:br>
            <a:r>
              <a:rPr lang="en-GB" sz="2800">
                <a:latin typeface="Times New Roman"/>
                <a:ea typeface="+mn-lt"/>
                <a:cs typeface="Times New Roman"/>
              </a:rPr>
              <a:t>Presents the background of the problem, need and relevance, problem statement, objectives, and scope of the project.</a:t>
            </a:r>
            <a:endParaRPr lang="en-GB" sz="2800">
              <a:latin typeface="Times New Roman"/>
              <a:ea typeface="Calibri"/>
              <a:cs typeface="Times New Roman"/>
            </a:endParaRPr>
          </a:p>
          <a:p>
            <a:endParaRPr lang="en-GB" sz="2800">
              <a:latin typeface="Times New Roman"/>
              <a:ea typeface="+mn-lt"/>
              <a:cs typeface="Times New Roman"/>
            </a:endParaRPr>
          </a:p>
          <a:p>
            <a:r>
              <a:rPr lang="en-GB" sz="2800" b="1">
                <a:latin typeface="Times New Roman"/>
                <a:ea typeface="+mn-lt"/>
                <a:cs typeface="Times New Roman"/>
              </a:rPr>
              <a:t>Chapter 2 – Literature Review</a:t>
            </a:r>
            <a:br>
              <a:rPr lang="en-GB" sz="2800" b="1">
                <a:latin typeface="Times New Roman"/>
                <a:ea typeface="+mn-lt"/>
                <a:cs typeface="Times New Roman"/>
              </a:rPr>
            </a:br>
            <a:r>
              <a:rPr lang="en-GB" sz="2800">
                <a:latin typeface="Times New Roman"/>
                <a:ea typeface="+mn-lt"/>
                <a:cs typeface="Times New Roman"/>
              </a:rPr>
              <a:t>Discusses existing research and approaches related to AI-based airport assistance, identifies their limitations, and presents the research gaps addressed by SIPAS.</a:t>
            </a:r>
            <a:endParaRPr lang="en-GB" sz="2800">
              <a:latin typeface="Times New Roman"/>
              <a:ea typeface="Calibri"/>
              <a:cs typeface="Times New Roman"/>
            </a:endParaRPr>
          </a:p>
          <a:p>
            <a:endParaRPr lang="en-GB" sz="2800">
              <a:latin typeface="Times New Roman"/>
              <a:ea typeface="+mn-lt"/>
              <a:cs typeface="Times New Roman"/>
            </a:endParaRPr>
          </a:p>
          <a:p>
            <a:r>
              <a:rPr lang="en-GB" sz="2800" b="1">
                <a:latin typeface="Times New Roman"/>
                <a:ea typeface="+mn-lt"/>
                <a:cs typeface="Times New Roman"/>
              </a:rPr>
              <a:t>Chapter 3 – Approach / Design Methodology</a:t>
            </a:r>
            <a:br>
              <a:rPr lang="en-GB" sz="2800" b="1">
                <a:latin typeface="Times New Roman"/>
                <a:ea typeface="+mn-lt"/>
                <a:cs typeface="Times New Roman"/>
              </a:rPr>
            </a:br>
            <a:r>
              <a:rPr lang="en-GB" sz="2800">
                <a:latin typeface="Times New Roman"/>
                <a:ea typeface="+mn-lt"/>
                <a:cs typeface="Times New Roman"/>
              </a:rPr>
              <a:t>Describes the proposed methodology, technical approach, system design, key components, tools, and technologies used to develop SIPAS.</a:t>
            </a:r>
            <a:endParaRPr lang="en-GB" sz="2800">
              <a:latin typeface="Times New Roman"/>
              <a:cs typeface="Times New Roman"/>
            </a:endParaRPr>
          </a:p>
          <a:p>
            <a:pPr algn="l"/>
            <a:endParaRPr lang="en-GB" sz="2800">
              <a:latin typeface="Times New Roman"/>
              <a:ea typeface="Calibri"/>
              <a:cs typeface="Times New Roman"/>
            </a:endParaRPr>
          </a:p>
        </p:txBody>
      </p:sp>
    </p:spTree>
    <p:extLst>
      <p:ext uri="{BB962C8B-B14F-4D97-AF65-F5344CB8AC3E}">
        <p14:creationId xmlns:p14="http://schemas.microsoft.com/office/powerpoint/2010/main" val="62420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D1CEE-ED5A-60E8-3B68-FFEE88F7C8B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E9B5AF-DF82-6F0B-6FC4-842E1EAACC4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7590F00C-93F7-4DDB-8C02-AA9854E7C4B4}"/>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2FBD122F-0226-C423-D4B3-8307569E7B4E}"/>
              </a:ext>
            </a:extLst>
          </p:cNvPr>
          <p:cNvSpPr txBox="1"/>
          <p:nvPr/>
        </p:nvSpPr>
        <p:spPr>
          <a:xfrm>
            <a:off x="-1638286" y="231629"/>
            <a:ext cx="13121930" cy="1471878"/>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Chapter 2 – LITERATURE REVIEW</a:t>
            </a:r>
            <a:br>
              <a:rPr lang="en-US" sz="4250" b="1">
                <a:solidFill>
                  <a:srgbClr val="000000"/>
                </a:solidFill>
                <a:latin typeface="Open Sauce Bold"/>
                <a:ea typeface="Open Sauce Bold"/>
                <a:cs typeface="Open Sauce Bold"/>
              </a:rPr>
            </a:br>
            <a:r>
              <a:rPr lang="en-US" sz="4250" b="1">
                <a:solidFill>
                  <a:srgbClr val="000000"/>
                </a:solidFill>
                <a:latin typeface="Open Sauce Bold"/>
                <a:ea typeface="Open Sauce Bold"/>
                <a:cs typeface="Open Sauce Bold"/>
              </a:rPr>
              <a:t>2.1  Overview of Existing Work</a:t>
            </a:r>
          </a:p>
        </p:txBody>
      </p:sp>
      <p:sp>
        <p:nvSpPr>
          <p:cNvPr id="6" name="TextBox 5">
            <a:extLst>
              <a:ext uri="{FF2B5EF4-FFF2-40B4-BE49-F238E27FC236}">
                <a16:creationId xmlns:a16="http://schemas.microsoft.com/office/drawing/2014/main" id="{6DF16B10-8CB0-32EA-7630-88E4649A4F61}"/>
              </a:ext>
            </a:extLst>
          </p:cNvPr>
          <p:cNvSpPr txBox="1"/>
          <p:nvPr/>
        </p:nvSpPr>
        <p:spPr>
          <a:xfrm>
            <a:off x="869476" y="1983352"/>
            <a:ext cx="16561465"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latin typeface="Times New Roman"/>
                <a:ea typeface="+mn-lt"/>
                <a:cs typeface="Times New Roman"/>
              </a:rPr>
              <a:t>Existing airport assistance systems mainly focus on providing passengers with information and support for specific aspects of their journey. Airport and airline applications commonly provide flight status, boarding information, gate updates, baggage information, and transportation details. Navigation solutions and digital airport maps have also been developed to help passengers locate terminals, gates, facilities, and other important locations. In addition, chatbot-based systems and AI assistants have been explored to answer passenger queries and provide information through conversational interfaces.</a:t>
            </a:r>
          </a:p>
          <a:p>
            <a:endParaRPr lang="en-GB" sz="2800">
              <a:latin typeface="Times New Roman"/>
              <a:ea typeface="+mn-lt"/>
              <a:cs typeface="Times New Roman"/>
            </a:endParaRPr>
          </a:p>
          <a:p>
            <a:r>
              <a:rPr lang="en-GB" sz="2800">
                <a:latin typeface="Times New Roman"/>
                <a:ea typeface="+mn-lt"/>
                <a:cs typeface="Times New Roman"/>
              </a:rPr>
              <a:t>Recent research has further introduced </a:t>
            </a:r>
            <a:r>
              <a:rPr lang="en-GB" sz="2800" b="1">
                <a:latin typeface="Times New Roman"/>
                <a:ea typeface="+mn-lt"/>
                <a:cs typeface="Times New Roman"/>
              </a:rPr>
              <a:t>Artificial Intelligence, Large Language Models (LLMs) </a:t>
            </a:r>
            <a:r>
              <a:rPr lang="en-GB" sz="2800">
                <a:latin typeface="Times New Roman"/>
                <a:ea typeface="+mn-lt"/>
                <a:cs typeface="Times New Roman"/>
              </a:rPr>
              <a:t>and</a:t>
            </a:r>
            <a:r>
              <a:rPr lang="en-GB" sz="2800" b="1">
                <a:latin typeface="Times New Roman"/>
                <a:ea typeface="+mn-lt"/>
                <a:cs typeface="Times New Roman"/>
              </a:rPr>
              <a:t> multimodal systems </a:t>
            </a:r>
            <a:r>
              <a:rPr lang="en-GB" sz="2800">
                <a:latin typeface="Times New Roman"/>
                <a:ea typeface="+mn-lt"/>
                <a:cs typeface="Times New Roman"/>
              </a:rPr>
              <a:t>into airport-related applications. These approaches enable systems to understand natural-language queries and interact with structured airport information or backend services. Some existing works also explore baggage-data analysis, multilingual assistance, and intelligent passenger support. However, these solutions are generally focused on individual services or specific use cases rather than providing a unified assistance experience covering navigation, flight updates, baggage, transit, communication, safety, and personalized journey support. This provides the basis for developing SIPAS as an integrated and context-aware passenger assistance platform.</a:t>
            </a:r>
          </a:p>
          <a:p>
            <a:pPr algn="l"/>
            <a:endParaRPr lang="en-GB" sz="2800">
              <a:latin typeface="Times New Roman"/>
              <a:ea typeface="Calibri"/>
              <a:cs typeface="Times New Roman"/>
            </a:endParaRPr>
          </a:p>
        </p:txBody>
      </p:sp>
    </p:spTree>
    <p:extLst>
      <p:ext uri="{BB962C8B-B14F-4D97-AF65-F5344CB8AC3E}">
        <p14:creationId xmlns:p14="http://schemas.microsoft.com/office/powerpoint/2010/main" val="1167666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687" y="261298"/>
            <a:ext cx="16992600" cy="1039505"/>
          </a:xfrm>
        </p:spPr>
        <p:txBody>
          <a:bodyPr>
            <a:normAutofit/>
          </a:bodyPr>
          <a:lstStyle/>
          <a:p>
            <a:pPr algn="l"/>
            <a:r>
              <a:rPr lang="en-US" b="1">
                <a:solidFill>
                  <a:srgbClr val="000000"/>
                </a:solidFill>
                <a:latin typeface="Open Sauce Bold"/>
                <a:ea typeface="Open Sauce Bold"/>
                <a:cs typeface="Open Sauce Bold"/>
                <a:sym typeface="Open Sauce Bold"/>
              </a:rPr>
              <a:t>2.2 Critical Analysis of Literature:</a:t>
            </a:r>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06331137"/>
              </p:ext>
            </p:extLst>
          </p:nvPr>
        </p:nvGraphicFramePr>
        <p:xfrm>
          <a:off x="381000" y="1300803"/>
          <a:ext cx="17297400" cy="8808720"/>
        </p:xfrm>
        <a:graphic>
          <a:graphicData uri="http://schemas.openxmlformats.org/drawingml/2006/table">
            <a:tbl>
              <a:tblPr firstRow="1" bandRow="1">
                <a:tableStyleId>{5C22544A-7EE6-4342-B048-85BDC9FD1C3A}</a:tableStyleId>
              </a:tblPr>
              <a:tblGrid>
                <a:gridCol w="2882900">
                  <a:extLst>
                    <a:ext uri="{9D8B030D-6E8A-4147-A177-3AD203B41FA5}">
                      <a16:colId xmlns:a16="http://schemas.microsoft.com/office/drawing/2014/main" val="1851529131"/>
                    </a:ext>
                  </a:extLst>
                </a:gridCol>
                <a:gridCol w="2882900">
                  <a:extLst>
                    <a:ext uri="{9D8B030D-6E8A-4147-A177-3AD203B41FA5}">
                      <a16:colId xmlns:a16="http://schemas.microsoft.com/office/drawing/2014/main" val="497240091"/>
                    </a:ext>
                  </a:extLst>
                </a:gridCol>
                <a:gridCol w="2997200">
                  <a:extLst>
                    <a:ext uri="{9D8B030D-6E8A-4147-A177-3AD203B41FA5}">
                      <a16:colId xmlns:a16="http://schemas.microsoft.com/office/drawing/2014/main" val="1814160894"/>
                    </a:ext>
                  </a:extLst>
                </a:gridCol>
                <a:gridCol w="2768600">
                  <a:extLst>
                    <a:ext uri="{9D8B030D-6E8A-4147-A177-3AD203B41FA5}">
                      <a16:colId xmlns:a16="http://schemas.microsoft.com/office/drawing/2014/main" val="3706591983"/>
                    </a:ext>
                  </a:extLst>
                </a:gridCol>
                <a:gridCol w="2882900">
                  <a:extLst>
                    <a:ext uri="{9D8B030D-6E8A-4147-A177-3AD203B41FA5}">
                      <a16:colId xmlns:a16="http://schemas.microsoft.com/office/drawing/2014/main" val="3171756117"/>
                    </a:ext>
                  </a:extLst>
                </a:gridCol>
                <a:gridCol w="2882900">
                  <a:extLst>
                    <a:ext uri="{9D8B030D-6E8A-4147-A177-3AD203B41FA5}">
                      <a16:colId xmlns:a16="http://schemas.microsoft.com/office/drawing/2014/main" val="2381311459"/>
                    </a:ext>
                  </a:extLst>
                </a:gridCol>
              </a:tblGrid>
              <a:tr h="370840">
                <a:tc>
                  <a:txBody>
                    <a:bodyPr/>
                    <a:lstStyle/>
                    <a:p>
                      <a:pPr algn="l"/>
                      <a:r>
                        <a:rPr lang="en-IN" b="0">
                          <a:latin typeface="Times New Roman" panose="02020603050405020304" pitchFamily="18" charset="0"/>
                          <a:cs typeface="Times New Roman" panose="02020603050405020304" pitchFamily="18" charset="0"/>
                        </a:rPr>
                        <a:t>Title of the Paper</a:t>
                      </a:r>
                    </a:p>
                  </a:txBody>
                  <a:tcPr/>
                </a:tc>
                <a:tc>
                  <a:txBody>
                    <a:bodyPr/>
                    <a:lstStyle/>
                    <a:p>
                      <a:pPr algn="ctr"/>
                      <a:r>
                        <a:rPr lang="en-IN" b="0">
                          <a:latin typeface="Times New Roman" panose="02020603050405020304" pitchFamily="18" charset="0"/>
                          <a:cs typeface="Times New Roman" panose="02020603050405020304" pitchFamily="18" charset="0"/>
                        </a:rPr>
                        <a:t>Author details and Journal</a:t>
                      </a:r>
                      <a:r>
                        <a:rPr lang="en-IN" b="0" baseline="0">
                          <a:latin typeface="Times New Roman" panose="02020603050405020304" pitchFamily="18" charset="0"/>
                          <a:cs typeface="Times New Roman" panose="02020603050405020304" pitchFamily="18" charset="0"/>
                        </a:rPr>
                        <a:t> / conference publishing information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Proposed method used in the</a:t>
                      </a:r>
                      <a:r>
                        <a:rPr lang="en-IN" b="0" baseline="0">
                          <a:latin typeface="Times New Roman" panose="02020603050405020304" pitchFamily="18" charset="0"/>
                          <a:cs typeface="Times New Roman" panose="02020603050405020304" pitchFamily="18" charset="0"/>
                        </a:rPr>
                        <a:t> Journal or conference paper</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Dataset used in the Paper</a:t>
                      </a:r>
                    </a:p>
                  </a:txBody>
                  <a:tcPr/>
                </a:tc>
                <a:tc>
                  <a:txBody>
                    <a:bodyPr/>
                    <a:lstStyle/>
                    <a:p>
                      <a:pPr algn="ctr"/>
                      <a:r>
                        <a:rPr lang="en-IN" b="0">
                          <a:latin typeface="Times New Roman" panose="02020603050405020304" pitchFamily="18" charset="0"/>
                          <a:cs typeface="Times New Roman" panose="02020603050405020304" pitchFamily="18" charset="0"/>
                        </a:rPr>
                        <a:t>Advantages</a:t>
                      </a:r>
                      <a:r>
                        <a:rPr lang="en-IN" b="0" baseline="0">
                          <a:latin typeface="Times New Roman" panose="02020603050405020304" pitchFamily="18" charset="0"/>
                          <a:cs typeface="Times New Roman" panose="02020603050405020304" pitchFamily="18" charset="0"/>
                        </a:rPr>
                        <a:t> of the proposed paper </a:t>
                      </a:r>
                      <a:endParaRPr lang="en-IN" b="0">
                        <a:latin typeface="Times New Roman" panose="02020603050405020304" pitchFamily="18" charset="0"/>
                        <a:cs typeface="Times New Roman" panose="02020603050405020304" pitchFamily="18" charset="0"/>
                      </a:endParaRPr>
                    </a:p>
                  </a:txBody>
                  <a:tcPr/>
                </a:tc>
                <a:tc>
                  <a:txBody>
                    <a:bodyPr/>
                    <a:lstStyle/>
                    <a:p>
                      <a:pPr marL="0" marR="0" indent="0" algn="ctr" rtl="0" eaLnBrk="1" fontAlgn="auto" latinLnBrk="0" hangingPunct="1">
                        <a:lnSpc>
                          <a:spcPct val="100000"/>
                        </a:lnSpc>
                        <a:spcBef>
                          <a:spcPts val="0"/>
                        </a:spcBef>
                        <a:spcAft>
                          <a:spcPts val="0"/>
                        </a:spcAft>
                        <a:buClrTx/>
                        <a:buSzTx/>
                        <a:buFontTx/>
                        <a:buNone/>
                      </a:pPr>
                      <a:r>
                        <a:rPr lang="en-IN" b="0">
                          <a:latin typeface="Times New Roman"/>
                          <a:cs typeface="Times New Roman"/>
                        </a:rPr>
                        <a:t>Research Gap Identified</a:t>
                      </a:r>
                    </a:p>
                    <a:p>
                      <a:pPr algn="ct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8968260"/>
                  </a:ext>
                </a:extLst>
              </a:tr>
              <a:tr h="1523999">
                <a:tc>
                  <a:txBody>
                    <a:bodyPr/>
                    <a:lstStyle/>
                    <a:p>
                      <a:pPr algn="l"/>
                      <a:r>
                        <a:rPr lang="en-IN" b="0">
                          <a:latin typeface="Times New Roman" panose="02020603050405020304" pitchFamily="18" charset="0"/>
                          <a:cs typeface="Times New Roman" panose="02020603050405020304" pitchFamily="18" charset="0"/>
                        </a:rPr>
                        <a:t>1.</a:t>
                      </a:r>
                      <a:r>
                        <a:rPr lang="en-IN" b="0" baseline="0">
                          <a:latin typeface="Times New Roman" panose="02020603050405020304" pitchFamily="18" charset="0"/>
                          <a:cs typeface="Times New Roman" panose="02020603050405020304" pitchFamily="18" charset="0"/>
                        </a:rPr>
                        <a:t> </a:t>
                      </a:r>
                      <a:r>
                        <a:rPr lang="en-US" b="0">
                          <a:latin typeface="Times New Roman" panose="02020603050405020304" pitchFamily="18" charset="0"/>
                          <a:cs typeface="Times New Roman" panose="02020603050405020304" pitchFamily="18" charset="0"/>
                        </a:rPr>
                        <a:t>A Multimodal LLM-Based AI Assistant for Intelligent Exploration of Airport Baggage Records</a:t>
                      </a:r>
                      <a:endParaRPr lang="en-IN" b="0">
                        <a:latin typeface="Times New Roman" panose="02020603050405020304" pitchFamily="18" charset="0"/>
                        <a:cs typeface="Times New Roman" panose="02020603050405020304" pitchFamily="18" charset="0"/>
                      </a:endParaRPr>
                    </a:p>
                    <a:p>
                      <a:pPr algn="l"/>
                      <a:endParaRPr lang="en-IN" b="0">
                        <a:latin typeface="Times New Roman" panose="02020603050405020304" pitchFamily="18" charset="0"/>
                        <a:cs typeface="Times New Roman" panose="02020603050405020304" pitchFamily="18" charset="0"/>
                      </a:endParaRPr>
                    </a:p>
                    <a:p>
                      <a:pPr algn="l"/>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a:cs typeface="Times New Roman"/>
                        </a:rPr>
                        <a:t>O. Adiguzel et al.; IISEC 2026, IEEE</a:t>
                      </a:r>
                    </a:p>
                  </a:txBody>
                  <a:tcPr/>
                </a:tc>
                <a:tc>
                  <a:txBody>
                    <a:bodyPr/>
                    <a:lstStyle/>
                    <a:p>
                      <a:pPr algn="ctr"/>
                      <a:r>
                        <a:rPr lang="en-US" b="0">
                          <a:latin typeface="Times New Roman" panose="02020603050405020304" pitchFamily="18" charset="0"/>
                          <a:cs typeface="Times New Roman" panose="02020603050405020304" pitchFamily="18" charset="0"/>
                        </a:rPr>
                        <a:t>Multimodal LLM assistant using text/voice, intent &amp; parameter extraction, tool selection and predefined backend services</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4 million baggage records, Izmir Adnan Menderes Airport</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Natural-language airport-data interaction; multimodal input; reliable service orchestration</a:t>
                      </a:r>
                    </a:p>
                  </a:txBody>
                  <a:tcPr/>
                </a:tc>
                <a:tc>
                  <a:txBody>
                    <a:bodyPr/>
                    <a:lstStyle/>
                    <a:p>
                      <a:pPr algn="ctr"/>
                      <a:r>
                        <a:rPr lang="en-US" b="0">
                          <a:latin typeface="Times New Roman" panose="02020603050405020304" pitchFamily="18" charset="0"/>
                          <a:cs typeface="Times New Roman" panose="02020603050405020304" pitchFamily="18" charset="0"/>
                        </a:rPr>
                        <a:t>Mainly focused on baggage analytics, not complete passenger assistance; voice evaluated with one ASR model</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6249959"/>
                  </a:ext>
                </a:extLst>
              </a:tr>
              <a:tr h="1463040">
                <a:tc>
                  <a:txBody>
                    <a:bodyPr/>
                    <a:lstStyle/>
                    <a:p>
                      <a:pPr algn="l"/>
                      <a:r>
                        <a:rPr lang="en-IN" b="0">
                          <a:latin typeface="Times New Roman" panose="02020603050405020304" pitchFamily="18" charset="0"/>
                          <a:cs typeface="Times New Roman" panose="02020603050405020304" pitchFamily="18" charset="0"/>
                        </a:rPr>
                        <a:t>2</a:t>
                      </a:r>
                      <a:r>
                        <a:rPr lang="en-IN" b="0" baseline="0">
                          <a:latin typeface="Times New Roman" panose="02020603050405020304" pitchFamily="18" charset="0"/>
                          <a:cs typeface="Times New Roman" panose="02020603050405020304" pitchFamily="18" charset="0"/>
                        </a:rPr>
                        <a:t>. </a:t>
                      </a:r>
                      <a:r>
                        <a:rPr lang="en-US" b="0">
                          <a:latin typeface="Times New Roman" panose="02020603050405020304" pitchFamily="18" charset="0"/>
                          <a:cs typeface="Times New Roman" panose="02020603050405020304" pitchFamily="18" charset="0"/>
                        </a:rPr>
                        <a:t>STING-BEE: Towards Vision-Language Model for Real-World X-ray Baggage Security Inspection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da-DK" b="0">
                          <a:latin typeface="Times New Roman" panose="02020603050405020304" pitchFamily="18" charset="0"/>
                          <a:cs typeface="Times New Roman" panose="02020603050405020304" pitchFamily="18" charset="0"/>
                        </a:rPr>
                        <a:t>D. Velayudhan et al.; CVPR 2025</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Vision-language AI assistant for scene comprehension, threat localization, visual grounding and VQA</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a:cs typeface="Times New Roman"/>
                        </a:rPr>
                        <a:t>STCray: 46,642 image-caption scans, 21 threat categories</a:t>
                      </a:r>
                      <a:endParaRPr lang="en-IN" b="0">
                        <a:latin typeface="Times New Roman"/>
                        <a:cs typeface="Times New Roman"/>
                      </a:endParaRPr>
                    </a:p>
                  </a:txBody>
                  <a:tcPr/>
                </a:tc>
                <a:tc>
                  <a:txBody>
                    <a:bodyPr/>
                    <a:lstStyle/>
                    <a:p>
                      <a:pPr algn="ctr"/>
                      <a:r>
                        <a:rPr lang="en-US" b="0">
                          <a:latin typeface="Times New Roman" panose="02020603050405020304" pitchFamily="18" charset="0"/>
                          <a:cs typeface="Times New Roman" panose="02020603050405020304" pitchFamily="18" charset="0"/>
                        </a:rPr>
                        <a:t>Multimodal baggage understanding; supports multiple visual-language tasks; strong cross-domain performance</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Specialized for X-ray security screening, not passenger-facing assistance </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2452953"/>
                  </a:ext>
                </a:extLst>
              </a:tr>
              <a:tr h="1219200">
                <a:tc>
                  <a:txBody>
                    <a:bodyPr/>
                    <a:lstStyle/>
                    <a:p>
                      <a:pPr algn="l"/>
                      <a:r>
                        <a:rPr lang="en-IN" b="0">
                          <a:latin typeface="Times New Roman"/>
                          <a:cs typeface="Times New Roman"/>
                        </a:rPr>
                        <a:t>3</a:t>
                      </a:r>
                      <a:r>
                        <a:rPr lang="en-IN" b="0" baseline="0">
                          <a:latin typeface="Times New Roman"/>
                          <a:cs typeface="Times New Roman"/>
                        </a:rPr>
                        <a:t>. </a:t>
                      </a:r>
                      <a:r>
                        <a:rPr lang="en-US" b="0">
                          <a:latin typeface="Times New Roman"/>
                          <a:cs typeface="Times New Roman"/>
                        </a:rPr>
                        <a:t>Chatbots in Airport Customer Service</a:t>
                      </a:r>
                      <a:r>
                        <a:rPr lang="en-US" b="0" baseline="0">
                          <a:latin typeface="Times New Roman"/>
                          <a:cs typeface="Times New Roman"/>
                        </a:rPr>
                        <a:t>: </a:t>
                      </a:r>
                      <a:r>
                        <a:rPr lang="en-US" b="0">
                          <a:latin typeface="Times New Roman"/>
                          <a:cs typeface="Times New Roman"/>
                        </a:rPr>
                        <a:t>Exploring Use Cases and Technology Acceptance</a:t>
                      </a:r>
                      <a:endParaRPr lang="en-IN" b="0">
                        <a:latin typeface="Times New Roman"/>
                        <a:cs typeface="Times New Roman"/>
                      </a:endParaRPr>
                    </a:p>
                  </a:txBody>
                  <a:tcPr/>
                </a:tc>
                <a:tc>
                  <a:txBody>
                    <a:bodyPr/>
                    <a:lstStyle/>
                    <a:p>
                      <a:pPr algn="ctr"/>
                      <a:r>
                        <a:rPr lang="en-US" b="0">
                          <a:latin typeface="Times New Roman"/>
                          <a:cs typeface="Times New Roman"/>
                        </a:rPr>
                        <a:t>Airport customer-service chatbot research; Future Internet, 2024</a:t>
                      </a:r>
                      <a:endParaRPr lang="en-IN" b="0">
                        <a:latin typeface="Times New Roman"/>
                        <a:cs typeface="Times New Roman"/>
                      </a:endParaRPr>
                    </a:p>
                  </a:txBody>
                  <a:tcPr/>
                </a:tc>
                <a:tc>
                  <a:txBody>
                    <a:bodyPr/>
                    <a:lstStyle/>
                    <a:p>
                      <a:pPr algn="ctr"/>
                      <a:r>
                        <a:rPr lang="en-US" b="0">
                          <a:latin typeface="Times New Roman"/>
                          <a:cs typeface="Times New Roman"/>
                        </a:rPr>
                        <a:t>Investigates airport chatbot use cases and passenger acceptance</a:t>
                      </a:r>
                      <a:endParaRPr lang="en-IN" b="0">
                        <a:latin typeface="Times New Roman"/>
                        <a:cs typeface="Times New Roman"/>
                      </a:endParaRPr>
                    </a:p>
                  </a:txBody>
                  <a:tcPr/>
                </a:tc>
                <a:tc>
                  <a:txBody>
                    <a:bodyPr/>
                    <a:lstStyle/>
                    <a:p>
                      <a:pPr algn="ctr"/>
                      <a:r>
                        <a:rPr lang="en-US" b="0">
                          <a:latin typeface="Times New Roman"/>
                          <a:cs typeface="Times New Roman"/>
                        </a:rPr>
                        <a:t>Passenger/traveler study and chatbot use-case evaluation</a:t>
                      </a:r>
                      <a:endParaRPr lang="en-IN" b="0">
                        <a:latin typeface="Times New Roman"/>
                        <a:cs typeface="Times New Roman"/>
                      </a:endParaRPr>
                    </a:p>
                  </a:txBody>
                  <a:tcPr/>
                </a:tc>
                <a:tc>
                  <a:txBody>
                    <a:bodyPr/>
                    <a:lstStyle/>
                    <a:p>
                      <a:pPr algn="ctr"/>
                      <a:r>
                        <a:rPr lang="en-US" b="0">
                          <a:latin typeface="Times New Roman"/>
                          <a:cs typeface="Times New Roman"/>
                        </a:rPr>
                        <a:t>Directly studies chatbot acceptance in airports; identifies practical customer-service applications</a:t>
                      </a:r>
                      <a:endParaRPr lang="en-IN" b="0">
                        <a:latin typeface="Times New Roman"/>
                        <a:cs typeface="Times New Roman"/>
                      </a:endParaRPr>
                    </a:p>
                  </a:txBody>
                  <a:tcPr/>
                </a:tc>
                <a:tc>
                  <a:txBody>
                    <a:bodyPr/>
                    <a:lstStyle/>
                    <a:p>
                      <a:pPr algn="ctr"/>
                      <a:r>
                        <a:rPr lang="en-US" b="0">
                          <a:latin typeface="Times New Roman" panose="02020603050405020304" pitchFamily="18" charset="0"/>
                          <a:cs typeface="Times New Roman" panose="02020603050405020304" pitchFamily="18" charset="0"/>
                        </a:rPr>
                        <a:t>Focuses mainly on acceptance/use cases, rather than context-aware AI orchestration </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3190123"/>
                  </a:ext>
                </a:extLst>
              </a:tr>
              <a:tr h="370840">
                <a:tc>
                  <a:txBody>
                    <a:bodyPr/>
                    <a:lstStyle/>
                    <a:p>
                      <a:pPr algn="l"/>
                      <a:r>
                        <a:rPr lang="en-IN" b="0">
                          <a:latin typeface="Times New Roman" panose="02020603050405020304" pitchFamily="18" charset="0"/>
                          <a:cs typeface="Times New Roman" panose="02020603050405020304" pitchFamily="18" charset="0"/>
                        </a:rPr>
                        <a:t>4.</a:t>
                      </a:r>
                      <a:r>
                        <a:rPr lang="en-IN" b="0" baseline="0">
                          <a:latin typeface="Times New Roman" panose="02020603050405020304" pitchFamily="18" charset="0"/>
                          <a:cs typeface="Times New Roman" panose="02020603050405020304" pitchFamily="18" charset="0"/>
                        </a:rPr>
                        <a:t> </a:t>
                      </a:r>
                      <a:r>
                        <a:rPr lang="en-US" b="0">
                          <a:latin typeface="Times New Roman" panose="02020603050405020304" pitchFamily="18" charset="0"/>
                          <a:cs typeface="Times New Roman" panose="02020603050405020304" pitchFamily="18" charset="0"/>
                        </a:rPr>
                        <a:t>An Efficient and Simple Approach for Indoor Navigation: Using Smart Phone and QR Code</a:t>
                      </a:r>
                      <a:endParaRPr lang="en-IN" b="0">
                        <a:latin typeface="Times New Roman" panose="02020603050405020304" pitchFamily="18" charset="0"/>
                        <a:cs typeface="Times New Roman" panose="02020603050405020304" pitchFamily="18" charset="0"/>
                      </a:endParaRPr>
                    </a:p>
                    <a:p>
                      <a:pPr algn="l"/>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a:cs typeface="Times New Roman"/>
                        </a:rPr>
                        <a:t>V. V. Chirakkal, M. Park, D. S. Han, J. H. Shin; IEEE ISCE 2014</a:t>
                      </a:r>
                    </a:p>
                  </a:txBody>
                  <a:tcPr/>
                </a:tc>
                <a:tc>
                  <a:txBody>
                    <a:bodyPr/>
                    <a:lstStyle/>
                    <a:p>
                      <a:pPr algn="ctr"/>
                      <a:r>
                        <a:rPr lang="en-US" b="0">
                          <a:latin typeface="Times New Roman" panose="02020603050405020304" pitchFamily="18" charset="0"/>
                          <a:cs typeface="Times New Roman" panose="02020603050405020304" pitchFamily="18" charset="0"/>
                        </a:rPr>
                        <a:t>Smartphone IMU combined with QR-code localization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Indoor navigation test environment</a:t>
                      </a:r>
                    </a:p>
                  </a:txBody>
                  <a:tcPr/>
                </a:tc>
                <a:tc>
                  <a:txBody>
                    <a:bodyPr/>
                    <a:lstStyle/>
                    <a:p>
                      <a:pPr algn="ctr"/>
                      <a:r>
                        <a:rPr lang="en-US" b="0">
                          <a:latin typeface="Times New Roman" panose="02020603050405020304" pitchFamily="18" charset="0"/>
                          <a:cs typeface="Times New Roman" panose="02020603050405020304" pitchFamily="18" charset="0"/>
                        </a:rPr>
                        <a:t>Low-cost and simple indoor positioning; QR codes compensate for IMU errors</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Requires QR-code infrastructure; not specifically designed for complex airport passenger workflows </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2398739"/>
                  </a:ext>
                </a:extLst>
              </a:tr>
              <a:tr h="370840">
                <a:tc>
                  <a:txBody>
                    <a:bodyPr/>
                    <a:lstStyle/>
                    <a:p>
                      <a:pPr algn="l"/>
                      <a:r>
                        <a:rPr lang="en-US" b="0">
                          <a:latin typeface="Times New Roman" panose="02020603050405020304" pitchFamily="18" charset="0"/>
                          <a:cs typeface="Times New Roman" panose="02020603050405020304" pitchFamily="18" charset="0"/>
                        </a:rPr>
                        <a:t>5.</a:t>
                      </a:r>
                      <a:r>
                        <a:rPr lang="en-US" b="0" baseline="0">
                          <a:latin typeface="Times New Roman" panose="02020603050405020304" pitchFamily="18" charset="0"/>
                          <a:cs typeface="Times New Roman" panose="02020603050405020304" pitchFamily="18" charset="0"/>
                        </a:rPr>
                        <a:t> </a:t>
                      </a:r>
                      <a:r>
                        <a:rPr lang="en-US" b="0">
                          <a:latin typeface="Times New Roman" panose="02020603050405020304" pitchFamily="18" charset="0"/>
                          <a:cs typeface="Times New Roman" panose="02020603050405020304" pitchFamily="18" charset="0"/>
                        </a:rPr>
                        <a:t>Evaluating the Performance of RAG Methods for Conversational AI in the Airport Domain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a:cs typeface="Times New Roman"/>
                        </a:rPr>
                        <a:t>Y. Li, P. J. M. Kerbusch, R. H. R. Pruim, T. Käfer; NAACL-HLT 2025</a:t>
                      </a:r>
                    </a:p>
                  </a:txBody>
                  <a:tcPr/>
                </a:tc>
                <a:tc>
                  <a:txBody>
                    <a:bodyPr/>
                    <a:lstStyle/>
                    <a:p>
                      <a:pPr algn="ctr"/>
                      <a:r>
                        <a:rPr lang="en-US" b="0">
                          <a:latin typeface="Times New Roman" panose="02020603050405020304" pitchFamily="18" charset="0"/>
                          <a:cs typeface="Times New Roman" panose="02020603050405020304" pitchFamily="18" charset="0"/>
                        </a:rPr>
                        <a:t>Compares Traditional RAG, SQL-RAG and Knowledge-Graph RAG for conversational access to airport flight information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Amsterdam Airport Schiphol flight-information data; straightforward and complex/jargon-based question sets</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Graph RAG achieved 91.49% accuracy and performed particularly well for reasoning-based airport queries; structured RAG approaches reduced hallucinations</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Focuses on airport staff and flight-information systems, rather than passenger-facing assistance; evaluated around a specific airport/domain</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
        <p:nvSpPr>
          <p:cNvPr id="5" name="Freeform 3"/>
          <p:cNvSpPr/>
          <p:nvPr/>
        </p:nvSpPr>
        <p:spPr>
          <a:xfrm>
            <a:off x="16154400" y="1"/>
            <a:ext cx="1920961" cy="1300802"/>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Tree>
    <p:extLst>
      <p:ext uri="{BB962C8B-B14F-4D97-AF65-F5344CB8AC3E}">
        <p14:creationId xmlns:p14="http://schemas.microsoft.com/office/powerpoint/2010/main" val="1693415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6457"/>
            <a:ext cx="17373600" cy="963305"/>
          </a:xfrm>
        </p:spPr>
        <p:txBody>
          <a:bodyPr>
            <a:normAutofit/>
          </a:bodyPr>
          <a:lstStyle/>
          <a:p>
            <a:pPr algn="l"/>
            <a:r>
              <a:rPr lang="en-US" b="1">
                <a:latin typeface="Open Sauce Bold"/>
              </a:rPr>
              <a:t>2.2 Critical Analysis of Literature:</a:t>
            </a:r>
            <a:endParaRPr lang="en-US">
              <a:latin typeface="Open Sauce Bold"/>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26720220"/>
              </p:ext>
            </p:extLst>
          </p:nvPr>
        </p:nvGraphicFramePr>
        <p:xfrm>
          <a:off x="457200" y="1357004"/>
          <a:ext cx="17297400" cy="8434697"/>
        </p:xfrm>
        <a:graphic>
          <a:graphicData uri="http://schemas.openxmlformats.org/drawingml/2006/table">
            <a:tbl>
              <a:tblPr firstRow="1" bandRow="1">
                <a:tableStyleId>{5C22544A-7EE6-4342-B048-85BDC9FD1C3A}</a:tableStyleId>
              </a:tblPr>
              <a:tblGrid>
                <a:gridCol w="2882900">
                  <a:extLst>
                    <a:ext uri="{9D8B030D-6E8A-4147-A177-3AD203B41FA5}">
                      <a16:colId xmlns:a16="http://schemas.microsoft.com/office/drawing/2014/main" val="1851529131"/>
                    </a:ext>
                  </a:extLst>
                </a:gridCol>
                <a:gridCol w="2882900">
                  <a:extLst>
                    <a:ext uri="{9D8B030D-6E8A-4147-A177-3AD203B41FA5}">
                      <a16:colId xmlns:a16="http://schemas.microsoft.com/office/drawing/2014/main" val="497240091"/>
                    </a:ext>
                  </a:extLst>
                </a:gridCol>
                <a:gridCol w="2882900">
                  <a:extLst>
                    <a:ext uri="{9D8B030D-6E8A-4147-A177-3AD203B41FA5}">
                      <a16:colId xmlns:a16="http://schemas.microsoft.com/office/drawing/2014/main" val="1814160894"/>
                    </a:ext>
                  </a:extLst>
                </a:gridCol>
                <a:gridCol w="2882900">
                  <a:extLst>
                    <a:ext uri="{9D8B030D-6E8A-4147-A177-3AD203B41FA5}">
                      <a16:colId xmlns:a16="http://schemas.microsoft.com/office/drawing/2014/main" val="3706591983"/>
                    </a:ext>
                  </a:extLst>
                </a:gridCol>
                <a:gridCol w="2882900">
                  <a:extLst>
                    <a:ext uri="{9D8B030D-6E8A-4147-A177-3AD203B41FA5}">
                      <a16:colId xmlns:a16="http://schemas.microsoft.com/office/drawing/2014/main" val="3171756117"/>
                    </a:ext>
                  </a:extLst>
                </a:gridCol>
                <a:gridCol w="2882900">
                  <a:extLst>
                    <a:ext uri="{9D8B030D-6E8A-4147-A177-3AD203B41FA5}">
                      <a16:colId xmlns:a16="http://schemas.microsoft.com/office/drawing/2014/main" val="2381311459"/>
                    </a:ext>
                  </a:extLst>
                </a:gridCol>
              </a:tblGrid>
              <a:tr h="928590">
                <a:tc>
                  <a:txBody>
                    <a:bodyPr/>
                    <a:lstStyle/>
                    <a:p>
                      <a:pPr algn="l"/>
                      <a:r>
                        <a:rPr lang="en-IN" b="0">
                          <a:latin typeface="Times New Roman" panose="02020603050405020304" pitchFamily="18" charset="0"/>
                          <a:cs typeface="Times New Roman" panose="02020603050405020304" pitchFamily="18" charset="0"/>
                        </a:rPr>
                        <a:t>Title of the Paper</a:t>
                      </a:r>
                    </a:p>
                  </a:txBody>
                  <a:tcPr/>
                </a:tc>
                <a:tc>
                  <a:txBody>
                    <a:bodyPr/>
                    <a:lstStyle/>
                    <a:p>
                      <a:pPr algn="ctr"/>
                      <a:r>
                        <a:rPr lang="en-IN" b="0">
                          <a:latin typeface="Times New Roman" panose="02020603050405020304" pitchFamily="18" charset="0"/>
                          <a:cs typeface="Times New Roman" panose="02020603050405020304" pitchFamily="18" charset="0"/>
                        </a:rPr>
                        <a:t>Author details and Journal</a:t>
                      </a:r>
                      <a:r>
                        <a:rPr lang="en-IN" b="0" baseline="0">
                          <a:latin typeface="Times New Roman" panose="02020603050405020304" pitchFamily="18" charset="0"/>
                          <a:cs typeface="Times New Roman" panose="02020603050405020304" pitchFamily="18" charset="0"/>
                        </a:rPr>
                        <a:t> / conference publishing information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Proposed method used in the</a:t>
                      </a:r>
                      <a:r>
                        <a:rPr lang="en-IN" b="0" baseline="0">
                          <a:latin typeface="Times New Roman" panose="02020603050405020304" pitchFamily="18" charset="0"/>
                          <a:cs typeface="Times New Roman" panose="02020603050405020304" pitchFamily="18" charset="0"/>
                        </a:rPr>
                        <a:t> Journal or conference paper</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Dataset used in the Paper</a:t>
                      </a:r>
                    </a:p>
                  </a:txBody>
                  <a:tcPr/>
                </a:tc>
                <a:tc>
                  <a:txBody>
                    <a:bodyPr/>
                    <a:lstStyle/>
                    <a:p>
                      <a:pPr algn="ctr"/>
                      <a:r>
                        <a:rPr lang="en-IN" b="0">
                          <a:latin typeface="Times New Roman" panose="02020603050405020304" pitchFamily="18" charset="0"/>
                          <a:cs typeface="Times New Roman" panose="02020603050405020304" pitchFamily="18" charset="0"/>
                        </a:rPr>
                        <a:t>Advantages</a:t>
                      </a:r>
                      <a:r>
                        <a:rPr lang="en-IN" b="0" baseline="0">
                          <a:latin typeface="Times New Roman" panose="02020603050405020304" pitchFamily="18" charset="0"/>
                          <a:cs typeface="Times New Roman" panose="02020603050405020304" pitchFamily="18" charset="0"/>
                        </a:rPr>
                        <a:t> of the proposed paper </a:t>
                      </a:r>
                      <a:endParaRPr lang="en-IN" b="0">
                        <a:latin typeface="Times New Roman" panose="02020603050405020304" pitchFamily="18" charset="0"/>
                        <a:cs typeface="Times New Roman" panose="02020603050405020304" pitchFamily="18" charset="0"/>
                      </a:endParaRPr>
                    </a:p>
                  </a:txBody>
                  <a:tcPr/>
                </a:tc>
                <a:tc>
                  <a:txBody>
                    <a:bodyPr/>
                    <a:lstStyle/>
                    <a:p>
                      <a:pPr lvl="0" algn="ctr">
                        <a:lnSpc>
                          <a:spcPct val="100000"/>
                        </a:lnSpc>
                        <a:spcBef>
                          <a:spcPts val="0"/>
                        </a:spcBef>
                        <a:spcAft>
                          <a:spcPts val="0"/>
                        </a:spcAft>
                        <a:buNone/>
                      </a:pPr>
                      <a:r>
                        <a:rPr lang="en-IN" sz="1800" b="0" i="0" u="none" strike="noStrike" noProof="0">
                          <a:solidFill>
                            <a:srgbClr val="FFFFFF"/>
                          </a:solidFill>
                          <a:latin typeface="Times New Roman"/>
                          <a:cs typeface="Times New Roman"/>
                        </a:rPr>
                        <a:t>Research Gap Identified</a:t>
                      </a:r>
                      <a:endParaRPr lang="en-IN" sz="1800" b="1" i="0" u="none" strike="noStrike" noProof="0">
                        <a:solidFill>
                          <a:srgbClr val="FFFFFF"/>
                        </a:solidFill>
                        <a:latin typeface="Times New Roman"/>
                        <a:cs typeface="Times New Roman"/>
                      </a:endParaRPr>
                    </a:p>
                    <a:p>
                      <a:pPr marL="0" marR="0" lvl="0" indent="0" algn="ctr" defTabSz="914400">
                        <a:lnSpc>
                          <a:spcPct val="100000"/>
                        </a:lnSpc>
                        <a:spcBef>
                          <a:spcPts val="0"/>
                        </a:spcBef>
                        <a:spcAft>
                          <a:spcPts val="0"/>
                        </a:spcAft>
                        <a:buClrTx/>
                        <a:buSzTx/>
                        <a:buFontTx/>
                        <a:buNone/>
                        <a:tabLst/>
                        <a:defRPr/>
                      </a:pPr>
                      <a:endParaRPr lang="en-IN" b="0">
                        <a:latin typeface="Times New Roman"/>
                        <a:cs typeface="Times New Roman"/>
                      </a:endParaRPr>
                    </a:p>
                    <a:p>
                      <a:pPr algn="ct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8968260"/>
                  </a:ext>
                </a:extLst>
              </a:tr>
              <a:tr h="1764322">
                <a:tc>
                  <a:txBody>
                    <a:bodyPr/>
                    <a:lstStyle/>
                    <a:p>
                      <a:pPr algn="l"/>
                      <a:r>
                        <a:rPr lang="en-IN" b="0">
                          <a:latin typeface="Times New Roman" panose="02020603050405020304" pitchFamily="18" charset="0"/>
                          <a:cs typeface="Times New Roman" panose="02020603050405020304" pitchFamily="18" charset="0"/>
                        </a:rPr>
                        <a:t>6.</a:t>
                      </a:r>
                      <a:r>
                        <a:rPr lang="en-IN" b="0" baseline="0">
                          <a:latin typeface="Times New Roman" panose="02020603050405020304" pitchFamily="18" charset="0"/>
                          <a:cs typeface="Times New Roman" panose="02020603050405020304" pitchFamily="18" charset="0"/>
                        </a:rPr>
                        <a:t> </a:t>
                      </a:r>
                      <a:r>
                        <a:rPr lang="en-US" b="0">
                          <a:latin typeface="Times New Roman" panose="02020603050405020304" pitchFamily="18" charset="0"/>
                          <a:cs typeface="Times New Roman" panose="02020603050405020304" pitchFamily="18" charset="0"/>
                        </a:rPr>
                        <a:t>A Multimodal LLM-Based AI Assistant for Intelligent Exploration of Airport Baggage Records</a:t>
                      </a:r>
                      <a:endParaRPr lang="en-IN" b="0">
                        <a:latin typeface="Times New Roman" panose="02020603050405020304" pitchFamily="18" charset="0"/>
                        <a:cs typeface="Times New Roman" panose="02020603050405020304" pitchFamily="18" charset="0"/>
                      </a:endParaRPr>
                    </a:p>
                    <a:p>
                      <a:pPr algn="l"/>
                      <a:endParaRPr lang="en-IN" b="0">
                        <a:latin typeface="Times New Roman" panose="02020603050405020304" pitchFamily="18" charset="0"/>
                        <a:cs typeface="Times New Roman" panose="02020603050405020304" pitchFamily="18" charset="0"/>
                      </a:endParaRPr>
                    </a:p>
                    <a:p>
                      <a:pPr algn="l"/>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Yan et al.; Transactions in GIS, 2022</a:t>
                      </a:r>
                    </a:p>
                  </a:txBody>
                  <a:tcPr/>
                </a:tc>
                <a:tc>
                  <a:txBody>
                    <a:bodyPr/>
                    <a:lstStyle/>
                    <a:p>
                      <a:pPr algn="ctr"/>
                      <a:r>
                        <a:rPr lang="en-US" b="0">
                          <a:latin typeface="Times New Roman" panose="02020603050405020304" pitchFamily="18" charset="0"/>
                          <a:cs typeface="Times New Roman" panose="02020603050405020304" pitchFamily="18" charset="0"/>
                        </a:rPr>
                        <a:t>QR-code localization with indoor navigation-network/path planning</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Shopping-mall indoor environment</a:t>
                      </a:r>
                    </a:p>
                  </a:txBody>
                  <a:tcPr/>
                </a:tc>
                <a:tc>
                  <a:txBody>
                    <a:bodyPr/>
                    <a:lstStyle/>
                    <a:p>
                      <a:pPr algn="ctr"/>
                      <a:r>
                        <a:rPr lang="en-US" b="0">
                          <a:latin typeface="Times New Roman" panose="02020603050405020304" pitchFamily="18" charset="0"/>
                          <a:cs typeface="Times New Roman" panose="02020603050405020304" pitchFamily="18" charset="0"/>
                        </a:rPr>
                        <a:t>Provides practical QR-based path planning and addresses indoor positioning challenges</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Demonstrated primarily in a shopping-mall environment; not integrated with airport/flight context </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6249959"/>
                  </a:ext>
                </a:extLst>
              </a:tr>
              <a:tr h="1253597">
                <a:tc>
                  <a:txBody>
                    <a:bodyPr/>
                    <a:lstStyle/>
                    <a:p>
                      <a:pPr algn="l"/>
                      <a:r>
                        <a:rPr lang="en-IN" b="0" baseline="0">
                          <a:latin typeface="Times New Roman"/>
                          <a:cs typeface="Times New Roman"/>
                        </a:rPr>
                        <a:t>7. </a:t>
                      </a:r>
                      <a:r>
                        <a:rPr lang="en-US" b="0">
                          <a:latin typeface="Times New Roman"/>
                          <a:cs typeface="Times New Roman"/>
                        </a:rPr>
                        <a:t>Indoor Airport Wayfinding for Blind and Visually Impaired Travelers</a:t>
                      </a:r>
                      <a:endParaRPr lang="en-IN" b="0">
                        <a:latin typeface="Times New Roman"/>
                        <a:cs typeface="Times New Roman"/>
                      </a:endParaRPr>
                    </a:p>
                  </a:txBody>
                  <a:tcPr/>
                </a:tc>
                <a:tc>
                  <a:txBody>
                    <a:bodyPr/>
                    <a:lstStyle/>
                    <a:p>
                      <a:pPr algn="ctr"/>
                      <a:r>
                        <a:rPr lang="en-US" b="0">
                          <a:latin typeface="Times New Roman"/>
                          <a:cs typeface="Times New Roman"/>
                        </a:rPr>
                        <a:t>G. E. Legge, C. Downey, N. A. Giudice, B. S. Tjan; FAA Technical Note, 2016</a:t>
                      </a:r>
                      <a:endParaRPr lang="en-IN" b="0">
                        <a:latin typeface="Times New Roman"/>
                        <a:cs typeface="Times New Roman"/>
                      </a:endParaRPr>
                    </a:p>
                  </a:txBody>
                  <a:tcPr/>
                </a:tc>
                <a:tc>
                  <a:txBody>
                    <a:bodyPr/>
                    <a:lstStyle/>
                    <a:p>
                      <a:pPr algn="ctr"/>
                      <a:r>
                        <a:rPr lang="en-US" b="0">
                          <a:latin typeface="Times New Roman"/>
                          <a:cs typeface="Times New Roman"/>
                        </a:rPr>
                        <a:t>Analysis of airport wayfinding challenges and accessibility requirements</a:t>
                      </a:r>
                      <a:endParaRPr lang="en-IN" b="0">
                        <a:latin typeface="Times New Roman"/>
                        <a:cs typeface="Times New Roman"/>
                      </a:endParaRPr>
                    </a:p>
                  </a:txBody>
                  <a:tcPr/>
                </a:tc>
                <a:tc>
                  <a:txBody>
                    <a:bodyPr/>
                    <a:lstStyle/>
                    <a:p>
                      <a:pPr algn="ctr"/>
                      <a:r>
                        <a:rPr lang="en-US" b="0">
                          <a:latin typeface="Times New Roman"/>
                          <a:cs typeface="Times New Roman"/>
                        </a:rPr>
                        <a:t>Study of visually impaired travelers and airport wayfinding requirements</a:t>
                      </a:r>
                      <a:endParaRPr lang="en-IN" b="0">
                        <a:latin typeface="Times New Roman"/>
                        <a:cs typeface="Times New Roman"/>
                      </a:endParaRPr>
                    </a:p>
                  </a:txBody>
                  <a:tcPr/>
                </a:tc>
                <a:tc>
                  <a:txBody>
                    <a:bodyPr/>
                    <a:lstStyle/>
                    <a:p>
                      <a:pPr algn="ctr"/>
                      <a:r>
                        <a:rPr lang="en-US" b="0">
                          <a:latin typeface="Times New Roman" panose="02020603050405020304" pitchFamily="18" charset="0"/>
                          <a:cs typeface="Times New Roman" panose="02020603050405020304" pitchFamily="18" charset="0"/>
                        </a:rPr>
                        <a:t>Identifies real accessibility problems and critical airport destinations</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a:cs typeface="Times New Roman"/>
                        </a:rPr>
                        <a:t>Primarily a wayfinding/accessibility study, not an AI implementation</a:t>
                      </a:r>
                      <a:endParaRPr lang="en-IN" b="0">
                        <a:latin typeface="Times New Roman"/>
                        <a:cs typeface="Times New Roman"/>
                      </a:endParaRPr>
                    </a:p>
                  </a:txBody>
                  <a:tcPr/>
                </a:tc>
                <a:extLst>
                  <a:ext uri="{0D108BD9-81ED-4DB2-BD59-A6C34878D82A}">
                    <a16:rowId xmlns:a16="http://schemas.microsoft.com/office/drawing/2014/main" val="1002452953"/>
                  </a:ext>
                </a:extLst>
              </a:tr>
              <a:tr h="1238121">
                <a:tc>
                  <a:txBody>
                    <a:bodyPr/>
                    <a:lstStyle/>
                    <a:p>
                      <a:pPr algn="l"/>
                      <a:r>
                        <a:rPr lang="en-IN" b="0">
                          <a:latin typeface="Times New Roman"/>
                          <a:cs typeface="Times New Roman"/>
                        </a:rPr>
                        <a:t>8.</a:t>
                      </a:r>
                      <a:r>
                        <a:rPr lang="en-IN" b="0" baseline="0">
                          <a:latin typeface="Times New Roman"/>
                          <a:cs typeface="Times New Roman"/>
                        </a:rPr>
                        <a:t> </a:t>
                      </a:r>
                      <a:r>
                        <a:rPr lang="en-US" b="0">
                          <a:latin typeface="Times New Roman"/>
                          <a:cs typeface="Times New Roman"/>
                        </a:rPr>
                        <a:t>Design Mechanisms of Airport Visual Guidance Systems on Passenger Wayfinding Performance</a:t>
                      </a:r>
                      <a:endParaRPr lang="en-IN" b="0">
                        <a:latin typeface="Times New Roman"/>
                        <a:cs typeface="Times New Roman"/>
                      </a:endParaRPr>
                    </a:p>
                  </a:txBody>
                  <a:tcPr/>
                </a:tc>
                <a:tc>
                  <a:txBody>
                    <a:bodyPr/>
                    <a:lstStyle/>
                    <a:p>
                      <a:pPr algn="ctr"/>
                      <a:r>
                        <a:rPr lang="en-IN" b="0">
                          <a:latin typeface="Times New Roman"/>
                          <a:cs typeface="Times New Roman"/>
                        </a:rPr>
                        <a:t>Liyun Wang &amp; Xiaochan Wang; 2025</a:t>
                      </a:r>
                    </a:p>
                  </a:txBody>
                  <a:tcPr/>
                </a:tc>
                <a:tc>
                  <a:txBody>
                    <a:bodyPr/>
                    <a:lstStyle/>
                    <a:p>
                      <a:pPr algn="ctr"/>
                      <a:r>
                        <a:rPr lang="en-US" b="0">
                          <a:latin typeface="Times New Roman" panose="02020603050405020304" pitchFamily="18" charset="0"/>
                          <a:cs typeface="Times New Roman" panose="02020603050405020304" pitchFamily="18" charset="0"/>
                        </a:rPr>
                        <a:t>Causal machine learning and moderated mediation analysis of visual guidance</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a:cs typeface="Times New Roman"/>
                        </a:rPr>
                        <a:t>Airport passenger wayfinding/visual-guidance observations and evaluations</a:t>
                      </a:r>
                      <a:endParaRPr lang="en-IN" b="0">
                        <a:latin typeface="Times New Roman"/>
                        <a:cs typeface="Times New Roman"/>
                      </a:endParaRPr>
                    </a:p>
                  </a:txBody>
                  <a:tcPr/>
                </a:tc>
                <a:tc>
                  <a:txBody>
                    <a:bodyPr/>
                    <a:lstStyle/>
                    <a:p>
                      <a:pPr algn="ctr"/>
                      <a:r>
                        <a:rPr lang="en-US" b="0">
                          <a:latin typeface="Times New Roman"/>
                          <a:cs typeface="Times New Roman"/>
                        </a:rPr>
                        <a:t>Connects airport visual guidance with passenger wayfinding performance</a:t>
                      </a:r>
                      <a:endParaRPr lang="en-IN" b="0">
                        <a:latin typeface="Times New Roman"/>
                        <a:cs typeface="Times New Roman"/>
                      </a:endParaRPr>
                    </a:p>
                  </a:txBody>
                  <a:tcPr/>
                </a:tc>
                <a:tc>
                  <a:txBody>
                    <a:bodyPr/>
                    <a:lstStyle/>
                    <a:p>
                      <a:pPr algn="ctr"/>
                      <a:r>
                        <a:rPr lang="en-US" b="0">
                          <a:latin typeface="Times New Roman" panose="02020603050405020304" pitchFamily="18" charset="0"/>
                          <a:cs typeface="Times New Roman" panose="02020603050405020304" pitchFamily="18" charset="0"/>
                        </a:rPr>
                        <a:t>Concentrates on visual guidance design, rather than integrated digital/AI assistance</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3190123"/>
                  </a:ext>
                </a:extLst>
              </a:tr>
              <a:tr h="1207168">
                <a:tc>
                  <a:txBody>
                    <a:bodyPr/>
                    <a:lstStyle/>
                    <a:p>
                      <a:pPr algn="l"/>
                      <a:r>
                        <a:rPr lang="en-IN" b="0">
                          <a:latin typeface="Times New Roman" panose="02020603050405020304" pitchFamily="18" charset="0"/>
                          <a:cs typeface="Times New Roman" panose="02020603050405020304" pitchFamily="18" charset="0"/>
                        </a:rPr>
                        <a:t>9. F</a:t>
                      </a:r>
                      <a:r>
                        <a:rPr lang="en-US" b="0">
                          <a:latin typeface="Times New Roman" panose="02020603050405020304" pitchFamily="18" charset="0"/>
                          <a:cs typeface="Times New Roman" panose="02020603050405020304" pitchFamily="18" charset="0"/>
                        </a:rPr>
                        <a:t>light Delay Prediction for Commercial Air Transport: A Deep Learning Approach</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IN" b="0">
                          <a:latin typeface="Times New Roman" panose="02020603050405020304" pitchFamily="18" charset="0"/>
                          <a:cs typeface="Times New Roman" panose="02020603050405020304" pitchFamily="18" charset="0"/>
                        </a:rPr>
                        <a:t>B. Yu et al.; Transportation Research Part E, 2019</a:t>
                      </a:r>
                    </a:p>
                  </a:txBody>
                  <a:tcPr/>
                </a:tc>
                <a:tc>
                  <a:txBody>
                    <a:bodyPr/>
                    <a:lstStyle/>
                    <a:p>
                      <a:pPr algn="ctr"/>
                      <a:r>
                        <a:rPr lang="en-US" b="0">
                          <a:latin typeface="Times New Roman" panose="02020603050405020304" pitchFamily="18" charset="0"/>
                          <a:cs typeface="Times New Roman" panose="02020603050405020304" pitchFamily="18" charset="0"/>
                        </a:rPr>
                        <a:t>Deep Belief Network with Support Vector Regression for delay prediction</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High-dimensional data from Beijing Capital International Airport (PEK)</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Captures nonlinear delay patterns; useful for predictive flight management</a:t>
                      </a:r>
                      <a:endParaRPr lang="en-IN" b="0">
                        <a:latin typeface="Times New Roman" panose="02020603050405020304" pitchFamily="18" charset="0"/>
                        <a:cs typeface="Times New Roman" panose="02020603050405020304" pitchFamily="18" charset="0"/>
                      </a:endParaRPr>
                    </a:p>
                  </a:txBody>
                  <a:tcPr/>
                </a:tc>
                <a:tc>
                  <a:txBody>
                    <a:bodyPr/>
                    <a:lstStyle/>
                    <a:p>
                      <a:pPr algn="ctr"/>
                      <a:r>
                        <a:rPr lang="en-US" b="0">
                          <a:latin typeface="Times New Roman" panose="02020603050405020304" pitchFamily="18" charset="0"/>
                          <a:cs typeface="Times New Roman" panose="02020603050405020304" pitchFamily="18" charset="0"/>
                        </a:rPr>
                        <a:t>Focuses on delay prediction, not passenger assistance or personalized recommendations </a:t>
                      </a:r>
                      <a:endParaRPr lang="en-IN" b="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2398739"/>
                  </a:ext>
                </a:extLst>
              </a:tr>
              <a:tr h="2042899">
                <a:tc>
                  <a:txBody>
                    <a:bodyPr/>
                    <a:lstStyle/>
                    <a:p>
                      <a:pPr algn="l"/>
                      <a:r>
                        <a:rPr lang="en-US" b="0">
                          <a:latin typeface="Times New Roman"/>
                          <a:cs typeface="Times New Roman"/>
                        </a:rPr>
                        <a:t>10.</a:t>
                      </a:r>
                      <a:r>
                        <a:rPr lang="en-US" b="0" baseline="0">
                          <a:latin typeface="Times New Roman"/>
                          <a:cs typeface="Times New Roman"/>
                        </a:rPr>
                        <a:t> Chatbots in Airport Customer Service Exploring Use Cases and Technology Acceptance</a:t>
                      </a:r>
                      <a:endParaRPr lang="en-IN" b="0">
                        <a:latin typeface="Times New Roman"/>
                        <a:cs typeface="Times New Roman"/>
                      </a:endParaRPr>
                    </a:p>
                  </a:txBody>
                  <a:tcPr/>
                </a:tc>
                <a:tc>
                  <a:txBody>
                    <a:bodyPr/>
                    <a:lstStyle/>
                    <a:p>
                      <a:pPr algn="ctr"/>
                      <a:r>
                        <a:rPr lang="en-IN" b="0">
                          <a:latin typeface="Times New Roman"/>
                          <a:cs typeface="Times New Roman"/>
                        </a:rPr>
                        <a:t>I. Auer, S. Schlögl, G. Glowka; Future Internet, 2024, Vol. 16(5), 175</a:t>
                      </a:r>
                    </a:p>
                  </a:txBody>
                  <a:tcPr/>
                </a:tc>
                <a:tc>
                  <a:txBody>
                    <a:bodyPr/>
                    <a:lstStyle/>
                    <a:p>
                      <a:pPr algn="ctr"/>
                      <a:r>
                        <a:rPr lang="en-US" b="0">
                          <a:latin typeface="Times New Roman"/>
                          <a:cs typeface="Times New Roman"/>
                        </a:rPr>
                        <a:t>Extended Technology Acceptance Model (TAM) using perceived usefulness, ease of use, trust and enjoyment to study airport chatbot adoption</a:t>
                      </a:r>
                      <a:endParaRPr lang="en-IN" b="0">
                        <a:latin typeface="Times New Roman"/>
                        <a:cs typeface="Times New Roman"/>
                      </a:endParaRPr>
                    </a:p>
                  </a:txBody>
                  <a:tcPr/>
                </a:tc>
                <a:tc>
                  <a:txBody>
                    <a:bodyPr/>
                    <a:lstStyle/>
                    <a:p>
                      <a:pPr algn="ctr"/>
                      <a:r>
                        <a:rPr lang="en-IN" b="0">
                          <a:latin typeface="Times New Roman"/>
                          <a:cs typeface="Times New Roman"/>
                        </a:rPr>
                        <a:t>Survey of 191 travelers</a:t>
                      </a:r>
                    </a:p>
                  </a:txBody>
                  <a:tcPr/>
                </a:tc>
                <a:tc>
                  <a:txBody>
                    <a:bodyPr/>
                    <a:lstStyle/>
                    <a:p>
                      <a:pPr algn="ctr"/>
                      <a:r>
                        <a:rPr lang="en-US" b="0">
                          <a:latin typeface="Times New Roman"/>
                          <a:cs typeface="Times New Roman"/>
                        </a:rPr>
                        <a:t>Identifies airport chatbot use cases and shows that usefulness, trust, ease of use and enjoyment positively relate to intention to use airport chatbots</a:t>
                      </a:r>
                      <a:endParaRPr lang="en-IN" b="0">
                        <a:latin typeface="Times New Roman"/>
                        <a:cs typeface="Times New Roman"/>
                      </a:endParaRPr>
                    </a:p>
                  </a:txBody>
                  <a:tcPr/>
                </a:tc>
                <a:tc>
                  <a:txBody>
                    <a:bodyPr/>
                    <a:lstStyle/>
                    <a:p>
                      <a:pPr algn="ctr"/>
                      <a:r>
                        <a:rPr lang="en-US" b="0">
                          <a:latin typeface="Times New Roman"/>
                          <a:cs typeface="Times New Roman"/>
                        </a:rPr>
                        <a:t>Studies acceptance and customer-service use cases, rather than implementing context-aware or agentic AI; does not integrate navigation, flight, baggage and emergency services</a:t>
                      </a:r>
                      <a:endParaRPr lang="en-IN" b="0">
                        <a:latin typeface="Times New Roman"/>
                        <a:cs typeface="Times New Roman"/>
                      </a:endParaRPr>
                    </a:p>
                  </a:txBody>
                  <a:tcPr/>
                </a:tc>
                <a:extLst>
                  <a:ext uri="{0D108BD9-81ED-4DB2-BD59-A6C34878D82A}">
                    <a16:rowId xmlns:a16="http://schemas.microsoft.com/office/drawing/2014/main" val="10005"/>
                  </a:ext>
                </a:extLst>
              </a:tr>
            </a:tbl>
          </a:graphicData>
        </a:graphic>
      </p:graphicFrame>
      <p:sp>
        <p:nvSpPr>
          <p:cNvPr id="5" name="Freeform 3"/>
          <p:cNvSpPr/>
          <p:nvPr/>
        </p:nvSpPr>
        <p:spPr>
          <a:xfrm>
            <a:off x="16002000" y="1"/>
            <a:ext cx="2073361" cy="1257300"/>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Tree>
    <p:extLst>
      <p:ext uri="{BB962C8B-B14F-4D97-AF65-F5344CB8AC3E}">
        <p14:creationId xmlns:p14="http://schemas.microsoft.com/office/powerpoint/2010/main" val="2351340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43147-CBE2-6AE7-B9A5-4516FF78DE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7767D8-7234-4FF6-7F15-B374069189B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DFA34D3B-4A1D-6E7B-F780-1D3D4CA712E3}"/>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79D943AF-14A3-8AE8-A89D-B5AA7223B3D8}"/>
              </a:ext>
            </a:extLst>
          </p:cNvPr>
          <p:cNvSpPr txBox="1"/>
          <p:nvPr/>
        </p:nvSpPr>
        <p:spPr>
          <a:xfrm>
            <a:off x="-892851" y="297890"/>
            <a:ext cx="15523886" cy="1471878"/>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Chapter 3 – Approach / Design Methodology</a:t>
            </a:r>
            <a:br>
              <a:rPr lang="en-US" sz="4250" b="1">
                <a:solidFill>
                  <a:srgbClr val="000000"/>
                </a:solidFill>
                <a:latin typeface="Open Sauce Bold"/>
                <a:ea typeface="Open Sauce Bold"/>
                <a:cs typeface="Open Sauce Bold"/>
              </a:rPr>
            </a:br>
            <a:r>
              <a:rPr lang="en-US" sz="4250" b="1">
                <a:solidFill>
                  <a:srgbClr val="000000"/>
                </a:solidFill>
                <a:latin typeface="Open Sauce Bold"/>
                <a:ea typeface="Open Sauce Bold"/>
                <a:cs typeface="Open Sauce Bold"/>
              </a:rPr>
              <a:t>3.1  Overview of Phase –I Work and Outcomes</a:t>
            </a:r>
          </a:p>
        </p:txBody>
      </p:sp>
      <p:sp>
        <p:nvSpPr>
          <p:cNvPr id="6" name="TextBox 5">
            <a:extLst>
              <a:ext uri="{FF2B5EF4-FFF2-40B4-BE49-F238E27FC236}">
                <a16:creationId xmlns:a16="http://schemas.microsoft.com/office/drawing/2014/main" id="{1E4C542F-F555-B038-833A-B4F8DC018FE5}"/>
              </a:ext>
            </a:extLst>
          </p:cNvPr>
          <p:cNvSpPr txBox="1"/>
          <p:nvPr/>
        </p:nvSpPr>
        <p:spPr>
          <a:xfrm>
            <a:off x="869476" y="1983352"/>
            <a:ext cx="16561465" cy="78483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a:p>
          <a:p>
            <a:r>
              <a:rPr lang="en-GB" sz="2700">
                <a:latin typeface="Times New Roman"/>
                <a:ea typeface="+mn-lt"/>
                <a:cs typeface="Times New Roman"/>
              </a:rPr>
              <a:t>• Boarding-Pass Information Extraction:</a:t>
            </a:r>
            <a:endParaRPr lang="en-GB" sz="2700">
              <a:latin typeface="Times New Roman"/>
              <a:cs typeface="Times New Roman"/>
            </a:endParaRPr>
          </a:p>
          <a:p>
            <a:r>
              <a:rPr lang="en-GB" sz="2700">
                <a:latin typeface="Times New Roman"/>
                <a:ea typeface="+mn-lt"/>
                <a:cs typeface="Times New Roman"/>
              </a:rPr>
              <a:t>  Developed a QR-based module to automatically extract passenger and flight information from boarding passes.</a:t>
            </a:r>
            <a:endParaRPr lang="en-GB" sz="2700">
              <a:latin typeface="Times New Roman"/>
              <a:cs typeface="Times New Roman"/>
            </a:endParaRPr>
          </a:p>
          <a:p>
            <a:endParaRPr lang="en-GB" sz="2700">
              <a:latin typeface="Times New Roman"/>
              <a:cs typeface="Times New Roman"/>
            </a:endParaRPr>
          </a:p>
          <a:p>
            <a:r>
              <a:rPr lang="en-GB" sz="2700">
                <a:latin typeface="Times New Roman"/>
                <a:ea typeface="+mn-lt"/>
                <a:cs typeface="Times New Roman"/>
              </a:rPr>
              <a:t>• Passenger Context Generation:</a:t>
            </a:r>
            <a:endParaRPr lang="en-GB" sz="2700">
              <a:latin typeface="Times New Roman"/>
              <a:cs typeface="Times New Roman"/>
            </a:endParaRPr>
          </a:p>
          <a:p>
            <a:r>
              <a:rPr lang="en-GB" sz="2700">
                <a:latin typeface="Times New Roman"/>
                <a:ea typeface="+mn-lt"/>
                <a:cs typeface="Times New Roman"/>
              </a:rPr>
              <a:t>  Generated structured passenger profiles from the extracted boarding-pass information to support personalized assistance.</a:t>
            </a:r>
            <a:endParaRPr lang="en-GB" sz="2700">
              <a:latin typeface="Times New Roman"/>
              <a:cs typeface="Times New Roman"/>
            </a:endParaRPr>
          </a:p>
          <a:p>
            <a:endParaRPr lang="en-GB" sz="2700">
              <a:latin typeface="Times New Roman"/>
              <a:cs typeface="Times New Roman"/>
            </a:endParaRPr>
          </a:p>
          <a:p>
            <a:r>
              <a:rPr lang="en-GB" sz="2700">
                <a:latin typeface="Times New Roman"/>
                <a:ea typeface="+mn-lt"/>
                <a:cs typeface="Times New Roman"/>
              </a:rPr>
              <a:t>• Multilingual Conversational AI:</a:t>
            </a:r>
            <a:endParaRPr lang="en-GB" sz="2700">
              <a:latin typeface="Times New Roman"/>
              <a:cs typeface="Times New Roman"/>
            </a:endParaRPr>
          </a:p>
          <a:p>
            <a:r>
              <a:rPr lang="en-GB" sz="2700">
                <a:latin typeface="Times New Roman"/>
                <a:ea typeface="+mn-lt"/>
                <a:cs typeface="Times New Roman"/>
              </a:rPr>
              <a:t>  Developed text- and voice-based conversational assistance with automatic language detection and support for multiple languages.</a:t>
            </a:r>
            <a:endParaRPr lang="en-GB" sz="2700">
              <a:latin typeface="Times New Roman"/>
              <a:cs typeface="Times New Roman"/>
            </a:endParaRPr>
          </a:p>
          <a:p>
            <a:endParaRPr lang="en-GB" sz="2700">
              <a:latin typeface="Times New Roman"/>
              <a:cs typeface="Times New Roman"/>
            </a:endParaRPr>
          </a:p>
          <a:p>
            <a:r>
              <a:rPr lang="en-GB" sz="2700">
                <a:latin typeface="Times New Roman"/>
                <a:ea typeface="+mn-lt"/>
                <a:cs typeface="Times New Roman"/>
              </a:rPr>
              <a:t>• Knowledge-Based Airport Assistance:</a:t>
            </a:r>
            <a:endParaRPr lang="en-GB" sz="2700">
              <a:latin typeface="Times New Roman"/>
              <a:cs typeface="Times New Roman"/>
            </a:endParaRPr>
          </a:p>
          <a:p>
            <a:r>
              <a:rPr lang="en-GB" sz="2700">
                <a:latin typeface="Times New Roman"/>
                <a:ea typeface="+mn-lt"/>
                <a:cs typeface="Times New Roman"/>
              </a:rPr>
              <a:t>  Integrated passenger context with airport-related knowledge to provide baggage guidance, airport-service recommendations, transit assistance, and travel-related responses.</a:t>
            </a:r>
            <a:endParaRPr lang="en-GB" sz="2700">
              <a:latin typeface="Times New Roman"/>
              <a:cs typeface="Times New Roman"/>
            </a:endParaRPr>
          </a:p>
          <a:p>
            <a:endParaRPr lang="en-GB" sz="2700">
              <a:latin typeface="Times New Roman"/>
              <a:cs typeface="Times New Roman"/>
            </a:endParaRPr>
          </a:p>
          <a:p>
            <a:r>
              <a:rPr lang="en-GB" sz="2700">
                <a:latin typeface="Times New Roman"/>
                <a:ea typeface="+mn-lt"/>
                <a:cs typeface="Times New Roman"/>
              </a:rPr>
              <a:t>• Prototype Evaluation:</a:t>
            </a:r>
            <a:endParaRPr lang="en-GB" sz="2700">
              <a:latin typeface="Times New Roman"/>
              <a:cs typeface="Times New Roman"/>
            </a:endParaRPr>
          </a:p>
          <a:p>
            <a:r>
              <a:rPr lang="en-GB" sz="2700">
                <a:latin typeface="Times New Roman"/>
                <a:ea typeface="+mn-lt"/>
                <a:cs typeface="Times New Roman"/>
              </a:rPr>
              <a:t>  Evaluated the integrated system using multiple passenger scenarios, including domestic travel, international travel, transit, baggage inquiries, and airport services.</a:t>
            </a:r>
            <a:endParaRPr lang="en-GB" sz="2700">
              <a:latin typeface="Times New Roman"/>
              <a:cs typeface="Times New Roman"/>
            </a:endParaRPr>
          </a:p>
        </p:txBody>
      </p:sp>
    </p:spTree>
    <p:extLst>
      <p:ext uri="{BB962C8B-B14F-4D97-AF65-F5344CB8AC3E}">
        <p14:creationId xmlns:p14="http://schemas.microsoft.com/office/powerpoint/2010/main" val="3344786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ED6C2-9BB9-91D3-E708-EFFED26F5A3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682C3C3-A361-49F4-7A8B-68929DF607B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C4B8957F-88CF-B1E8-3D30-BF1F71FED887}"/>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14C66AC3-A84D-4E90-DE1C-54FE07C26E21}"/>
              </a:ext>
            </a:extLst>
          </p:cNvPr>
          <p:cNvSpPr txBox="1"/>
          <p:nvPr/>
        </p:nvSpPr>
        <p:spPr>
          <a:xfrm>
            <a:off x="-892851" y="297890"/>
            <a:ext cx="15523886"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3.1  Overview of Phase –I Work and Outcomes</a:t>
            </a:r>
          </a:p>
        </p:txBody>
      </p:sp>
      <p:pic>
        <p:nvPicPr>
          <p:cNvPr id="5" name="Picture 4">
            <a:extLst>
              <a:ext uri="{FF2B5EF4-FFF2-40B4-BE49-F238E27FC236}">
                <a16:creationId xmlns:a16="http://schemas.microsoft.com/office/drawing/2014/main" id="{CB953C6A-848C-9C5E-B7CF-0B0398CC1C1F}"/>
              </a:ext>
            </a:extLst>
          </p:cNvPr>
          <p:cNvPicPr>
            <a:picLocks noChangeAspect="1"/>
          </p:cNvPicPr>
          <p:nvPr/>
        </p:nvPicPr>
        <p:blipFill>
          <a:blip r:embed="rId4"/>
          <a:stretch>
            <a:fillRect/>
          </a:stretch>
        </p:blipFill>
        <p:spPr>
          <a:xfrm>
            <a:off x="4223879" y="6206387"/>
            <a:ext cx="8478033" cy="3839749"/>
          </a:xfrm>
          <a:prstGeom prst="rect">
            <a:avLst/>
          </a:prstGeom>
        </p:spPr>
      </p:pic>
      <p:sp>
        <p:nvSpPr>
          <p:cNvPr id="7" name="TextBox 6">
            <a:extLst>
              <a:ext uri="{FF2B5EF4-FFF2-40B4-BE49-F238E27FC236}">
                <a16:creationId xmlns:a16="http://schemas.microsoft.com/office/drawing/2014/main" id="{C7C9FD92-D5F6-D6EC-D41C-BE3EA211A95F}"/>
              </a:ext>
            </a:extLst>
          </p:cNvPr>
          <p:cNvSpPr txBox="1"/>
          <p:nvPr/>
        </p:nvSpPr>
        <p:spPr>
          <a:xfrm>
            <a:off x="961733" y="1968303"/>
            <a:ext cx="1589552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Times New Roman"/>
                <a:ea typeface="+mn-lt"/>
                <a:cs typeface="Times New Roman"/>
              </a:rPr>
              <a:t>PASSENGER INFORMATION EXTRACTION</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Developed a QR-based boarding-pass information extraction module to automatically capture passenger and flight details.</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The system extracts key information including passenger name, flight number, terminal, gate, departure time, airline, seat number, and ticket identifier.</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The extracted information is automatically used to generate a structured passenger profile without requiring manual data entry.</a:t>
            </a:r>
            <a:endParaRPr lang="en-US" sz="2700">
              <a:latin typeface="Times New Roman"/>
              <a:cs typeface="Times New Roman"/>
            </a:endParaRPr>
          </a:p>
        </p:txBody>
      </p:sp>
    </p:spTree>
    <p:extLst>
      <p:ext uri="{BB962C8B-B14F-4D97-AF65-F5344CB8AC3E}">
        <p14:creationId xmlns:p14="http://schemas.microsoft.com/office/powerpoint/2010/main" val="2553409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21CB4-C89B-61EA-F025-51F4CE83A2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3C015F8-BA52-42B8-16EC-235842EEA35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75651F8-2902-B144-5DF0-0586D1C82EBE}"/>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816FCDB8-7101-8D1D-E1B1-41C93D56C713}"/>
              </a:ext>
            </a:extLst>
          </p:cNvPr>
          <p:cNvSpPr txBox="1"/>
          <p:nvPr/>
        </p:nvSpPr>
        <p:spPr>
          <a:xfrm>
            <a:off x="-892851" y="297890"/>
            <a:ext cx="15523886"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3.1  Overview of Phase –I Work and Outcomes</a:t>
            </a:r>
          </a:p>
        </p:txBody>
      </p:sp>
      <p:sp>
        <p:nvSpPr>
          <p:cNvPr id="7" name="TextBox 6">
            <a:extLst>
              <a:ext uri="{FF2B5EF4-FFF2-40B4-BE49-F238E27FC236}">
                <a16:creationId xmlns:a16="http://schemas.microsoft.com/office/drawing/2014/main" id="{2C11B825-40D5-5D6D-3129-6B023EB0D119}"/>
              </a:ext>
            </a:extLst>
          </p:cNvPr>
          <p:cNvSpPr txBox="1"/>
          <p:nvPr/>
        </p:nvSpPr>
        <p:spPr>
          <a:xfrm>
            <a:off x="978298" y="1537607"/>
            <a:ext cx="15895527" cy="38318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ea typeface="+mn-lt"/>
                <a:cs typeface="+mn-lt"/>
              </a:rPr>
              <a:t>MULTILINGUAL CONVERSATIONAL ASSISTANCE</a:t>
            </a:r>
            <a:endParaRPr lang="en-US"/>
          </a:p>
          <a:p>
            <a:endParaRPr lang="en-US"/>
          </a:p>
          <a:p>
            <a:r>
              <a:rPr lang="en-US" sz="2700">
                <a:ea typeface="+mn-lt"/>
                <a:cs typeface="+mn-lt"/>
              </a:rPr>
              <a:t>• Developed a multilingual conversational AI subsystem to support natural interaction between passengers and airport services.</a:t>
            </a:r>
            <a:endParaRPr lang="en-US">
              <a:ea typeface="+mn-lt"/>
              <a:cs typeface="+mn-lt"/>
            </a:endParaRPr>
          </a:p>
          <a:p>
            <a:endParaRPr lang="en-US"/>
          </a:p>
          <a:p>
            <a:r>
              <a:rPr lang="en-US" sz="2700">
                <a:ea typeface="+mn-lt"/>
                <a:cs typeface="+mn-lt"/>
              </a:rPr>
              <a:t>• The system supports both text and voice interactions, with automatic language detection, contextual translation, and passenger-specific response generation.</a:t>
            </a:r>
          </a:p>
          <a:p>
            <a:endParaRPr lang="en-US">
              <a:ea typeface="+mn-lt"/>
              <a:cs typeface="+mn-lt"/>
            </a:endParaRPr>
          </a:p>
          <a:p>
            <a:r>
              <a:rPr lang="en-US" sz="2700">
                <a:ea typeface="+mn-lt"/>
                <a:cs typeface="+mn-lt"/>
              </a:rPr>
              <a:t>•Automatically detects the language in the uploaded image and translates the extracted text into the passenger’s selected destination language.</a:t>
            </a:r>
            <a:endParaRPr lang="en-US">
              <a:ea typeface="+mn-lt"/>
              <a:cs typeface="+mn-lt"/>
            </a:endParaRPr>
          </a:p>
        </p:txBody>
      </p:sp>
      <p:pic>
        <p:nvPicPr>
          <p:cNvPr id="8" name="Picture 7">
            <a:extLst>
              <a:ext uri="{FF2B5EF4-FFF2-40B4-BE49-F238E27FC236}">
                <a16:creationId xmlns:a16="http://schemas.microsoft.com/office/drawing/2014/main" id="{7B17AE9C-13E5-01C6-4097-105D8ACC50F6}"/>
              </a:ext>
            </a:extLst>
          </p:cNvPr>
          <p:cNvPicPr>
            <a:picLocks noChangeAspect="1"/>
          </p:cNvPicPr>
          <p:nvPr/>
        </p:nvPicPr>
        <p:blipFill>
          <a:blip r:embed="rId4"/>
          <a:stretch>
            <a:fillRect/>
          </a:stretch>
        </p:blipFill>
        <p:spPr>
          <a:xfrm>
            <a:off x="5574366" y="5574500"/>
            <a:ext cx="8248650" cy="4429125"/>
          </a:xfrm>
          <a:prstGeom prst="rect">
            <a:avLst/>
          </a:prstGeom>
        </p:spPr>
      </p:pic>
    </p:spTree>
    <p:extLst>
      <p:ext uri="{BB962C8B-B14F-4D97-AF65-F5344CB8AC3E}">
        <p14:creationId xmlns:p14="http://schemas.microsoft.com/office/powerpoint/2010/main" val="306814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B9C97-A158-9C95-E1F4-84EDA4F975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7A4DDA-D47E-0231-2892-443E54F7E80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2539B836-E96E-F678-BCE7-DE1BA5B674EE}"/>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9AADC58E-8305-F354-D871-7922B75D1356}"/>
              </a:ext>
            </a:extLst>
          </p:cNvPr>
          <p:cNvSpPr txBox="1"/>
          <p:nvPr/>
        </p:nvSpPr>
        <p:spPr>
          <a:xfrm>
            <a:off x="-892851" y="297890"/>
            <a:ext cx="15523886"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3.1  Overview of Phase –I Work and Outcomes</a:t>
            </a:r>
          </a:p>
        </p:txBody>
      </p:sp>
      <p:pic>
        <p:nvPicPr>
          <p:cNvPr id="5" name="Picture 4">
            <a:extLst>
              <a:ext uri="{FF2B5EF4-FFF2-40B4-BE49-F238E27FC236}">
                <a16:creationId xmlns:a16="http://schemas.microsoft.com/office/drawing/2014/main" id="{AFE094B8-6FC9-31D2-592D-CE984D630FE7}"/>
              </a:ext>
            </a:extLst>
          </p:cNvPr>
          <p:cNvPicPr>
            <a:picLocks noChangeAspect="1"/>
          </p:cNvPicPr>
          <p:nvPr/>
        </p:nvPicPr>
        <p:blipFill>
          <a:blip r:embed="rId4"/>
          <a:stretch>
            <a:fillRect/>
          </a:stretch>
        </p:blipFill>
        <p:spPr>
          <a:xfrm>
            <a:off x="2720301" y="2115007"/>
            <a:ext cx="11907945" cy="6965123"/>
          </a:xfrm>
          <a:prstGeom prst="rect">
            <a:avLst/>
          </a:prstGeom>
        </p:spPr>
      </p:pic>
    </p:spTree>
    <p:extLst>
      <p:ext uri="{BB962C8B-B14F-4D97-AF65-F5344CB8AC3E}">
        <p14:creationId xmlns:p14="http://schemas.microsoft.com/office/powerpoint/2010/main" val="1270528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292BB-4EA4-B1EB-A3F9-47D58EFC87F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9247A1-1A98-70CB-85A1-0E5DBB96137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4F4961F-8FED-2271-B6C6-B2F90397A62B}"/>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BA3F3803-F69B-06B0-C79D-82084EF8A68C}"/>
              </a:ext>
            </a:extLst>
          </p:cNvPr>
          <p:cNvSpPr txBox="1"/>
          <p:nvPr/>
        </p:nvSpPr>
        <p:spPr>
          <a:xfrm>
            <a:off x="-892851" y="297890"/>
            <a:ext cx="15523886"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3.1  Overview of Phase –I Work and Outcomes</a:t>
            </a:r>
          </a:p>
        </p:txBody>
      </p:sp>
      <p:sp>
        <p:nvSpPr>
          <p:cNvPr id="7" name="TextBox 6">
            <a:extLst>
              <a:ext uri="{FF2B5EF4-FFF2-40B4-BE49-F238E27FC236}">
                <a16:creationId xmlns:a16="http://schemas.microsoft.com/office/drawing/2014/main" id="{1CD95A30-986E-BAA2-91D7-CF48D65C189D}"/>
              </a:ext>
            </a:extLst>
          </p:cNvPr>
          <p:cNvSpPr txBox="1"/>
          <p:nvPr/>
        </p:nvSpPr>
        <p:spPr>
          <a:xfrm>
            <a:off x="978298" y="1553264"/>
            <a:ext cx="16521828"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ea typeface="+mn-lt"/>
                <a:cs typeface="+mn-lt"/>
              </a:rPr>
              <a:t>END-TO-END PASSENGER ASSISTANCE &amp; PERFORMANCE OUTCOMES</a:t>
            </a:r>
            <a:endParaRPr lang="en-US"/>
          </a:p>
          <a:p>
            <a:endParaRPr lang="en-US" sz="2700">
              <a:ea typeface="+mn-lt"/>
              <a:cs typeface="+mn-lt"/>
            </a:endParaRPr>
          </a:p>
          <a:p>
            <a:r>
              <a:rPr lang="en-US" sz="2700">
                <a:ea typeface="+mn-lt"/>
                <a:cs typeface="+mn-lt"/>
              </a:rPr>
              <a:t>• Based on the extracted passenger context, the system provides baggage guidance, airport-service recommendations, transit assistance, and multilingual conversational support without requiring manual flight-information entry.</a:t>
            </a:r>
            <a:endParaRPr lang="en-US">
              <a:ea typeface="Calibri"/>
              <a:cs typeface="Calibri"/>
            </a:endParaRPr>
          </a:p>
        </p:txBody>
      </p:sp>
      <p:pic>
        <p:nvPicPr>
          <p:cNvPr id="5" name="Picture 4">
            <a:extLst>
              <a:ext uri="{FF2B5EF4-FFF2-40B4-BE49-F238E27FC236}">
                <a16:creationId xmlns:a16="http://schemas.microsoft.com/office/drawing/2014/main" id="{F27F6143-864A-2692-314F-B385F286D593}"/>
              </a:ext>
            </a:extLst>
          </p:cNvPr>
          <p:cNvPicPr>
            <a:picLocks noChangeAspect="1"/>
          </p:cNvPicPr>
          <p:nvPr/>
        </p:nvPicPr>
        <p:blipFill>
          <a:blip r:embed="rId4"/>
          <a:stretch>
            <a:fillRect/>
          </a:stretch>
        </p:blipFill>
        <p:spPr>
          <a:xfrm>
            <a:off x="4570743" y="3554260"/>
            <a:ext cx="9083885" cy="6560506"/>
          </a:xfrm>
          <a:prstGeom prst="rect">
            <a:avLst/>
          </a:prstGeom>
        </p:spPr>
      </p:pic>
    </p:spTree>
    <p:extLst>
      <p:ext uri="{BB962C8B-B14F-4D97-AF65-F5344CB8AC3E}">
        <p14:creationId xmlns:p14="http://schemas.microsoft.com/office/powerpoint/2010/main" val="1939438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0668A-07E5-9812-2F1B-2F131A9BED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C85DDB-37BF-54A5-1951-21B60D36BAD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53E0B710-6A8B-A4E9-690E-ECB208B2E57D}"/>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D89F8E93-3E5E-49A9-48D9-DB0613395D51}"/>
              </a:ext>
            </a:extLst>
          </p:cNvPr>
          <p:cNvSpPr txBox="1"/>
          <p:nvPr/>
        </p:nvSpPr>
        <p:spPr>
          <a:xfrm>
            <a:off x="-892851" y="297890"/>
            <a:ext cx="15523886" cy="702436"/>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latin typeface="Open Sauce Bold"/>
                <a:ea typeface="Open Sauce Bold"/>
                <a:cs typeface="Open Sauce Bold"/>
              </a:rPr>
              <a:t>3.1  Overview of Phase –I Work and Outcomes</a:t>
            </a:r>
          </a:p>
        </p:txBody>
      </p:sp>
      <p:pic>
        <p:nvPicPr>
          <p:cNvPr id="6" name="Picture 5">
            <a:extLst>
              <a:ext uri="{FF2B5EF4-FFF2-40B4-BE49-F238E27FC236}">
                <a16:creationId xmlns:a16="http://schemas.microsoft.com/office/drawing/2014/main" id="{18393A0C-981E-2231-1B20-25C5C0F843E6}"/>
              </a:ext>
            </a:extLst>
          </p:cNvPr>
          <p:cNvPicPr>
            <a:picLocks noChangeAspect="1"/>
          </p:cNvPicPr>
          <p:nvPr/>
        </p:nvPicPr>
        <p:blipFill>
          <a:blip r:embed="rId4"/>
          <a:stretch>
            <a:fillRect/>
          </a:stretch>
        </p:blipFill>
        <p:spPr>
          <a:xfrm>
            <a:off x="1599743" y="1296546"/>
            <a:ext cx="13023808" cy="8250479"/>
          </a:xfrm>
          <a:prstGeom prst="rect">
            <a:avLst/>
          </a:prstGeom>
        </p:spPr>
      </p:pic>
    </p:spTree>
    <p:extLst>
      <p:ext uri="{BB962C8B-B14F-4D97-AF65-F5344CB8AC3E}">
        <p14:creationId xmlns:p14="http://schemas.microsoft.com/office/powerpoint/2010/main" val="4269136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490F-0F4B-7B42-1549-3465D984AE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CB1017-AC1B-9E6A-9848-FC8739E9CB7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lIns="91440" tIns="45720" rIns="91440" bIns="45720"/>
          <a:lstStyle/>
          <a:p>
            <a:endParaRPr lang="en-IN">
              <a:ea typeface="Calibri"/>
              <a:cs typeface="Calibri"/>
            </a:endParaRPr>
          </a:p>
        </p:txBody>
      </p:sp>
      <p:sp>
        <p:nvSpPr>
          <p:cNvPr id="3" name="Freeform 3">
            <a:extLst>
              <a:ext uri="{FF2B5EF4-FFF2-40B4-BE49-F238E27FC236}">
                <a16:creationId xmlns:a16="http://schemas.microsoft.com/office/drawing/2014/main" id="{57C1C3C7-C68C-FE31-6E13-445F83C15460}"/>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A8AF5826-C2EE-A4F1-C1B5-A3BCA962E26C}"/>
              </a:ext>
            </a:extLst>
          </p:cNvPr>
          <p:cNvSpPr txBox="1"/>
          <p:nvPr/>
        </p:nvSpPr>
        <p:spPr>
          <a:xfrm>
            <a:off x="-843156"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3.2</a:t>
            </a:r>
            <a:r>
              <a:rPr lang="en-US" sz="4250">
                <a:ea typeface="+mn-lt"/>
                <a:cs typeface="+mn-lt"/>
              </a:rPr>
              <a:t>  </a:t>
            </a:r>
            <a:r>
              <a:rPr lang="en-US" sz="4250" b="1">
                <a:ea typeface="+mn-lt"/>
                <a:cs typeface="+mn-lt"/>
              </a:rPr>
              <a:t>Refinement of Problem and Objectives based on Feedback</a:t>
            </a:r>
            <a:endParaRPr lang="en-US" sz="4250" b="1">
              <a:solidFill>
                <a:srgbClr val="000000"/>
              </a:solidFill>
              <a:latin typeface="Open Sauce Bold"/>
              <a:ea typeface="Open Sauce Bold"/>
              <a:cs typeface="Open Sauce Bold"/>
            </a:endParaRPr>
          </a:p>
        </p:txBody>
      </p:sp>
      <p:sp>
        <p:nvSpPr>
          <p:cNvPr id="5" name="TextBox 4">
            <a:extLst>
              <a:ext uri="{FF2B5EF4-FFF2-40B4-BE49-F238E27FC236}">
                <a16:creationId xmlns:a16="http://schemas.microsoft.com/office/drawing/2014/main" id="{2F7CEEB7-B945-3849-4F7F-095A2D1C74F7}"/>
              </a:ext>
            </a:extLst>
          </p:cNvPr>
          <p:cNvSpPr txBox="1"/>
          <p:nvPr/>
        </p:nvSpPr>
        <p:spPr>
          <a:xfrm>
            <a:off x="765968" y="1614742"/>
            <a:ext cx="15981814"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Times New Roman"/>
                <a:ea typeface="+mn-lt"/>
                <a:cs typeface="Times New Roman"/>
              </a:rPr>
              <a:t>* Initially, the project problems were identified as individual passenger-level issues such as airport navigation, flight updates, baggage, transit, language barriers, emergency assistance, and passenger–guardian communication.</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Based on the feedback, these individual issues were consolidated into four broader problem areas to provide a clear and structured problem definition.</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The refined problem areas focus on fragmented passenger information and service access, communication and language barriers, complex airport mobility and changing travel information, and limited integrated safety and assistance mechanisms.</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The objectives were refined accordingly and aligned with these four major problem areas: intelligent passenger information and assistance, AI-driven multilingual and conversational assistance, intelligent mobility and navigation, and integrated passenger safety and assistance.</a:t>
            </a:r>
            <a:endParaRPr lang="en-US" sz="2700">
              <a:latin typeface="Times New Roman"/>
              <a:cs typeface="Times New Roman"/>
            </a:endParaRPr>
          </a:p>
          <a:p>
            <a:endParaRPr lang="en-US" sz="2700">
              <a:latin typeface="Times New Roman"/>
              <a:cs typeface="Times New Roman"/>
            </a:endParaRPr>
          </a:p>
          <a:p>
            <a:r>
              <a:rPr lang="en-US" sz="2700">
                <a:latin typeface="Times New Roman"/>
                <a:ea typeface="+mn-lt"/>
                <a:cs typeface="Times New Roman"/>
              </a:rPr>
              <a:t>* This refinement established a clear relationship between the identified problems and the project objectives, providing a structured foundation for developing the SIPAS framework.</a:t>
            </a:r>
            <a:endParaRPr lang="en-US" sz="2700">
              <a:latin typeface="Times New Roman"/>
              <a:cs typeface="Times New Roman"/>
            </a:endParaRPr>
          </a:p>
        </p:txBody>
      </p:sp>
    </p:spTree>
    <p:extLst>
      <p:ext uri="{BB962C8B-B14F-4D97-AF65-F5344CB8AC3E}">
        <p14:creationId xmlns:p14="http://schemas.microsoft.com/office/powerpoint/2010/main" val="322487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8897B-6761-7A40-44F6-0EBAECA19B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D53B1D-7B40-9E8A-D17D-5D3F282411B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78394EDC-10FF-0EC1-AD84-2020A85F71A7}"/>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D89F221D-0D66-0A3F-00FE-DE730CB1D260}"/>
              </a:ext>
            </a:extLst>
          </p:cNvPr>
          <p:cNvSpPr txBox="1"/>
          <p:nvPr/>
        </p:nvSpPr>
        <p:spPr>
          <a:xfrm>
            <a:off x="322373" y="413846"/>
            <a:ext cx="13397574" cy="716991"/>
          </a:xfrm>
          <a:prstGeom prst="rect">
            <a:avLst/>
          </a:prstGeom>
        </p:spPr>
        <p:txBody>
          <a:bodyPr wrap="square" lIns="0" tIns="0" rIns="0" bIns="0" rtlCol="0" anchor="t">
            <a:spAutoFit/>
          </a:bodyPr>
          <a:lstStyle/>
          <a:p>
            <a:pPr algn="ctr">
              <a:lnSpc>
                <a:spcPts val="6008"/>
              </a:lnSpc>
              <a:spcBef>
                <a:spcPct val="0"/>
              </a:spcBef>
            </a:pPr>
            <a:r>
              <a:rPr lang="en-US" sz="4250" b="1">
                <a:solidFill>
                  <a:srgbClr val="000000"/>
                </a:solidFill>
                <a:ea typeface="+mn-lt"/>
                <a:cs typeface="+mn-lt"/>
              </a:rPr>
              <a:t>3.3</a:t>
            </a:r>
            <a:r>
              <a:rPr lang="en-US" sz="4250">
                <a:solidFill>
                  <a:srgbClr val="000000"/>
                </a:solidFill>
                <a:ea typeface="+mn-lt"/>
                <a:cs typeface="+mn-lt"/>
              </a:rPr>
              <a:t>  </a:t>
            </a:r>
            <a:r>
              <a:rPr lang="en-US" sz="4250" b="1">
                <a:solidFill>
                  <a:srgbClr val="000000"/>
                </a:solidFill>
                <a:ea typeface="+mn-lt"/>
                <a:cs typeface="+mn-lt"/>
              </a:rPr>
              <a:t>Selection of Approach / Methodology (</a:t>
            </a:r>
            <a:r>
              <a:rPr lang="en-US" sz="4250" b="1" err="1">
                <a:solidFill>
                  <a:srgbClr val="000000"/>
                </a:solidFill>
                <a:ea typeface="+mn-lt"/>
                <a:cs typeface="+mn-lt"/>
              </a:rPr>
              <a:t>Architechture</a:t>
            </a:r>
            <a:r>
              <a:rPr lang="en-US" sz="4250" b="1">
                <a:solidFill>
                  <a:srgbClr val="000000"/>
                </a:solidFill>
                <a:ea typeface="+mn-lt"/>
                <a:cs typeface="+mn-lt"/>
              </a:rPr>
              <a:t>):</a:t>
            </a:r>
            <a:endParaRPr lang="en-US"/>
          </a:p>
        </p:txBody>
      </p:sp>
      <p:pic>
        <p:nvPicPr>
          <p:cNvPr id="7" name="Picture 6">
            <a:extLst>
              <a:ext uri="{FF2B5EF4-FFF2-40B4-BE49-F238E27FC236}">
                <a16:creationId xmlns:a16="http://schemas.microsoft.com/office/drawing/2014/main" id="{1FA1F86A-1A47-FD77-6AA1-BC1A4C7140C9}"/>
              </a:ext>
            </a:extLst>
          </p:cNvPr>
          <p:cNvPicPr>
            <a:picLocks noChangeAspect="1"/>
          </p:cNvPicPr>
          <p:nvPr/>
        </p:nvPicPr>
        <p:blipFill>
          <a:blip r:embed="rId4"/>
          <a:stretch>
            <a:fillRect/>
          </a:stretch>
        </p:blipFill>
        <p:spPr>
          <a:xfrm>
            <a:off x="3297412" y="1328876"/>
            <a:ext cx="11051217" cy="8768220"/>
          </a:xfrm>
          <a:prstGeom prst="rect">
            <a:avLst/>
          </a:prstGeom>
        </p:spPr>
      </p:pic>
    </p:spTree>
    <p:extLst>
      <p:ext uri="{BB962C8B-B14F-4D97-AF65-F5344CB8AC3E}">
        <p14:creationId xmlns:p14="http://schemas.microsoft.com/office/powerpoint/2010/main" val="4149001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CC470-24AE-65DD-9098-192DB99EFE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3CD4A0-3704-74FD-4C17-FB20797C91D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ED1AFC7A-9E95-6EEA-EC50-A09CAC210EF0}"/>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35FAC078-0F1D-2760-2469-6CC2A12B8A43}"/>
              </a:ext>
            </a:extLst>
          </p:cNvPr>
          <p:cNvSpPr txBox="1"/>
          <p:nvPr/>
        </p:nvSpPr>
        <p:spPr>
          <a:xfrm>
            <a:off x="-2847547"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3.4</a:t>
            </a:r>
            <a:r>
              <a:rPr lang="en-US" sz="4250">
                <a:ea typeface="+mn-lt"/>
                <a:cs typeface="+mn-lt"/>
              </a:rPr>
              <a:t>  </a:t>
            </a:r>
            <a:r>
              <a:rPr lang="en-US" sz="4250" b="1">
                <a:ea typeface="+mn-lt"/>
                <a:cs typeface="+mn-lt"/>
              </a:rPr>
              <a:t>Technical Approach and Key Elements</a:t>
            </a:r>
            <a:endParaRPr lang="en-US"/>
          </a:p>
        </p:txBody>
      </p:sp>
      <p:sp>
        <p:nvSpPr>
          <p:cNvPr id="6" name="TextBox 5">
            <a:extLst>
              <a:ext uri="{FF2B5EF4-FFF2-40B4-BE49-F238E27FC236}">
                <a16:creationId xmlns:a16="http://schemas.microsoft.com/office/drawing/2014/main" id="{EE186C58-4070-5879-6FBF-84B1236DACD9}"/>
              </a:ext>
            </a:extLst>
          </p:cNvPr>
          <p:cNvSpPr txBox="1"/>
          <p:nvPr/>
        </p:nvSpPr>
        <p:spPr>
          <a:xfrm>
            <a:off x="869476" y="1983352"/>
            <a:ext cx="16561465" cy="7817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ea typeface="+mn-lt"/>
                <a:cs typeface="+mn-lt"/>
              </a:rPr>
              <a:t>1. Boarding-Pass Information Extraction:</a:t>
            </a:r>
            <a:endParaRPr lang="en-US" b="1"/>
          </a:p>
          <a:p>
            <a:r>
              <a:rPr lang="en-GB" sz="2800">
                <a:ea typeface="+mn-lt"/>
                <a:cs typeface="+mn-lt"/>
              </a:rPr>
              <a:t>The system uses </a:t>
            </a:r>
            <a:r>
              <a:rPr lang="en-GB" sz="2800" err="1">
                <a:ea typeface="+mn-lt"/>
                <a:cs typeface="+mn-lt"/>
              </a:rPr>
              <a:t>ZXing</a:t>
            </a:r>
            <a:r>
              <a:rPr lang="en-GB" sz="2800">
                <a:ea typeface="+mn-lt"/>
                <a:cs typeface="+mn-lt"/>
              </a:rPr>
              <a:t>-WASM and </a:t>
            </a:r>
            <a:r>
              <a:rPr lang="en-GB" sz="2800" err="1">
                <a:ea typeface="+mn-lt"/>
                <a:cs typeface="+mn-lt"/>
              </a:rPr>
              <a:t>ZXing</a:t>
            </a:r>
            <a:r>
              <a:rPr lang="en-GB" sz="2800">
                <a:ea typeface="+mn-lt"/>
                <a:cs typeface="+mn-lt"/>
              </a:rPr>
              <a:t> Library for QR/barcode decoding from boarding passes. The extracted IATA BCBP/JSON data is processed to obtain passenger name, flight number, ticket ID, source, destination, terminal, gate, departure time, and seat number.</a:t>
            </a:r>
            <a:endParaRPr lang="en-GB"/>
          </a:p>
          <a:p>
            <a:endParaRPr lang="en-GB"/>
          </a:p>
          <a:p>
            <a:r>
              <a:rPr lang="en-GB" sz="2800" b="1">
                <a:ea typeface="+mn-lt"/>
                <a:cs typeface="+mn-lt"/>
              </a:rPr>
              <a:t>2. Passenger Context &amp; Baggage Assistance:</a:t>
            </a:r>
            <a:endParaRPr lang="en-GB" b="1">
              <a:ea typeface="Calibri"/>
              <a:cs typeface="Calibri"/>
            </a:endParaRPr>
          </a:p>
          <a:p>
            <a:r>
              <a:rPr lang="en-GB" sz="2800">
                <a:ea typeface="+mn-lt"/>
                <a:cs typeface="+mn-lt"/>
              </a:rPr>
              <a:t>The extracted boarding-pass details are stored as a structured passenger context and passed to the assistance modules. This context is used to provide baggage guidance and airport-service information without requiring repeated manual entry of flight details.</a:t>
            </a:r>
            <a:endParaRPr lang="en-GB"/>
          </a:p>
          <a:p>
            <a:endParaRPr lang="en-GB"/>
          </a:p>
          <a:p>
            <a:r>
              <a:rPr lang="en-GB" sz="2800" b="1">
                <a:ea typeface="+mn-lt"/>
                <a:cs typeface="+mn-lt"/>
              </a:rPr>
              <a:t>3. Multilingual Conversational AI:</a:t>
            </a:r>
            <a:endParaRPr lang="en-GB" b="1">
              <a:ea typeface="Calibri"/>
              <a:cs typeface="Calibri"/>
            </a:endParaRPr>
          </a:p>
          <a:p>
            <a:r>
              <a:rPr lang="en-GB" sz="2800">
                <a:ea typeface="+mn-lt"/>
                <a:cs typeface="+mn-lt"/>
              </a:rPr>
              <a:t>The conversational module uses Google Gemini 2.5 Flash to understand passenger queries and generate context-aware responses. Automatic language detection and Gemini-based translation support multilingual text interaction, while the Web Speech API enables voice input and speech-based interaction.</a:t>
            </a:r>
            <a:endParaRPr lang="en-GB"/>
          </a:p>
          <a:p>
            <a:endParaRPr lang="en-GB"/>
          </a:p>
          <a:p>
            <a:r>
              <a:rPr lang="en-GB" sz="2800" b="1">
                <a:ea typeface="+mn-lt"/>
                <a:cs typeface="+mn-lt"/>
              </a:rPr>
              <a:t>4. Image-Based Translation &amp; Voice Assistance:</a:t>
            </a:r>
            <a:endParaRPr lang="en-GB" b="1">
              <a:ea typeface="Calibri"/>
              <a:cs typeface="Calibri"/>
            </a:endParaRPr>
          </a:p>
          <a:p>
            <a:r>
              <a:rPr lang="en-GB" sz="2800">
                <a:ea typeface="+mn-lt"/>
                <a:cs typeface="+mn-lt"/>
              </a:rPr>
              <a:t>For visual airport information, the system sends uploaded images to Gemini Vision for OCR and translation, with Tesseract.js as a fallback. Responses can be converted to speech using the backend TTS service, HTML5 Audio, or Speech Synthesis, enabling accessible multilingual passenger–airport communication.</a:t>
            </a:r>
            <a:endParaRPr lang="en-GB"/>
          </a:p>
        </p:txBody>
      </p:sp>
    </p:spTree>
    <p:extLst>
      <p:ext uri="{BB962C8B-B14F-4D97-AF65-F5344CB8AC3E}">
        <p14:creationId xmlns:p14="http://schemas.microsoft.com/office/powerpoint/2010/main" val="4006563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6FF3-42D8-D9FF-A98A-E09BD7B097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8BD05C-612F-3D2C-704F-F4D24BE94A2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9A27E80-D410-8F1A-289B-22CC4448678D}"/>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4468175D-D517-C950-08C1-3DF721354E68}"/>
              </a:ext>
            </a:extLst>
          </p:cNvPr>
          <p:cNvSpPr txBox="1"/>
          <p:nvPr/>
        </p:nvSpPr>
        <p:spPr>
          <a:xfrm>
            <a:off x="-1987719" y="564808"/>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3.5</a:t>
            </a:r>
            <a:r>
              <a:rPr lang="en-US" sz="4250">
                <a:ea typeface="+mn-lt"/>
                <a:cs typeface="+mn-lt"/>
              </a:rPr>
              <a:t>   </a:t>
            </a:r>
            <a:r>
              <a:rPr lang="en-US" sz="4250" b="1">
                <a:ea typeface="+mn-lt"/>
                <a:cs typeface="+mn-lt"/>
              </a:rPr>
              <a:t>Supporting Analysis / Design Considerations</a:t>
            </a:r>
            <a:endParaRPr lang="en-US"/>
          </a:p>
        </p:txBody>
      </p:sp>
      <p:sp>
        <p:nvSpPr>
          <p:cNvPr id="6" name="TextBox 5">
            <a:extLst>
              <a:ext uri="{FF2B5EF4-FFF2-40B4-BE49-F238E27FC236}">
                <a16:creationId xmlns:a16="http://schemas.microsoft.com/office/drawing/2014/main" id="{C02C2C38-FDF3-7813-D1CF-8FCABDB899EA}"/>
              </a:ext>
            </a:extLst>
          </p:cNvPr>
          <p:cNvSpPr txBox="1"/>
          <p:nvPr/>
        </p:nvSpPr>
        <p:spPr>
          <a:xfrm>
            <a:off x="977306" y="2134314"/>
            <a:ext cx="16725366"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GB" sz="2800" b="1">
                <a:latin typeface="Times New Roman"/>
                <a:ea typeface="+mn-lt"/>
                <a:cs typeface="Times New Roman"/>
              </a:rPr>
              <a:t>Passenger Context Management:</a:t>
            </a:r>
            <a:r>
              <a:rPr lang="en-GB" sz="2800">
                <a:latin typeface="Times New Roman"/>
                <a:ea typeface="+mn-lt"/>
                <a:cs typeface="Times New Roman"/>
              </a:rPr>
              <a:t> Extracted passenger and flight information is stored in the database and used as persistent context for subsequent assistance and personalized responses.</a:t>
            </a:r>
            <a:endParaRPr lang="en-US" sz="2800">
              <a:latin typeface="Times New Roman"/>
              <a:ea typeface="Calibri"/>
              <a:cs typeface="Times New Roman"/>
            </a:endParaRPr>
          </a:p>
          <a:p>
            <a:pPr marL="457200" indent="-457200">
              <a:buFont typeface="Arial"/>
              <a:buChar char="•"/>
            </a:pPr>
            <a:endParaRPr lang="en-GB" sz="2800">
              <a:latin typeface="Times New Roman"/>
              <a:ea typeface="+mn-lt"/>
              <a:cs typeface="Times New Roman"/>
            </a:endParaRPr>
          </a:p>
          <a:p>
            <a:pPr marL="457200" indent="-457200">
              <a:buFont typeface="Arial"/>
              <a:buChar char="•"/>
            </a:pPr>
            <a:r>
              <a:rPr lang="en-GB" sz="2800" b="1">
                <a:latin typeface="Times New Roman"/>
                <a:ea typeface="+mn-lt"/>
                <a:cs typeface="Times New Roman"/>
              </a:rPr>
              <a:t>LLM-Based Intelligence:</a:t>
            </a:r>
            <a:r>
              <a:rPr lang="en-GB" sz="2800">
                <a:latin typeface="Times New Roman"/>
                <a:ea typeface="+mn-lt"/>
                <a:cs typeface="Times New Roman"/>
              </a:rPr>
              <a:t> The Large Language Model (Gemini 2.5 Flash) acts as the core intelligence layer, understanding natural-language queries, interpreting passenger context, generating responses, and supporting multilingual communication.</a:t>
            </a:r>
            <a:endParaRPr lang="en-GB" sz="2800">
              <a:latin typeface="Times New Roman"/>
              <a:ea typeface="Calibri"/>
              <a:cs typeface="Times New Roman"/>
            </a:endParaRPr>
          </a:p>
          <a:p>
            <a:pPr marL="457200" indent="-457200">
              <a:buFont typeface="Arial"/>
              <a:buChar char="•"/>
            </a:pPr>
            <a:endParaRPr lang="en-GB" sz="2800">
              <a:latin typeface="Times New Roman"/>
              <a:ea typeface="+mn-lt"/>
              <a:cs typeface="Times New Roman"/>
            </a:endParaRPr>
          </a:p>
          <a:p>
            <a:pPr marL="457200" indent="-457200">
              <a:buFont typeface="Arial"/>
              <a:buChar char="•"/>
            </a:pPr>
            <a:r>
              <a:rPr lang="en-GB" sz="2800" b="1">
                <a:latin typeface="Times New Roman"/>
                <a:ea typeface="+mn-lt"/>
                <a:cs typeface="Times New Roman"/>
              </a:rPr>
              <a:t>Multimodal Interaction:</a:t>
            </a:r>
            <a:r>
              <a:rPr lang="en-GB" sz="2800">
                <a:latin typeface="Times New Roman"/>
                <a:ea typeface="+mn-lt"/>
                <a:cs typeface="Times New Roman"/>
              </a:rPr>
              <a:t> The system supports text, voice, and image-based inputs, enabling passengers to communicate naturally and translate airport signs or other visual information.</a:t>
            </a:r>
            <a:endParaRPr lang="en-GB" sz="2800">
              <a:latin typeface="Times New Roman"/>
              <a:ea typeface="Calibri"/>
              <a:cs typeface="Times New Roman"/>
            </a:endParaRPr>
          </a:p>
          <a:p>
            <a:pPr marL="457200" indent="-457200">
              <a:buFont typeface="Arial"/>
              <a:buChar char="•"/>
            </a:pPr>
            <a:endParaRPr lang="en-GB" sz="2800">
              <a:latin typeface="Times New Roman"/>
              <a:ea typeface="+mn-lt"/>
              <a:cs typeface="Times New Roman"/>
            </a:endParaRPr>
          </a:p>
          <a:p>
            <a:pPr marL="457200" indent="-457200">
              <a:buFont typeface="Arial"/>
              <a:buChar char="•"/>
            </a:pPr>
            <a:r>
              <a:rPr lang="en-GB" sz="2800" b="1">
                <a:latin typeface="Times New Roman"/>
                <a:ea typeface="+mn-lt"/>
                <a:cs typeface="Times New Roman"/>
              </a:rPr>
              <a:t>Real-Time &amp; Modular Design:</a:t>
            </a:r>
            <a:r>
              <a:rPr lang="en-GB" sz="2800">
                <a:latin typeface="Times New Roman"/>
                <a:ea typeface="+mn-lt"/>
                <a:cs typeface="Times New Roman"/>
              </a:rPr>
              <a:t> The system follows a modular architecture where passenger information, AI assistance, translation, baggage guidance, and airport services can operate as interconnected components while maintaining responsive interaction.</a:t>
            </a:r>
            <a:endParaRPr lang="en-GB" sz="2800">
              <a:latin typeface="Times New Roman"/>
              <a:ea typeface="Calibri"/>
              <a:cs typeface="Times New Roman"/>
            </a:endParaRPr>
          </a:p>
        </p:txBody>
      </p:sp>
    </p:spTree>
    <p:extLst>
      <p:ext uri="{BB962C8B-B14F-4D97-AF65-F5344CB8AC3E}">
        <p14:creationId xmlns:p14="http://schemas.microsoft.com/office/powerpoint/2010/main" val="2838186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B765F-974C-1138-2158-C1A6E13605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E13B14B-EBB4-7F0E-6986-E2714ED83E5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AC8EF8F4-0C29-919C-3B12-E5553AEEEB5A}"/>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50B0B377-906C-760C-9058-E098FBE1C019}"/>
              </a:ext>
            </a:extLst>
          </p:cNvPr>
          <p:cNvSpPr txBox="1"/>
          <p:nvPr/>
        </p:nvSpPr>
        <p:spPr>
          <a:xfrm>
            <a:off x="-4106504"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3.6</a:t>
            </a:r>
            <a:r>
              <a:rPr lang="en-US" sz="4250">
                <a:ea typeface="+mn-lt"/>
                <a:cs typeface="+mn-lt"/>
              </a:rPr>
              <a:t>   </a:t>
            </a:r>
            <a:r>
              <a:rPr lang="en-US" sz="4250" b="1">
                <a:ea typeface="+mn-lt"/>
                <a:cs typeface="+mn-lt"/>
              </a:rPr>
              <a:t>Tools / Techniques Used</a:t>
            </a:r>
            <a:endParaRPr lang="en-US"/>
          </a:p>
        </p:txBody>
      </p:sp>
      <p:pic>
        <p:nvPicPr>
          <p:cNvPr id="7" name="Picture 6">
            <a:extLst>
              <a:ext uri="{FF2B5EF4-FFF2-40B4-BE49-F238E27FC236}">
                <a16:creationId xmlns:a16="http://schemas.microsoft.com/office/drawing/2014/main" id="{CAEECEAB-470D-2A76-D900-CFC656A726B2}"/>
              </a:ext>
            </a:extLst>
          </p:cNvPr>
          <p:cNvPicPr>
            <a:picLocks noChangeAspect="1"/>
          </p:cNvPicPr>
          <p:nvPr/>
        </p:nvPicPr>
        <p:blipFill>
          <a:blip r:embed="rId4"/>
          <a:stretch>
            <a:fillRect/>
          </a:stretch>
        </p:blipFill>
        <p:spPr>
          <a:xfrm>
            <a:off x="695325" y="1544003"/>
            <a:ext cx="16897350" cy="8448675"/>
          </a:xfrm>
          <a:prstGeom prst="rect">
            <a:avLst/>
          </a:prstGeom>
        </p:spPr>
      </p:pic>
    </p:spTree>
    <p:extLst>
      <p:ext uri="{BB962C8B-B14F-4D97-AF65-F5344CB8AC3E}">
        <p14:creationId xmlns:p14="http://schemas.microsoft.com/office/powerpoint/2010/main" val="847417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132F-CFF7-CE83-6F1A-62ED039C2E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61991F-3A51-3E63-7DDC-FBD31027763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BC73796-401B-0B7B-21F5-9CBD04F1768D}"/>
              </a:ext>
            </a:extLst>
          </p:cNvPr>
          <p:cNvSpPr/>
          <p:nvPr/>
        </p:nvSpPr>
        <p:spPr>
          <a:xfrm>
            <a:off x="15544800" y="1"/>
            <a:ext cx="2667000" cy="1545676"/>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07D54C2A-BE26-B717-5E0B-76E611AE9A68}"/>
              </a:ext>
            </a:extLst>
          </p:cNvPr>
          <p:cNvSpPr txBox="1"/>
          <p:nvPr/>
        </p:nvSpPr>
        <p:spPr>
          <a:xfrm>
            <a:off x="-3543287" y="413846"/>
            <a:ext cx="16567494" cy="716991"/>
          </a:xfrm>
          <a:prstGeom prst="rect">
            <a:avLst/>
          </a:prstGeom>
        </p:spPr>
        <p:txBody>
          <a:bodyPr wrap="square" lIns="0" tIns="0" rIns="0" bIns="0" rtlCol="0" anchor="t">
            <a:spAutoFit/>
          </a:bodyPr>
          <a:lstStyle/>
          <a:p>
            <a:pPr algn="ctr">
              <a:lnSpc>
                <a:spcPts val="6008"/>
              </a:lnSpc>
              <a:spcBef>
                <a:spcPct val="0"/>
              </a:spcBef>
            </a:pPr>
            <a:r>
              <a:rPr lang="en-US" sz="4250" b="1">
                <a:ea typeface="+mn-lt"/>
                <a:cs typeface="+mn-lt"/>
              </a:rPr>
              <a:t>3.7 </a:t>
            </a:r>
            <a:r>
              <a:rPr lang="en-US" sz="4250">
                <a:ea typeface="+mn-lt"/>
                <a:cs typeface="+mn-lt"/>
              </a:rPr>
              <a:t> </a:t>
            </a:r>
            <a:r>
              <a:rPr lang="en-US" sz="4250" b="1">
                <a:ea typeface="+mn-lt"/>
                <a:cs typeface="+mn-lt"/>
              </a:rPr>
              <a:t>Justification of Selected Approach</a:t>
            </a:r>
            <a:endParaRPr lang="en-US"/>
          </a:p>
        </p:txBody>
      </p:sp>
      <p:sp>
        <p:nvSpPr>
          <p:cNvPr id="6" name="TextBox 5">
            <a:extLst>
              <a:ext uri="{FF2B5EF4-FFF2-40B4-BE49-F238E27FC236}">
                <a16:creationId xmlns:a16="http://schemas.microsoft.com/office/drawing/2014/main" id="{8735B90A-0891-FBB7-2683-E3EC5A7970CD}"/>
              </a:ext>
            </a:extLst>
          </p:cNvPr>
          <p:cNvSpPr txBox="1"/>
          <p:nvPr/>
        </p:nvSpPr>
        <p:spPr>
          <a:xfrm>
            <a:off x="869476" y="1983352"/>
            <a:ext cx="16561465"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GB" sz="2800" b="1">
                <a:ea typeface="+mn-lt"/>
                <a:cs typeface="+mn-lt"/>
              </a:rPr>
              <a:t>QR/Barcode + OCR: </a:t>
            </a:r>
            <a:r>
              <a:rPr lang="en-GB" sz="2800">
                <a:ea typeface="+mn-lt"/>
                <a:cs typeface="+mn-lt"/>
              </a:rPr>
              <a:t>Selected to automate boarding-pass information extraction and reduce manual entry while supporting different boarding-pass formats.</a:t>
            </a:r>
            <a:endParaRPr lang="en-US">
              <a:ea typeface="Calibri"/>
              <a:cs typeface="Calibri"/>
            </a:endParaRPr>
          </a:p>
          <a:p>
            <a:pPr marL="457200" indent="-457200">
              <a:buFont typeface="Arial"/>
              <a:buChar char="•"/>
            </a:pPr>
            <a:endParaRPr lang="en-GB" sz="2800">
              <a:ea typeface="+mn-lt"/>
              <a:cs typeface="+mn-lt"/>
            </a:endParaRPr>
          </a:p>
          <a:p>
            <a:pPr marL="457200" indent="-457200">
              <a:buFont typeface="Arial"/>
              <a:buChar char="•"/>
            </a:pPr>
            <a:r>
              <a:rPr lang="en-GB" sz="2800" b="1">
                <a:ea typeface="+mn-lt"/>
                <a:cs typeface="+mn-lt"/>
              </a:rPr>
              <a:t>PostgreSQL + Prisma ORM:</a:t>
            </a:r>
            <a:r>
              <a:rPr lang="en-GB" sz="2800">
                <a:ea typeface="+mn-lt"/>
                <a:cs typeface="+mn-lt"/>
              </a:rPr>
              <a:t> Selected to store passenger and flight information as persistent context, enabling personalized assistance across subsequent interactions.</a:t>
            </a:r>
            <a:endParaRPr lang="en-GB">
              <a:ea typeface="Calibri"/>
              <a:cs typeface="Calibri"/>
            </a:endParaRPr>
          </a:p>
          <a:p>
            <a:pPr marL="457200" indent="-457200">
              <a:buFont typeface="Arial"/>
              <a:buChar char="•"/>
            </a:pPr>
            <a:endParaRPr lang="en-GB" sz="2800">
              <a:ea typeface="+mn-lt"/>
              <a:cs typeface="+mn-lt"/>
            </a:endParaRPr>
          </a:p>
          <a:p>
            <a:pPr marL="457200" indent="-457200">
              <a:buFont typeface="Arial"/>
              <a:buChar char="•"/>
            </a:pPr>
            <a:r>
              <a:rPr lang="en-GB" sz="2800" b="1">
                <a:ea typeface="+mn-lt"/>
                <a:cs typeface="+mn-lt"/>
              </a:rPr>
              <a:t>RFID-Based Baggage Tracking:</a:t>
            </a:r>
            <a:r>
              <a:rPr lang="en-GB" sz="2800">
                <a:ea typeface="+mn-lt"/>
                <a:cs typeface="+mn-lt"/>
              </a:rPr>
              <a:t> Selected to provide baggage status and baggage-belt information using RFID-enabled tags and airport-side RFID infrastructure.</a:t>
            </a:r>
            <a:endParaRPr lang="en-GB">
              <a:ea typeface="Calibri"/>
              <a:cs typeface="Calibri"/>
            </a:endParaRPr>
          </a:p>
          <a:p>
            <a:pPr marL="457200" indent="-457200">
              <a:buFont typeface="Arial"/>
              <a:buChar char="•"/>
            </a:pPr>
            <a:endParaRPr lang="en-GB" sz="2800" b="1">
              <a:ea typeface="+mn-lt"/>
              <a:cs typeface="+mn-lt"/>
            </a:endParaRPr>
          </a:p>
          <a:p>
            <a:pPr marL="457200" indent="-457200">
              <a:buFont typeface="Arial"/>
              <a:buChar char="•"/>
            </a:pPr>
            <a:r>
              <a:rPr lang="en-GB" sz="2800" b="1">
                <a:ea typeface="+mn-lt"/>
                <a:cs typeface="+mn-lt"/>
              </a:rPr>
              <a:t>Gemini 2.5 Flash (LLM): </a:t>
            </a:r>
            <a:r>
              <a:rPr lang="en-GB" sz="2800">
                <a:ea typeface="+mn-lt"/>
                <a:cs typeface="+mn-lt"/>
              </a:rPr>
              <a:t>Selected as the core intelligence layer because it can understand natural-language travel queries, use passenger context, and generate context-aware responses.</a:t>
            </a:r>
            <a:endParaRPr lang="en-GB">
              <a:ea typeface="Calibri"/>
              <a:cs typeface="Calibri"/>
            </a:endParaRPr>
          </a:p>
          <a:p>
            <a:pPr marL="457200" indent="-457200">
              <a:buFont typeface="Arial"/>
              <a:buChar char="•"/>
            </a:pPr>
            <a:endParaRPr lang="en-GB" sz="2800">
              <a:ea typeface="+mn-lt"/>
              <a:cs typeface="+mn-lt"/>
            </a:endParaRPr>
          </a:p>
          <a:p>
            <a:pPr marL="457200" indent="-457200">
              <a:buFont typeface="Arial"/>
              <a:buChar char="•"/>
            </a:pPr>
            <a:r>
              <a:rPr lang="en-GB" sz="2800" b="1">
                <a:ea typeface="+mn-lt"/>
                <a:cs typeface="+mn-lt"/>
              </a:rPr>
              <a:t>Multimodal Multilingual Interaction:</a:t>
            </a:r>
            <a:r>
              <a:rPr lang="en-GB" sz="2800">
                <a:ea typeface="+mn-lt"/>
                <a:cs typeface="+mn-lt"/>
              </a:rPr>
              <a:t> Gemini Translation, Web Speech API, and Gemini Vision were selected to support language detection, translation, voice interaction, and image-based translation, enabling more accessible passenger–airport communication</a:t>
            </a:r>
            <a:endParaRPr lang="en-GB">
              <a:ea typeface="Calibri"/>
              <a:cs typeface="Calibri"/>
            </a:endParaRPr>
          </a:p>
        </p:txBody>
      </p:sp>
    </p:spTree>
    <p:extLst>
      <p:ext uri="{BB962C8B-B14F-4D97-AF65-F5344CB8AC3E}">
        <p14:creationId xmlns:p14="http://schemas.microsoft.com/office/powerpoint/2010/main" val="1172917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392400" y="100377"/>
            <a:ext cx="2759161" cy="1918923"/>
          </a:xfrm>
          <a:custGeom>
            <a:avLst/>
            <a:gdLst/>
            <a:ahLst/>
            <a:cxnLst/>
            <a:rect l="l" t="t" r="r" b="b"/>
            <a:pathLst>
              <a:path w="2759161" h="1918923">
                <a:moveTo>
                  <a:pt x="0" y="0"/>
                </a:moveTo>
                <a:lnTo>
                  <a:pt x="2759162" y="0"/>
                </a:lnTo>
                <a:lnTo>
                  <a:pt x="2759162"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6510290" y="4169183"/>
            <a:ext cx="5267419" cy="1160986"/>
          </a:xfrm>
          <a:prstGeom prst="rect">
            <a:avLst/>
          </a:prstGeom>
        </p:spPr>
        <p:txBody>
          <a:bodyPr lIns="0" tIns="0" rIns="0" bIns="0" rtlCol="0" anchor="t">
            <a:spAutoFit/>
          </a:bodyPr>
          <a:lstStyle/>
          <a:p>
            <a:pPr algn="ctr">
              <a:lnSpc>
                <a:spcPts val="9508"/>
              </a:lnSpc>
              <a:spcBef>
                <a:spcPct val="0"/>
              </a:spcBef>
            </a:pPr>
            <a:r>
              <a:rPr lang="en-US" sz="6791" b="1">
                <a:solidFill>
                  <a:srgbClr val="000000"/>
                </a:solidFill>
                <a:latin typeface="Open Sauce Bold"/>
                <a:ea typeface="Open Sauce Bold"/>
                <a:cs typeface="Open Sauce Bold"/>
                <a:sym typeface="Open Sauce Bold"/>
              </a:rPr>
              <a:t>THANK YOU</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AEED5-2ABB-AB58-D609-0A9B77C36C3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048E8F-F5B1-94EA-172C-C65670269C5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B534602F-45F4-7949-6FB3-18F1000094A6}"/>
              </a:ext>
            </a:extLst>
          </p:cNvPr>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017F7577-801D-CB14-42B6-70999EC41071}"/>
              </a:ext>
            </a:extLst>
          </p:cNvPr>
          <p:cNvSpPr txBox="1"/>
          <p:nvPr/>
        </p:nvSpPr>
        <p:spPr>
          <a:xfrm>
            <a:off x="-228600" y="114300"/>
            <a:ext cx="9758060" cy="703591"/>
          </a:xfrm>
          <a:prstGeom prst="rect">
            <a:avLst/>
          </a:prstGeom>
        </p:spPr>
        <p:txBody>
          <a:bodyPr wrap="square"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Proposed System Architecture:</a:t>
            </a:r>
          </a:p>
        </p:txBody>
      </p:sp>
      <p:pic>
        <p:nvPicPr>
          <p:cNvPr id="5" name="Picture 4">
            <a:extLst>
              <a:ext uri="{FF2B5EF4-FFF2-40B4-BE49-F238E27FC236}">
                <a16:creationId xmlns:a16="http://schemas.microsoft.com/office/drawing/2014/main" id="{773E0C53-7BC9-52A8-C956-3FCD43708A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1257300"/>
            <a:ext cx="17526000" cy="7772400"/>
          </a:xfrm>
          <a:prstGeom prst="rect">
            <a:avLst/>
          </a:prstGeom>
        </p:spPr>
      </p:pic>
    </p:spTree>
    <p:extLst>
      <p:ext uri="{BB962C8B-B14F-4D97-AF65-F5344CB8AC3E}">
        <p14:creationId xmlns:p14="http://schemas.microsoft.com/office/powerpoint/2010/main" val="732301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1D2E-BF82-7625-89E4-9473197FCD9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104EA8-15B3-CCE8-3293-60EEBFE0449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a:extLst>
              <a:ext uri="{FF2B5EF4-FFF2-40B4-BE49-F238E27FC236}">
                <a16:creationId xmlns:a16="http://schemas.microsoft.com/office/drawing/2014/main" id="{E07ADA4A-6B40-DEB9-175C-AAA826EEEA2F}"/>
              </a:ext>
            </a:extLst>
          </p:cNvPr>
          <p:cNvSpPr/>
          <p:nvPr/>
        </p:nvSpPr>
        <p:spPr>
          <a:xfrm>
            <a:off x="15528839" y="0"/>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a:extLst>
              <a:ext uri="{FF2B5EF4-FFF2-40B4-BE49-F238E27FC236}">
                <a16:creationId xmlns:a16="http://schemas.microsoft.com/office/drawing/2014/main" id="{5B1813F5-7148-7D29-70F1-E2B2AF37F757}"/>
              </a:ext>
            </a:extLst>
          </p:cNvPr>
          <p:cNvSpPr txBox="1"/>
          <p:nvPr/>
        </p:nvSpPr>
        <p:spPr>
          <a:xfrm>
            <a:off x="76200" y="114300"/>
            <a:ext cx="6553200" cy="703591"/>
          </a:xfrm>
          <a:prstGeom prst="rect">
            <a:avLst/>
          </a:prstGeom>
        </p:spPr>
        <p:txBody>
          <a:bodyPr wrap="square"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Progress of the Work:</a:t>
            </a:r>
          </a:p>
        </p:txBody>
      </p:sp>
      <p:pic>
        <p:nvPicPr>
          <p:cNvPr id="5" name="Picture 4">
            <a:extLst>
              <a:ext uri="{FF2B5EF4-FFF2-40B4-BE49-F238E27FC236}">
                <a16:creationId xmlns:a16="http://schemas.microsoft.com/office/drawing/2014/main" id="{1962A185-F060-568F-E7F0-7EFC53A7B0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1918923"/>
            <a:ext cx="17975179" cy="8224941"/>
          </a:xfrm>
          <a:prstGeom prst="rect">
            <a:avLst/>
          </a:prstGeom>
        </p:spPr>
      </p:pic>
    </p:spTree>
    <p:extLst>
      <p:ext uri="{BB962C8B-B14F-4D97-AF65-F5344CB8AC3E}">
        <p14:creationId xmlns:p14="http://schemas.microsoft.com/office/powerpoint/2010/main" val="3021554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392400" y="176577"/>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238815" y="190500"/>
            <a:ext cx="7533585" cy="703591"/>
          </a:xfrm>
          <a:prstGeom prst="rect">
            <a:avLst/>
          </a:prstGeom>
        </p:spPr>
        <p:txBody>
          <a:bodyPr wrap="square"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Base Paper along with Link:</a:t>
            </a:r>
          </a:p>
        </p:txBody>
      </p:sp>
      <p:pic>
        <p:nvPicPr>
          <p:cNvPr id="5" name="Picture 4">
            <a:extLst>
              <a:ext uri="{FF2B5EF4-FFF2-40B4-BE49-F238E27FC236}">
                <a16:creationId xmlns:a16="http://schemas.microsoft.com/office/drawing/2014/main" id="{735792FA-2DE7-92BB-2EBD-91E2A9F8295E}"/>
              </a:ext>
            </a:extLst>
          </p:cNvPr>
          <p:cNvPicPr>
            <a:picLocks noChangeAspect="1"/>
          </p:cNvPicPr>
          <p:nvPr/>
        </p:nvPicPr>
        <p:blipFill>
          <a:blip r:embed="rId4"/>
          <a:stretch>
            <a:fillRect/>
          </a:stretch>
        </p:blipFill>
        <p:spPr>
          <a:xfrm>
            <a:off x="5638800" y="1046491"/>
            <a:ext cx="6781800" cy="7864862"/>
          </a:xfrm>
          <a:prstGeom prst="rect">
            <a:avLst/>
          </a:prstGeom>
        </p:spPr>
      </p:pic>
      <p:sp>
        <p:nvSpPr>
          <p:cNvPr id="6" name="TextBox 5">
            <a:extLst>
              <a:ext uri="{FF2B5EF4-FFF2-40B4-BE49-F238E27FC236}">
                <a16:creationId xmlns:a16="http://schemas.microsoft.com/office/drawing/2014/main" id="{B0438B7B-BAF6-CEE3-2925-A173E7DC37FF}"/>
              </a:ext>
            </a:extLst>
          </p:cNvPr>
          <p:cNvSpPr txBox="1"/>
          <p:nvPr/>
        </p:nvSpPr>
        <p:spPr>
          <a:xfrm>
            <a:off x="1600200" y="9073346"/>
            <a:ext cx="13868400"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_</a:t>
            </a:r>
            <a:r>
              <a:rPr lang="en-US" sz="2400">
                <a:latin typeface="Times New Roman" panose="02020603050405020304" pitchFamily="18" charset="0"/>
                <a:cs typeface="Times New Roman" panose="02020603050405020304" pitchFamily="18" charset="0"/>
                <a:hlinkClick r:id="rId5"/>
              </a:rPr>
              <a:t>A_Multimodal_LLM-Based_AI_Assistant_for_Intelligent_Exploration_of_Airport_Baggage_Records</a:t>
            </a:r>
            <a:r>
              <a:rPr lang="en-IN" sz="2400">
                <a:latin typeface="Times New Roman" panose="02020603050405020304" pitchFamily="18" charset="0"/>
                <a:cs typeface="Times New Roman" panose="02020603050405020304" pitchFamily="18"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IN"/>
          </a:p>
        </p:txBody>
      </p:sp>
      <p:sp>
        <p:nvSpPr>
          <p:cNvPr id="3" name="Freeform 3"/>
          <p:cNvSpPr/>
          <p:nvPr/>
        </p:nvSpPr>
        <p:spPr>
          <a:xfrm>
            <a:off x="15392400" y="100377"/>
            <a:ext cx="2759161" cy="1918923"/>
          </a:xfrm>
          <a:custGeom>
            <a:avLst/>
            <a:gdLst/>
            <a:ahLst/>
            <a:cxnLst/>
            <a:rect l="l" t="t" r="r" b="b"/>
            <a:pathLst>
              <a:path w="2759161" h="1918923">
                <a:moveTo>
                  <a:pt x="0" y="0"/>
                </a:moveTo>
                <a:lnTo>
                  <a:pt x="2759161" y="0"/>
                </a:lnTo>
                <a:lnTo>
                  <a:pt x="2759161" y="1918923"/>
                </a:lnTo>
                <a:lnTo>
                  <a:pt x="0" y="191892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256990" y="547486"/>
            <a:ext cx="3468097" cy="738227"/>
          </a:xfrm>
          <a:prstGeom prst="rect">
            <a:avLst/>
          </a:prstGeom>
        </p:spPr>
        <p:txBody>
          <a:bodyPr lIns="0" tIns="0" rIns="0" bIns="0" rtlCol="0" anchor="t">
            <a:spAutoFit/>
          </a:bodyPr>
          <a:lstStyle/>
          <a:p>
            <a:pPr algn="ctr">
              <a:lnSpc>
                <a:spcPts val="6008"/>
              </a:lnSpc>
              <a:spcBef>
                <a:spcPct val="0"/>
              </a:spcBef>
            </a:pPr>
            <a:r>
              <a:rPr lang="en-US" sz="4291" b="1">
                <a:solidFill>
                  <a:srgbClr val="000000"/>
                </a:solidFill>
                <a:latin typeface="Open Sauce Bold"/>
                <a:ea typeface="Open Sauce Bold"/>
                <a:cs typeface="Open Sauce Bold"/>
                <a:sym typeface="Open Sauce Bold"/>
              </a:rPr>
              <a:t>References:</a:t>
            </a:r>
          </a:p>
        </p:txBody>
      </p:sp>
      <p:sp>
        <p:nvSpPr>
          <p:cNvPr id="5" name="Freeform 2"/>
          <p:cNvSpPr/>
          <p:nvPr/>
        </p:nvSpPr>
        <p:spPr>
          <a:xfrm>
            <a:off x="1026970" y="1642480"/>
            <a:ext cx="15745010" cy="82677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pPr fontAlgn="base">
              <a:spcAft>
                <a:spcPts val="75"/>
              </a:spcAft>
            </a:pPr>
            <a:r>
              <a:rPr lang="en-US"/>
              <a:t>1</a:t>
            </a:r>
            <a:r>
              <a:rPr lang="en-US" sz="2400">
                <a:latin typeface="Times New Roman" panose="02020603050405020304" pitchFamily="18" charset="0"/>
                <a:cs typeface="Times New Roman" panose="02020603050405020304" pitchFamily="18" charset="0"/>
              </a:rPr>
              <a:t>. </a:t>
            </a:r>
            <a:r>
              <a:rPr lang="en-US" sz="2400" u="sng">
                <a:latin typeface="Times New Roman" panose="02020603050405020304" pitchFamily="18" charset="0"/>
                <a:cs typeface="Times New Roman" panose="02020603050405020304" pitchFamily="18" charset="0"/>
                <a:hlinkClick r:id="rId4"/>
              </a:rPr>
              <a:t>A_Multimodal_LLM-Based_AI_Assistant_for_Intelligent_Exploration_of_Airport_Baggage_Records</a:t>
            </a:r>
            <a:r>
              <a:rPr lang="en-US" sz="2400">
                <a:latin typeface="Times New Roman" panose="02020603050405020304" pitchFamily="18" charset="0"/>
                <a:cs typeface="Times New Roman" panose="02020603050405020304" pitchFamily="18" charset="0"/>
              </a:rPr>
              <a:t>​</a:t>
            </a:r>
          </a:p>
          <a:p>
            <a:pPr fontAlgn="base">
              <a:spcAft>
                <a:spcPts val="75"/>
              </a:spcAft>
            </a:pPr>
            <a:r>
              <a:rPr lang="it-IT" sz="2400">
                <a:latin typeface="Times New Roman" panose="02020603050405020304" pitchFamily="18" charset="0"/>
                <a:cs typeface="Times New Roman" panose="02020603050405020304" pitchFamily="18" charset="0"/>
              </a:rPr>
              <a:t>​</a:t>
            </a:r>
          </a:p>
          <a:p>
            <a:pPr lvl="0" fontAlgn="base">
              <a:spcAft>
                <a:spcPts val="75"/>
              </a:spcAft>
            </a:pPr>
            <a:r>
              <a:rPr lang="it-IT" sz="2400" u="sng">
                <a:latin typeface="Times New Roman" panose="02020603050405020304" pitchFamily="18" charset="0"/>
                <a:cs typeface="Times New Roman" panose="02020603050405020304" pitchFamily="18" charset="0"/>
                <a:hlinkClick r:id="rId5"/>
              </a:rPr>
              <a:t>2. A_QR_Code_Enabled_Intelligent_Navigation_Assistance_System_fo_Public_and_Indoor_Spaces</a:t>
            </a:r>
            <a:r>
              <a:rPr lang="it-IT" sz="2400">
                <a:latin typeface="Times New Roman" panose="02020603050405020304" pitchFamily="18" charset="0"/>
                <a:cs typeface="Times New Roman" panose="02020603050405020304" pitchFamily="18" charset="0"/>
              </a:rPr>
              <a:t>​</a:t>
            </a:r>
          </a:p>
          <a:p>
            <a:pPr fontAlgn="base">
              <a:spcAft>
                <a:spcPts val="75"/>
              </a:spcAft>
            </a:pPr>
            <a:r>
              <a:rPr lang="it-IT" sz="2400">
                <a:latin typeface="Times New Roman" panose="02020603050405020304" pitchFamily="18" charset="0"/>
                <a:cs typeface="Times New Roman" panose="02020603050405020304" pitchFamily="18" charset="0"/>
              </a:rPr>
              <a:t>​</a:t>
            </a:r>
          </a:p>
          <a:p>
            <a:pPr fontAlgn="base">
              <a:spcAft>
                <a:spcPts val="75"/>
              </a:spcAft>
            </a:pPr>
            <a:r>
              <a:rPr lang="en-US" sz="2400">
                <a:latin typeface="Times New Roman" panose="02020603050405020304" pitchFamily="18" charset="0"/>
                <a:cs typeface="Times New Roman" panose="02020603050405020304" pitchFamily="18" charset="0"/>
              </a:rPr>
              <a:t>3.</a:t>
            </a:r>
            <a:r>
              <a:rPr lang="en-US" sz="2400" u="sng">
                <a:latin typeface="Times New Roman" panose="02020603050405020304" pitchFamily="18" charset="0"/>
                <a:cs typeface="Times New Roman" panose="02020603050405020304" pitchFamily="18" charset="0"/>
                <a:hlinkClick r:id="rId6"/>
              </a:rPr>
              <a:t>Digitalization_of_Airside_Operations_Process_to_Improve_Airport_Operations_For_The_Case_of_Malaysia_Airports</a:t>
            </a:r>
            <a:r>
              <a:rPr lang="en-US" sz="2400">
                <a:latin typeface="Times New Roman" panose="02020603050405020304" pitchFamily="18" charset="0"/>
                <a:cs typeface="Times New Roman" panose="02020603050405020304" pitchFamily="18" charset="0"/>
              </a:rPr>
              <a:t>​</a:t>
            </a:r>
          </a:p>
          <a:p>
            <a:pPr fontAlgn="base">
              <a:spcAft>
                <a:spcPts val="75"/>
              </a:spcAft>
            </a:pPr>
            <a:r>
              <a:rPr lang="en-US" sz="2400">
                <a:latin typeface="Times New Roman" panose="02020603050405020304" pitchFamily="18" charset="0"/>
                <a:cs typeface="Times New Roman" panose="02020603050405020304" pitchFamily="18" charset="0"/>
              </a:rPr>
              <a:t>​</a:t>
            </a:r>
          </a:p>
          <a:p>
            <a:pPr fontAlgn="base">
              <a:spcAft>
                <a:spcPts val="75"/>
              </a:spcAft>
            </a:pPr>
            <a:r>
              <a:rPr lang="en-US" sz="2400">
                <a:latin typeface="Times New Roman" panose="02020603050405020304" pitchFamily="18" charset="0"/>
                <a:cs typeface="Times New Roman" panose="02020603050405020304" pitchFamily="18" charset="0"/>
              </a:rPr>
              <a:t>4. </a:t>
            </a:r>
            <a:r>
              <a:rPr lang="en-US" sz="2400" u="sng">
                <a:latin typeface="Times New Roman" panose="02020603050405020304" pitchFamily="18" charset="0"/>
                <a:cs typeface="Times New Roman" panose="02020603050405020304" pitchFamily="18" charset="0"/>
                <a:hlinkClick r:id="rId7"/>
              </a:rPr>
              <a:t>Research_on_Data_Governance_Methods_and_Systems_for_Large_Hub_Airports</a:t>
            </a:r>
            <a:r>
              <a:rPr lang="en-US" sz="2400">
                <a:latin typeface="Times New Roman" panose="02020603050405020304" pitchFamily="18" charset="0"/>
                <a:cs typeface="Times New Roman" panose="02020603050405020304" pitchFamily="18" charset="0"/>
              </a:rPr>
              <a:t>​</a:t>
            </a:r>
          </a:p>
          <a:p>
            <a:pPr lvl="0" fontAlgn="base">
              <a:spcAft>
                <a:spcPts val="75"/>
              </a:spcAft>
            </a:pPr>
            <a:r>
              <a:rPr lang="en-US" sz="2400">
                <a:latin typeface="Times New Roman" panose="02020603050405020304" pitchFamily="18" charset="0"/>
                <a:cs typeface="Times New Roman" panose="02020603050405020304" pitchFamily="18" charset="0"/>
              </a:rPr>
              <a:t>​</a:t>
            </a:r>
          </a:p>
          <a:p>
            <a:pPr fontAlgn="base">
              <a:spcAft>
                <a:spcPts val="75"/>
              </a:spcAft>
            </a:pPr>
            <a:r>
              <a:rPr lang="en-US" sz="2400">
                <a:latin typeface="Times New Roman" panose="02020603050405020304" pitchFamily="18" charset="0"/>
                <a:cs typeface="Times New Roman" panose="02020603050405020304" pitchFamily="18" charset="0"/>
              </a:rPr>
              <a:t>5. </a:t>
            </a:r>
            <a:r>
              <a:rPr lang="en-US" sz="2400" u="sng" err="1">
                <a:latin typeface="Times New Roman" panose="02020603050405020304" pitchFamily="18" charset="0"/>
                <a:cs typeface="Times New Roman" panose="02020603050405020304" pitchFamily="18" charset="0"/>
                <a:hlinkClick r:id="rId8"/>
              </a:rPr>
              <a:t>Airport_Ground_Assistance_Rover</a:t>
            </a:r>
            <a:r>
              <a:rPr lang="en-US" sz="2400">
                <a:latin typeface="Times New Roman" panose="02020603050405020304" pitchFamily="18" charset="0"/>
                <a:cs typeface="Times New Roman" panose="02020603050405020304" pitchFamily="18" charset="0"/>
              </a:rPr>
              <a:t>​</a:t>
            </a:r>
          </a:p>
          <a:p>
            <a:pPr lvl="0" fontAlgn="base">
              <a:spcAft>
                <a:spcPts val="75"/>
              </a:spcAft>
            </a:pPr>
            <a:r>
              <a:rPr lang="en-US" sz="2400">
                <a:latin typeface="Times New Roman" panose="02020603050405020304" pitchFamily="18" charset="0"/>
                <a:cs typeface="Times New Roman" panose="02020603050405020304" pitchFamily="18" charset="0"/>
              </a:rPr>
              <a:t>​</a:t>
            </a:r>
          </a:p>
          <a:p>
            <a:pPr fontAlgn="base">
              <a:spcAft>
                <a:spcPts val="75"/>
              </a:spcAft>
            </a:pPr>
            <a:r>
              <a:rPr lang="en-US" sz="2400">
                <a:latin typeface="Times New Roman" panose="02020603050405020304" pitchFamily="18" charset="0"/>
                <a:cs typeface="Times New Roman" panose="02020603050405020304" pitchFamily="18" charset="0"/>
              </a:rPr>
              <a:t>6.</a:t>
            </a:r>
            <a:r>
              <a:rPr lang="en-US" sz="2400" u="sng">
                <a:latin typeface="Times New Roman" panose="02020603050405020304" pitchFamily="18" charset="0"/>
                <a:cs typeface="Times New Roman" panose="02020603050405020304" pitchFamily="18" charset="0"/>
                <a:hlinkClick r:id="rId9"/>
              </a:rPr>
              <a:t>Machine_Learning_of_Air_Traffic_Controller_Command_Extraction_Models_for_Speech_Recognition_Applications</a:t>
            </a:r>
            <a:r>
              <a:rPr lang="en-US" sz="2400">
                <a:latin typeface="Times New Roman" panose="02020603050405020304" pitchFamily="18" charset="0"/>
                <a:cs typeface="Times New Roman" panose="02020603050405020304" pitchFamily="18" charset="0"/>
              </a:rPr>
              <a:t>​</a:t>
            </a:r>
          </a:p>
          <a:p>
            <a:pPr fontAlgn="base">
              <a:spcAft>
                <a:spcPts val="75"/>
              </a:spcAft>
            </a:pPr>
            <a:endParaRPr lang="en-US" sz="2400">
              <a:latin typeface="Times New Roman" panose="02020603050405020304" pitchFamily="18" charset="0"/>
              <a:cs typeface="Times New Roman" panose="02020603050405020304" pitchFamily="18" charset="0"/>
            </a:endParaRPr>
          </a:p>
          <a:p>
            <a:pPr fontAlgn="base">
              <a:spcAft>
                <a:spcPts val="75"/>
              </a:spcAft>
            </a:pPr>
            <a:r>
              <a:rPr lang="en-US" sz="2400">
                <a:latin typeface="Times New Roman" panose="02020603050405020304" pitchFamily="18" charset="0"/>
                <a:cs typeface="Times New Roman" panose="02020603050405020304" pitchFamily="18" charset="0"/>
              </a:rPr>
              <a:t>7. </a:t>
            </a:r>
            <a:r>
              <a:rPr lang="en-US" sz="2400">
                <a:latin typeface="Times New Roman" panose="02020603050405020304" pitchFamily="18" charset="0"/>
                <a:cs typeface="Times New Roman" panose="02020603050405020304" pitchFamily="18" charset="0"/>
                <a:hlinkClick r:id="rId10"/>
              </a:rPr>
              <a:t>Design Mechanisms of Airport Visual Guidance Systems on Passenger Wayfinding Performance</a:t>
            </a:r>
            <a:endParaRPr lang="en-US" sz="2400">
              <a:latin typeface="Times New Roman" panose="02020603050405020304" pitchFamily="18" charset="0"/>
              <a:cs typeface="Times New Roman" panose="02020603050405020304" pitchFamily="18" charset="0"/>
            </a:endParaRPr>
          </a:p>
          <a:p>
            <a:pPr fontAlgn="base">
              <a:spcAft>
                <a:spcPts val="75"/>
              </a:spcAft>
            </a:pPr>
            <a:endParaRPr lang="en-US" sz="2400">
              <a:latin typeface="Times New Roman" panose="02020603050405020304" pitchFamily="18" charset="0"/>
              <a:cs typeface="Times New Roman" panose="02020603050405020304" pitchFamily="18" charset="0"/>
            </a:endParaRPr>
          </a:p>
          <a:p>
            <a:pPr fontAlgn="base">
              <a:spcAft>
                <a:spcPts val="75"/>
              </a:spcAft>
            </a:pPr>
            <a:r>
              <a:rPr lang="en-US" sz="2400">
                <a:latin typeface="Times New Roman" panose="02020603050405020304" pitchFamily="18" charset="0"/>
                <a:cs typeface="Times New Roman" panose="02020603050405020304" pitchFamily="18" charset="0"/>
              </a:rPr>
              <a:t>8.</a:t>
            </a:r>
            <a:r>
              <a:rPr lang="en-US" sz="2400">
                <a:latin typeface="Times New Roman" panose="02020603050405020304" pitchFamily="18" charset="0"/>
                <a:cs typeface="Times New Roman" panose="02020603050405020304" pitchFamily="18" charset="0"/>
                <a:hlinkClick r:id="rId11"/>
              </a:rPr>
              <a:t>Navigation Network Derivation for QR Code-Based Indoor Pedestrian Path Planning</a:t>
            </a:r>
            <a:endParaRPr lang="en-US" sz="2400">
              <a:latin typeface="Times New Roman" panose="02020603050405020304" pitchFamily="18" charset="0"/>
              <a:cs typeface="Times New Roman" panose="02020603050405020304" pitchFamily="18" charset="0"/>
            </a:endParaRPr>
          </a:p>
          <a:p>
            <a:pPr fontAlgn="base"/>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28</Slides>
  <Notes>2</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2.2 Critical Analysis of Literature:</vt:lpstr>
      <vt:lpstr>2.2 Critical Analysis of Literature: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ABSTRACT</dc:title>
  <dc:creator>Pranavi Tangeti</dc:creator>
  <cp:revision>3</cp:revision>
  <dcterms:created xsi:type="dcterms:W3CDTF">2006-08-16T00:00:00Z</dcterms:created>
  <dcterms:modified xsi:type="dcterms:W3CDTF">2026-10-02T13:07:41Z</dcterms:modified>
  <dc:identifier>DAHBHb9LjcI</dc:identifier>
</cp:coreProperties>
</file>