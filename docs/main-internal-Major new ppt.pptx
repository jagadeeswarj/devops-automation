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74" r:id="rId5"/>
    <p:sldId id="275" r:id="rId6"/>
    <p:sldId id="263" r:id="rId7"/>
    <p:sldId id="276" r:id="rId8"/>
    <p:sldId id="277" r:id="rId9"/>
    <p:sldId id="278" r:id="rId10"/>
    <p:sldId id="270" r:id="rId11"/>
    <p:sldId id="272" r:id="rId12"/>
    <p:sldId id="279" r:id="rId13"/>
    <p:sldId id="280" r:id="rId14"/>
    <p:sldId id="281" r:id="rId15"/>
    <p:sldId id="282" r:id="rId16"/>
    <p:sldId id="283" r:id="rId17"/>
    <p:sldId id="284" r:id="rId18"/>
    <p:sldId id="285" r:id="rId19"/>
    <p:sldId id="286" r:id="rId20"/>
    <p:sldId id="287" r:id="rId21"/>
    <p:sldId id="288" r:id="rId22"/>
    <p:sldId id="262" r:id="rId23"/>
    <p:sldId id="264" r:id="rId24"/>
    <p:sldId id="260" r:id="rId25"/>
    <p:sldId id="271" r:id="rId26"/>
  </p:sldIdLst>
  <p:sldSz cx="18288000" cy="10287000"/>
  <p:notesSz cx="6858000" cy="9144000"/>
  <p:embeddedFontLs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Open Sauce Bold" panose="020B0604020202020204" charset="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31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E7A11A-6006-4F19-A262-D293DDD0F5E7}" type="datetimeFigureOut">
              <a:rPr lang="en-IN" smtClean="0"/>
              <a:t>22-10-2026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37365F-B30F-49E1-B2B0-9F626C2EF9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4589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BAFBAA-1D04-4B45-8542-7F0EFFBF013A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7113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jpeg"/><Relationship Id="rId4" Type="http://schemas.openxmlformats.org/officeDocument/2006/relationships/image" Target="../media/image4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journals.plos.org/plosone/article?id=10.1371%2Fjournal.pone.0105297&amp;utm_source=chatgpt.com" TargetMode="Externa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143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aphicFrame>
        <p:nvGraphicFramePr>
          <p:cNvPr id="3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188463"/>
              </p:ext>
            </p:extLst>
          </p:nvPr>
        </p:nvGraphicFramePr>
        <p:xfrm>
          <a:off x="8763000" y="5112026"/>
          <a:ext cx="9217597" cy="5081590"/>
        </p:xfrm>
        <a:graphic>
          <a:graphicData uri="http://schemas.openxmlformats.org/drawingml/2006/table">
            <a:tbl>
              <a:tblPr/>
              <a:tblGrid>
                <a:gridCol w="4403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141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6627">
                <a:tc gridSpan="2"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32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Batch Number: 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endParaRPr lang="en-US" sz="1100" dirty="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6627"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 of the Team Members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Roll Numbers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6627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G. </a:t>
                      </a:r>
                      <a:r>
                        <a:rPr lang="en-IN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Vibhas</a:t>
                      </a: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Naidu</a:t>
                      </a:r>
                    </a:p>
                    <a:p>
                      <a:pPr algn="ctr" rtl="0" fontAlgn="ctr"/>
                      <a:endParaRPr lang="en-IN" sz="2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15240" marB="1524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IN" sz="240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23071A67F1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662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Jagadeeswar</a:t>
                      </a: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Jonnadula</a:t>
                      </a:r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22860" marR="22860" marT="15240" marB="1524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IN" sz="240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23071A67F4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31450138"/>
                  </a:ext>
                </a:extLst>
              </a:tr>
              <a:tr h="70662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 Parvez </a:t>
                      </a:r>
                      <a:r>
                        <a:rPr lang="en-IN" sz="24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Alam</a:t>
                      </a:r>
                      <a:endParaRPr lang="en-IN" sz="2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860" marR="22860" marT="15240" marB="1524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IN" sz="240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23071A67F5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6627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24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Y. Uday Bhaskar Reddy</a:t>
                      </a:r>
                    </a:p>
                  </a:txBody>
                  <a:tcPr marL="22860" marR="22860" marT="15240" marB="1524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4059"/>
                        </a:lnSpc>
                        <a:defRPr/>
                      </a:pPr>
                      <a:r>
                        <a:rPr lang="en-IN" sz="240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23071A67K4</a:t>
                      </a:r>
                      <a:endParaRPr 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5411464"/>
                  </a:ext>
                </a:extLst>
              </a:tr>
            </a:tbl>
          </a:graphicData>
        </a:graphic>
      </p:graphicFrame>
      <p:sp>
        <p:nvSpPr>
          <p:cNvPr id="6" name="TextBox 6"/>
          <p:cNvSpPr txBox="1"/>
          <p:nvPr/>
        </p:nvSpPr>
        <p:spPr>
          <a:xfrm>
            <a:off x="762000" y="3003982"/>
            <a:ext cx="17373600" cy="1473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8"/>
              </a:lnSpc>
              <a:spcBef>
                <a:spcPct val="0"/>
              </a:spcBef>
            </a:pPr>
            <a:r>
              <a:rPr lang="en-US" sz="4291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 AI-Driven Autonomous DevOps Framework for Intelligent Cloud Infrastructure Provisioning and Application Deployment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E02D836-7B44-9056-998D-7A2B2986E8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1" y="66675"/>
            <a:ext cx="16306800" cy="2847057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9BF72DB-01E8-8EDA-7D0E-B97FE11F5496}"/>
              </a:ext>
            </a:extLst>
          </p:cNvPr>
          <p:cNvSpPr txBox="1"/>
          <p:nvPr/>
        </p:nvSpPr>
        <p:spPr>
          <a:xfrm>
            <a:off x="277586" y="7149334"/>
            <a:ext cx="749481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Supervision of: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 Dr. P Jyothi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Designation: Assistant Professor</a:t>
            </a:r>
          </a:p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Dept. of CSE-(</a:t>
            </a:r>
            <a:r>
              <a:rPr lang="en-US" sz="32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CyS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DS) and AI&amp;DS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5392400" y="0"/>
            <a:ext cx="2759161" cy="1918923"/>
          </a:xfrm>
          <a:custGeom>
            <a:avLst/>
            <a:gdLst/>
            <a:ahLst/>
            <a:cxnLst/>
            <a:rect l="l" t="t" r="r" b="b"/>
            <a:pathLst>
              <a:path w="2759161" h="1918923">
                <a:moveTo>
                  <a:pt x="0" y="0"/>
                </a:moveTo>
                <a:lnTo>
                  <a:pt x="2759161" y="0"/>
                </a:lnTo>
                <a:lnTo>
                  <a:pt x="2759161" y="1918923"/>
                </a:lnTo>
                <a:lnTo>
                  <a:pt x="0" y="1918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402390" y="547486"/>
            <a:ext cx="2795623" cy="7382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8"/>
              </a:lnSpc>
              <a:spcBef>
                <a:spcPct val="0"/>
              </a:spcBef>
            </a:pPr>
            <a:r>
              <a:rPr lang="en-US" sz="4291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Abstract: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844B9E-454B-4EDF-B234-3B08A3E19D0A}"/>
              </a:ext>
            </a:extLst>
          </p:cNvPr>
          <p:cNvSpPr txBox="1"/>
          <p:nvPr/>
        </p:nvSpPr>
        <p:spPr>
          <a:xfrm>
            <a:off x="402390" y="1918923"/>
            <a:ext cx="16590210" cy="88947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software development requires efficient, scalable, and reliable cloud deployment, but developers often face challenges in analyzing application requirements, selecting suitable cloud services, configuring infrastructure, managing CI/CD pipelines, and identifying deployment or runtime failures. This project proposes an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AI-Driven Autonomous DevOps Framework for Intelligent Cloud Infrastructure Provisioning and Application Deployment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integrates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Intelligence, Machine Learning, Large Language Models, Natural Language Processing, and cloud automation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a unified platform. The system enables developers to connect external code repositories such as GitHub, after which an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ML-based code analysis model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analyzes the source code to identify the programming language, framework, dependencies, architecture, and infrastructure requirements. Based on these characteristics, an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ML-driven cloud-service recommendation model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recommends suitable services and deployment strategies across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AWS, Microsoft Azure, and Google Cloud Platform (GCP)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considering application requirements, cost, performance, scalability, and resource utilization. A decision and rule layer allows users to enforce deployment preferences, such as selecting a specific cloud provider or choosing the most cost-effective option.</a:t>
            </a:r>
          </a:p>
          <a:p>
            <a:pPr algn="just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also incorporates an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LLM-based application intelligence module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context-specific insights about the codebase, architecture, dependencies, functionality, and deployment requirements.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Terraform and cloud provider APIs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 to automatically provision the selected infrastructure and deploy applications through CI/CD pipelines. The system generates an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explainable deployment report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describing the selected cloud resources, their purpose, configuration, and the reasoning behind deployment decisions. For operational reliability, an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ML-based monitoring and anomaly detection model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analyzes application and infrastructure metrics and logs to identify abnormal behavior, while an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ML-based error classification model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identifies deployment and runtime failures and predicts their probable causes. A rule-based automation engine can initiate corrective actions such as application restart, scaling, rollback, or redeployment. By combining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Learning, Artificial Intelligence, Natural Language Processing, Infrastructure as Code, and multi-cloud automation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proposed framework aims to reduce manual DevOps effort, improve deployment reliability, optimize cloud-resource selection, and enable intelligent, autonomous, and explainable application deployment across heterogeneous cloud environments.</a:t>
            </a: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Keywords: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Intelligence, Machine Learning, Cloud Computing, DevOps Automation, Multi-Cloud Deployment, Infrastructure as Code, CI/CD, Anomaly Detection.</a:t>
            </a:r>
          </a:p>
          <a:p>
            <a:pPr algn="just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81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5528839" y="0"/>
            <a:ext cx="2759161" cy="1918923"/>
          </a:xfrm>
          <a:custGeom>
            <a:avLst/>
            <a:gdLst/>
            <a:ahLst/>
            <a:cxnLst/>
            <a:rect l="l" t="t" r="r" b="b"/>
            <a:pathLst>
              <a:path w="2759161" h="1918923">
                <a:moveTo>
                  <a:pt x="0" y="0"/>
                </a:moveTo>
                <a:lnTo>
                  <a:pt x="2759162" y="0"/>
                </a:lnTo>
                <a:lnTo>
                  <a:pt x="2759162" y="1918923"/>
                </a:lnTo>
                <a:lnTo>
                  <a:pt x="0" y="1918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69FA27-1ECC-4A81-BBCA-B218CC6349FD}"/>
              </a:ext>
            </a:extLst>
          </p:cNvPr>
          <p:cNvSpPr txBox="1"/>
          <p:nvPr/>
        </p:nvSpPr>
        <p:spPr>
          <a:xfrm>
            <a:off x="584139" y="2095500"/>
            <a:ext cx="1549406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2400" dirty="0"/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07787CF5-0E8E-46E0-A5C8-EB541B8FD0B1}"/>
              </a:ext>
            </a:extLst>
          </p:cNvPr>
          <p:cNvSpPr txBox="1"/>
          <p:nvPr/>
        </p:nvSpPr>
        <p:spPr>
          <a:xfrm>
            <a:off x="-1817817" y="81237"/>
            <a:ext cx="13121930" cy="14644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8"/>
              </a:lnSpc>
              <a:spcBef>
                <a:spcPct val="0"/>
              </a:spcBef>
            </a:pPr>
            <a:r>
              <a:rPr lang="en-US" sz="425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CHAPTER-1 Introduction:</a:t>
            </a:r>
            <a:br>
              <a:rPr lang="en-US" sz="425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</a:rPr>
            </a:br>
            <a:r>
              <a:rPr lang="en-US" sz="425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</a:rPr>
              <a:t>1.1  Background of the problem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747D3F6-2ACF-459F-BDAD-96D3DADC0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7297" y="10054921"/>
            <a:ext cx="165354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F74D84-EFA5-4D3E-BADA-C64BD3F514FB}"/>
              </a:ext>
            </a:extLst>
          </p:cNvPr>
          <p:cNvSpPr/>
          <p:nvPr/>
        </p:nvSpPr>
        <p:spPr>
          <a:xfrm>
            <a:off x="584139" y="1714500"/>
            <a:ext cx="15570261" cy="82791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Introduction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 and DevOps help developers build, deploy, and manage applications efficiently.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technologies simplify software development and make application deployment faster.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Existing Challenges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deployment involves code analysis, dependency checking, cloud service selection, and infrastructure configuration.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Performing these tasks manually requires more time, technical knowledge, and effort.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Multi-Cloud Complexity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Deploying applications on AWS, Azure, and GCP involves different services and configurations.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suitable cloud resources based on cost, performance, scalability, and application requirements is challenging.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Proposed Solution and Automation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uses AI and ML to analyze application code, identify dependencies, and recommend suitable cloud platforms and deployment strategies.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Terraform and CI/CD automate infrastructure setup and deployment, while monitoring and error detection improve reliability and cost-effectiveness.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6AA61E0C-1A29-442E-8FC8-BF5A402D1EA5}"/>
              </a:ext>
            </a:extLst>
          </p:cNvPr>
          <p:cNvSpPr/>
          <p:nvPr/>
        </p:nvSpPr>
        <p:spPr>
          <a:xfrm>
            <a:off x="0" y="-107578"/>
            <a:ext cx="18288000" cy="10394577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AB2AA27E-ED1D-48D6-A815-BC5454967E6A}"/>
              </a:ext>
            </a:extLst>
          </p:cNvPr>
          <p:cNvSpPr/>
          <p:nvPr/>
        </p:nvSpPr>
        <p:spPr>
          <a:xfrm>
            <a:off x="15544800" y="1"/>
            <a:ext cx="2667000" cy="1545676"/>
          </a:xfrm>
          <a:custGeom>
            <a:avLst/>
            <a:gdLst/>
            <a:ahLst/>
            <a:cxnLst/>
            <a:rect l="l" t="t" r="r" b="b"/>
            <a:pathLst>
              <a:path w="2759161" h="1918923">
                <a:moveTo>
                  <a:pt x="0" y="0"/>
                </a:moveTo>
                <a:lnTo>
                  <a:pt x="2759162" y="0"/>
                </a:lnTo>
                <a:lnTo>
                  <a:pt x="2759162" y="1918923"/>
                </a:lnTo>
                <a:lnTo>
                  <a:pt x="0" y="1918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1A151F3-5160-4803-A015-5E11D15B82AC}"/>
              </a:ext>
            </a:extLst>
          </p:cNvPr>
          <p:cNvSpPr txBox="1"/>
          <p:nvPr/>
        </p:nvSpPr>
        <p:spPr>
          <a:xfrm>
            <a:off x="-2911121" y="762835"/>
            <a:ext cx="13121930" cy="702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8"/>
              </a:lnSpc>
              <a:spcBef>
                <a:spcPct val="0"/>
              </a:spcBef>
            </a:pPr>
            <a:r>
              <a:rPr lang="en-US" sz="425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</a:rPr>
              <a:t>1.2  Need and Relevance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C53F632-781E-4FC0-A203-DB3EA2EF893B}"/>
              </a:ext>
            </a:extLst>
          </p:cNvPr>
          <p:cNvSpPr txBox="1"/>
          <p:nvPr/>
        </p:nvSpPr>
        <p:spPr>
          <a:xfrm>
            <a:off x="487017" y="1943241"/>
            <a:ext cx="17313965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6369671-DC6C-4BF0-8ED5-4C34A93BDFD8}"/>
              </a:ext>
            </a:extLst>
          </p:cNvPr>
          <p:cNvSpPr txBox="1"/>
          <p:nvPr/>
        </p:nvSpPr>
        <p:spPr>
          <a:xfrm>
            <a:off x="487017" y="1943241"/>
            <a:ext cx="17313965" cy="3693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endParaRPr lang="en-US" sz="2400" dirty="0">
              <a:solidFill>
                <a:srgbClr val="00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E6215E-8C75-4E5D-965A-D6B4386DDAE3}"/>
              </a:ext>
            </a:extLst>
          </p:cNvPr>
          <p:cNvSpPr txBox="1"/>
          <p:nvPr/>
        </p:nvSpPr>
        <p:spPr>
          <a:xfrm>
            <a:off x="609599" y="1929059"/>
            <a:ext cx="17313965" cy="64633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14350" indent="-514350" algn="just"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Challenges: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deployment requires code analysis, dependency checking, and infrastructure setup.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deployment takes more time and requires technical knowledge.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Multi-Cloud Selection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AWS, Azure, and GCP have different services and configurations.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suitable cloud services depends on cost, performance, and scalability.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AI-Based Automation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and ML analyze application code and recommend suitable cloud services.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Terraform and CI/CD pipelines automate infrastructure setup and deployment.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Monitoring and Benefits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detects errors and supports restarting, scaling, and rollback.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reduces manual effort and improves deployment speed, reliability, and cost-effectiveness.</a:t>
            </a:r>
          </a:p>
        </p:txBody>
      </p:sp>
    </p:spTree>
    <p:extLst>
      <p:ext uri="{BB962C8B-B14F-4D97-AF65-F5344CB8AC3E}">
        <p14:creationId xmlns:p14="http://schemas.microsoft.com/office/powerpoint/2010/main" val="41017198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2">
            <a:extLst>
              <a:ext uri="{FF2B5EF4-FFF2-40B4-BE49-F238E27FC236}">
                <a16:creationId xmlns:a16="http://schemas.microsoft.com/office/drawing/2014/main" id="{C2D34E4D-8A91-4CF1-87C2-F92F069EA12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1" name="Freeform 3">
            <a:extLst>
              <a:ext uri="{FF2B5EF4-FFF2-40B4-BE49-F238E27FC236}">
                <a16:creationId xmlns:a16="http://schemas.microsoft.com/office/drawing/2014/main" id="{EEDB8B6B-9665-4145-9D23-07EE66BCE2E4}"/>
              </a:ext>
            </a:extLst>
          </p:cNvPr>
          <p:cNvSpPr/>
          <p:nvPr/>
        </p:nvSpPr>
        <p:spPr>
          <a:xfrm>
            <a:off x="15621000" y="5443"/>
            <a:ext cx="2667000" cy="1545676"/>
          </a:xfrm>
          <a:custGeom>
            <a:avLst/>
            <a:gdLst/>
            <a:ahLst/>
            <a:cxnLst/>
            <a:rect l="l" t="t" r="r" b="b"/>
            <a:pathLst>
              <a:path w="2759161" h="1918923">
                <a:moveTo>
                  <a:pt x="0" y="0"/>
                </a:moveTo>
                <a:lnTo>
                  <a:pt x="2759162" y="0"/>
                </a:lnTo>
                <a:lnTo>
                  <a:pt x="2759162" y="1918923"/>
                </a:lnTo>
                <a:lnTo>
                  <a:pt x="0" y="1918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2A21FF9A-7EDD-411F-AA7D-FB7597286B50}"/>
              </a:ext>
            </a:extLst>
          </p:cNvPr>
          <p:cNvSpPr txBox="1"/>
          <p:nvPr/>
        </p:nvSpPr>
        <p:spPr>
          <a:xfrm>
            <a:off x="-3278243" y="778281"/>
            <a:ext cx="13121930" cy="702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8"/>
              </a:lnSpc>
              <a:spcBef>
                <a:spcPct val="0"/>
              </a:spcBef>
            </a:pPr>
            <a:r>
              <a:rPr lang="en-US" sz="425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</a:rPr>
              <a:t>1.3 Problem Statement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4F53D3B-2A1D-41EA-9D7F-E3C29CA48547}"/>
              </a:ext>
            </a:extLst>
          </p:cNvPr>
          <p:cNvSpPr txBox="1"/>
          <p:nvPr/>
        </p:nvSpPr>
        <p:spPr>
          <a:xfrm>
            <a:off x="381000" y="1763525"/>
            <a:ext cx="17313965" cy="68941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and Manual Cloud Resource Selection: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Selecting suitable cloud services requires analysis of application requirements, cost, performance, and scalability.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services across AWS, Azure, and GCP manually can be difficult and time-consuming.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Context-Aware Application Assistance: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Developers may find it difficult to understand complex codebases, dependencies, architecture, and deployment requirements.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context-aware system is needed to provide application-specific information through natural-language interaction.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 Infrastructure Provisioning and Application Deployment: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Manually configuring cloud infrastructure and deployment pipelines requires significant technical effort.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provisioning and CI/CD-based deployment are needed to simplify the deployment process. </a:t>
            </a:r>
          </a:p>
          <a:p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Automated Monitoring and Error Handling: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may experience abnormal behavior, deployment failures, runtime errors, and resource-related problems.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integrated system is needed to detect anomalies, classify errors, and support corrective actions.</a:t>
            </a:r>
          </a:p>
        </p:txBody>
      </p:sp>
    </p:spTree>
    <p:extLst>
      <p:ext uri="{BB962C8B-B14F-4D97-AF65-F5344CB8AC3E}">
        <p14:creationId xmlns:p14="http://schemas.microsoft.com/office/powerpoint/2010/main" val="22783621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  <p:sp>
        <p:nvSpPr>
          <p:cNvPr id="3" name="Freeform 3"/>
          <p:cNvSpPr/>
          <p:nvPr/>
        </p:nvSpPr>
        <p:spPr>
          <a:xfrm>
            <a:off x="15528839" y="0"/>
            <a:ext cx="2759161" cy="1918923"/>
          </a:xfrm>
          <a:custGeom>
            <a:avLst/>
            <a:gdLst/>
            <a:ahLst/>
            <a:cxnLst/>
            <a:rect l="l" t="t" r="r" b="b"/>
            <a:pathLst>
              <a:path w="2759161" h="1918923">
                <a:moveTo>
                  <a:pt x="0" y="0"/>
                </a:moveTo>
                <a:lnTo>
                  <a:pt x="2759161" y="0"/>
                </a:lnTo>
                <a:lnTo>
                  <a:pt x="2759161" y="1918923"/>
                </a:lnTo>
                <a:lnTo>
                  <a:pt x="0" y="1918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147940" y="547486"/>
            <a:ext cx="5490860" cy="7035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8"/>
              </a:lnSpc>
              <a:spcBef>
                <a:spcPct val="0"/>
              </a:spcBef>
            </a:pPr>
            <a:r>
              <a:rPr lang="en-US" sz="4291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1.4 Objectives: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E67803A-B662-4442-906A-982D9C19B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404015"/>
            <a:ext cx="15292709" cy="74789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Codebase Analysis and Cloud Selection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analyzes application code, programming languages, dependencies, and infrastructure requirements.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recommends suitable cloud services and deployment strategies across AWS, Azure, and GCP based on cost, performance, and scalability.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Context-Aware Question Answering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allows users to ask questions about application code, architecture, dependencies, and functionality.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provides relevant answers based on the analyzed codebase to help developers understand applications easily.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Cloud Provisioning and Deployment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Terraform and cloud APIs are used to provision infrastructure, while CI/CD pipelines automate application deployment.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generates deployment reports explaining the selected cloud services, configurations, and deployment decisions.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Monitoring and Error Handling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monitors application performance, analyzes logs, detects unusual activities, and identifies deployment failures.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supports corrective actions such as restarting, scaling, rollback, and redeployment to improve reliability and reduce manual effort.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48679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F4DB7-6983-0343-6408-C4D536F64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9DA3BA3-F7CB-319F-0C82-71F2CEEB906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F334EA9-40B2-12B2-26D6-523909D832DE}"/>
              </a:ext>
            </a:extLst>
          </p:cNvPr>
          <p:cNvSpPr/>
          <p:nvPr/>
        </p:nvSpPr>
        <p:spPr>
          <a:xfrm>
            <a:off x="15544800" y="1"/>
            <a:ext cx="2667000" cy="1545676"/>
          </a:xfrm>
          <a:custGeom>
            <a:avLst/>
            <a:gdLst/>
            <a:ahLst/>
            <a:cxnLst/>
            <a:rect l="l" t="t" r="r" b="b"/>
            <a:pathLst>
              <a:path w="2759161" h="1918923">
                <a:moveTo>
                  <a:pt x="0" y="0"/>
                </a:moveTo>
                <a:lnTo>
                  <a:pt x="2759162" y="0"/>
                </a:lnTo>
                <a:lnTo>
                  <a:pt x="2759162" y="1918923"/>
                </a:lnTo>
                <a:lnTo>
                  <a:pt x="0" y="1918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89280C2-CAE7-987A-9127-08DFA451C8EE}"/>
              </a:ext>
            </a:extLst>
          </p:cNvPr>
          <p:cNvSpPr txBox="1"/>
          <p:nvPr/>
        </p:nvSpPr>
        <p:spPr>
          <a:xfrm>
            <a:off x="-3592982" y="215064"/>
            <a:ext cx="13121930" cy="702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8"/>
              </a:lnSpc>
              <a:spcBef>
                <a:spcPct val="0"/>
              </a:spcBef>
            </a:pPr>
            <a:r>
              <a:rPr lang="en-US" sz="425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</a:rPr>
              <a:t>1.5 Scope of Work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6B8CFED-0610-8079-4044-3359B6520909}"/>
              </a:ext>
            </a:extLst>
          </p:cNvPr>
          <p:cNvSpPr txBox="1"/>
          <p:nvPr/>
        </p:nvSpPr>
        <p:spPr>
          <a:xfrm>
            <a:off x="487017" y="1363459"/>
            <a:ext cx="17313965" cy="73250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Codebase Analysis and Cloud Service Recommendation: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 a system that analyzes application code and recommends suitable cloud services and deployment strategies.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Context-Aware Application Assistance: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application-specific information through natural-language interaction with an AI-based assistant.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Automated Cloud Provisioning and Deployment: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Automate cloud infrastructure provisioning using Terraform and application deployment through CI/CD pipelines.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Multi-Cloud Deployment Support: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 application deployment across AWS, Microsoft Azure, and Google Cloud Platform.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Intelligent Monitoring and Error Response: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Monitor applications, detect anomalies and failures, and support corrective actions such as restart, scaling, rollback, and redeployment.</a:t>
            </a:r>
          </a:p>
          <a:p>
            <a:pPr algn="just"/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Explainable DevOps Automation: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Generate clear deployment reports explaining selected resources, configurations, and deployment decisions. </a:t>
            </a:r>
          </a:p>
        </p:txBody>
      </p:sp>
    </p:spTree>
    <p:extLst>
      <p:ext uri="{BB962C8B-B14F-4D97-AF65-F5344CB8AC3E}">
        <p14:creationId xmlns:p14="http://schemas.microsoft.com/office/powerpoint/2010/main" val="1953037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56D9A5-B211-4AE7-0C19-EC8A5F4A0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7BCED21-DFCF-F87B-64B1-BA87E930E1B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59217B7-88E6-75B9-1B5D-33EF85C00499}"/>
              </a:ext>
            </a:extLst>
          </p:cNvPr>
          <p:cNvSpPr/>
          <p:nvPr/>
        </p:nvSpPr>
        <p:spPr>
          <a:xfrm>
            <a:off x="15544800" y="1"/>
            <a:ext cx="2667000" cy="1545676"/>
          </a:xfrm>
          <a:custGeom>
            <a:avLst/>
            <a:gdLst/>
            <a:ahLst/>
            <a:cxnLst/>
            <a:rect l="l" t="t" r="r" b="b"/>
            <a:pathLst>
              <a:path w="2759161" h="1918923">
                <a:moveTo>
                  <a:pt x="0" y="0"/>
                </a:moveTo>
                <a:lnTo>
                  <a:pt x="2759162" y="0"/>
                </a:lnTo>
                <a:lnTo>
                  <a:pt x="2759162" y="1918923"/>
                </a:lnTo>
                <a:lnTo>
                  <a:pt x="0" y="1918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58334A0-7157-D0C7-9D28-A8C9F7082156}"/>
              </a:ext>
            </a:extLst>
          </p:cNvPr>
          <p:cNvSpPr txBox="1"/>
          <p:nvPr/>
        </p:nvSpPr>
        <p:spPr>
          <a:xfrm>
            <a:off x="-1986156" y="215064"/>
            <a:ext cx="13121930" cy="7024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8"/>
              </a:lnSpc>
              <a:spcBef>
                <a:spcPct val="0"/>
              </a:spcBef>
            </a:pPr>
            <a:r>
              <a:rPr lang="en-US" sz="4250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</a:rPr>
              <a:t>1.6  Organization of the Report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A2374-CF2C-D7E3-BE6A-7003BAEDEDCE}"/>
              </a:ext>
            </a:extLst>
          </p:cNvPr>
          <p:cNvSpPr txBox="1"/>
          <p:nvPr/>
        </p:nvSpPr>
        <p:spPr>
          <a:xfrm>
            <a:off x="538172" y="1751439"/>
            <a:ext cx="16561465" cy="52629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b="1">
                <a:latin typeface="Times New Roman"/>
                <a:ea typeface="Calibri"/>
                <a:cs typeface="Times New Roman"/>
              </a:rPr>
              <a:t>Chapter</a:t>
            </a:r>
            <a:r>
              <a:rPr lang="en-GB" sz="2800" b="1">
                <a:latin typeface="Times New Roman"/>
                <a:ea typeface="+mn-lt"/>
                <a:cs typeface="Times New Roman"/>
              </a:rPr>
              <a:t> 1 – Introduction</a:t>
            </a:r>
            <a:br>
              <a:rPr lang="en-GB" sz="2800" b="1">
                <a:latin typeface="Times New Roman"/>
                <a:ea typeface="+mn-lt"/>
                <a:cs typeface="Times New Roman"/>
              </a:rPr>
            </a:br>
            <a:r>
              <a:rPr lang="en-GB" sz="2800">
                <a:latin typeface="Times New Roman"/>
                <a:ea typeface="+mn-lt"/>
                <a:cs typeface="Times New Roman"/>
              </a:rPr>
              <a:t>Presents the background of the problem, need and relevance, problem statement, objectives, and scope of the project.</a:t>
            </a:r>
            <a:endParaRPr lang="en-GB" sz="2800">
              <a:latin typeface="Times New Roman"/>
              <a:ea typeface="Calibri"/>
              <a:cs typeface="Times New Roman"/>
            </a:endParaRPr>
          </a:p>
          <a:p>
            <a:endParaRPr lang="en-GB" sz="2800">
              <a:latin typeface="Times New Roman"/>
              <a:ea typeface="+mn-lt"/>
              <a:cs typeface="Times New Roman"/>
            </a:endParaRPr>
          </a:p>
          <a:p>
            <a:r>
              <a:rPr lang="en-GB" sz="2800" b="1">
                <a:latin typeface="Times New Roman"/>
                <a:ea typeface="+mn-lt"/>
                <a:cs typeface="Times New Roman"/>
              </a:rPr>
              <a:t>Chapter 2 – Literature Review</a:t>
            </a:r>
            <a:br>
              <a:rPr lang="en-GB" sz="2800" b="1">
                <a:latin typeface="Times New Roman"/>
                <a:ea typeface="+mn-lt"/>
                <a:cs typeface="Times New Roman"/>
              </a:rPr>
            </a:br>
            <a:r>
              <a:rPr lang="en-GB" sz="2800">
                <a:latin typeface="Times New Roman"/>
                <a:ea typeface="+mn-lt"/>
                <a:cs typeface="Times New Roman"/>
              </a:rPr>
              <a:t>Discusses existing research and approaches related to AI-based airport assistance, identifies their limitations, and presents the research gaps addressed by SIPAS.</a:t>
            </a:r>
            <a:endParaRPr lang="en-GB" sz="2800">
              <a:latin typeface="Times New Roman"/>
              <a:ea typeface="Calibri"/>
              <a:cs typeface="Times New Roman"/>
            </a:endParaRPr>
          </a:p>
          <a:p>
            <a:endParaRPr lang="en-GB" sz="2800">
              <a:latin typeface="Times New Roman"/>
              <a:ea typeface="+mn-lt"/>
              <a:cs typeface="Times New Roman"/>
            </a:endParaRPr>
          </a:p>
          <a:p>
            <a:r>
              <a:rPr lang="en-GB" sz="2800" b="1">
                <a:latin typeface="Times New Roman"/>
                <a:ea typeface="+mn-lt"/>
                <a:cs typeface="Times New Roman"/>
              </a:rPr>
              <a:t>Chapter 3 – Approach / Design Methodology</a:t>
            </a:r>
            <a:br>
              <a:rPr lang="en-GB" sz="2800" b="1">
                <a:latin typeface="Times New Roman"/>
                <a:ea typeface="+mn-lt"/>
                <a:cs typeface="Times New Roman"/>
              </a:rPr>
            </a:br>
            <a:r>
              <a:rPr lang="en-GB" sz="2800">
                <a:latin typeface="Times New Roman"/>
                <a:ea typeface="+mn-lt"/>
                <a:cs typeface="Times New Roman"/>
              </a:rPr>
              <a:t>Describes the proposed methodology, technical approach, system design, key components, tools, and technologies used to develop SIPAS.</a:t>
            </a:r>
            <a:endParaRPr lang="en-GB" sz="2800">
              <a:latin typeface="Times New Roman"/>
              <a:cs typeface="Times New Roman"/>
            </a:endParaRPr>
          </a:p>
          <a:p>
            <a:pPr algn="l"/>
            <a:endParaRPr lang="en-GB" sz="280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24200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D1CEE-ED5A-60E8-3B68-FFEE88F7C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7E9B5AF-DF82-6F0B-6FC4-842E1EAACC43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590F00C-93F7-4DDB-8C02-AA9854E7C4B4}"/>
              </a:ext>
            </a:extLst>
          </p:cNvPr>
          <p:cNvSpPr/>
          <p:nvPr/>
        </p:nvSpPr>
        <p:spPr>
          <a:xfrm>
            <a:off x="15544800" y="1"/>
            <a:ext cx="2667000" cy="1545676"/>
          </a:xfrm>
          <a:custGeom>
            <a:avLst/>
            <a:gdLst/>
            <a:ahLst/>
            <a:cxnLst/>
            <a:rect l="l" t="t" r="r" b="b"/>
            <a:pathLst>
              <a:path w="2759161" h="1918923">
                <a:moveTo>
                  <a:pt x="0" y="0"/>
                </a:moveTo>
                <a:lnTo>
                  <a:pt x="2759162" y="0"/>
                </a:lnTo>
                <a:lnTo>
                  <a:pt x="2759162" y="1918923"/>
                </a:lnTo>
                <a:lnTo>
                  <a:pt x="0" y="1918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2FBD122F-0226-C423-D4B3-8307569E7B4E}"/>
              </a:ext>
            </a:extLst>
          </p:cNvPr>
          <p:cNvSpPr txBox="1"/>
          <p:nvPr/>
        </p:nvSpPr>
        <p:spPr>
          <a:xfrm>
            <a:off x="-1744303" y="231629"/>
            <a:ext cx="13121930" cy="1471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8"/>
              </a:lnSpc>
              <a:spcBef>
                <a:spcPct val="0"/>
              </a:spcBef>
            </a:pPr>
            <a:r>
              <a:rPr lang="en-US" sz="425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</a:rPr>
              <a:t>Chapter 2 – LITERATURE REVIEW</a:t>
            </a:r>
            <a:br>
              <a:rPr lang="en-US" sz="425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</a:rPr>
            </a:br>
            <a:r>
              <a:rPr lang="en-US" sz="425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</a:rPr>
              <a:t>2.1  Overview of Existing Work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1C96544A-66D1-4494-B282-3241DBE28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700" y="2125325"/>
            <a:ext cx="16268700" cy="6370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DevOps Automation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systems automate cloud infrastructure setup and application deployment to reduce manual effort.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 and ML help developers analyze application code and simplify deployment activities.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AI-Based Infrastructure Generation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Large Language Models (LLMs) help generate Terraform configurations based on application requirements.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Some approaches focus on secure infrastructure configuration and automated cloud deployment.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Monitoring and Error Detection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AIOps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-based systems analyze logs, detect unusual activities, and identify application failures.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They also support resource management and automatic recovery from deployment issues.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Research Gap and Proposed Work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existing approaches focus on individual tasks rather than the complete cloud deployment lifecycle.</a:t>
            </a: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Our framework integrates code analysis, cloud selection, application assistance, Terraform, CI/CD, monitoring, and automated error handling into one system.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67666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BCB09-171E-426F-5F29-8742EBCDD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9448800" cy="1143000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2.2 Critical Analysis of Literature:</a:t>
            </a:r>
            <a:endParaRPr lang="en-IN" dirty="0"/>
          </a:p>
        </p:txBody>
      </p:sp>
      <p:graphicFrame>
        <p:nvGraphicFramePr>
          <p:cNvPr id="10" name="Content Placeholder 9">
            <a:extLst>
              <a:ext uri="{FF2B5EF4-FFF2-40B4-BE49-F238E27FC236}">
                <a16:creationId xmlns:a16="http://schemas.microsoft.com/office/drawing/2014/main" id="{A1033129-DB8E-4601-9A20-3FFDDA1399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3612004"/>
              </p:ext>
            </p:extLst>
          </p:nvPr>
        </p:nvGraphicFramePr>
        <p:xfrm>
          <a:off x="685800" y="1417638"/>
          <a:ext cx="16764000" cy="81454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4000">
                  <a:extLst>
                    <a:ext uri="{9D8B030D-6E8A-4147-A177-3AD203B41FA5}">
                      <a16:colId xmlns:a16="http://schemas.microsoft.com/office/drawing/2014/main" val="724734094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199178456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3079387262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1557345928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838726973"/>
                    </a:ext>
                  </a:extLst>
                </a:gridCol>
                <a:gridCol w="2794000">
                  <a:extLst>
                    <a:ext uri="{9D8B030D-6E8A-4147-A177-3AD203B41FA5}">
                      <a16:colId xmlns:a16="http://schemas.microsoft.com/office/drawing/2014/main" val="2904197838"/>
                    </a:ext>
                  </a:extLst>
                </a:gridCol>
              </a:tblGrid>
              <a:tr h="881109">
                <a:tc>
                  <a:txBody>
                    <a:bodyPr/>
                    <a:lstStyle/>
                    <a:p>
                      <a:r>
                        <a:rPr lang="en-IN" sz="1800"/>
                        <a:t>Title of the Paper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7" marR="22517" marT="11259" marB="11259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Author details and Journal / Conference publishing information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7" marR="22517" marT="11259" marB="11259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Proposed method used in the paper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7" marR="22517" marT="11259" marB="11259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Dataset used in the Paper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7" marR="22517" marT="11259" marB="11259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Advantages of the proposed paper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7" marR="22517" marT="11259" marB="11259" anchor="ctr"/>
                </a:tc>
                <a:tc>
                  <a:txBody>
                    <a:bodyPr/>
                    <a:lstStyle/>
                    <a:p>
                      <a:r>
                        <a:rPr lang="en-IN" sz="1800" dirty="0"/>
                        <a:t>Research Gap Identified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7" marR="22517" marT="11259" marB="11259" anchor="ctr"/>
                </a:tc>
                <a:extLst>
                  <a:ext uri="{0D108BD9-81ED-4DB2-BD59-A6C34878D82A}">
                    <a16:rowId xmlns:a16="http://schemas.microsoft.com/office/drawing/2014/main" val="3513270574"/>
                  </a:ext>
                </a:extLst>
              </a:tr>
              <a:tr h="1738751">
                <a:tc>
                  <a:txBody>
                    <a:bodyPr/>
                    <a:lstStyle/>
                    <a:p>
                      <a:r>
                        <a:rPr lang="en-IN" sz="1800"/>
                        <a:t>1. Automatic Root Cause Analysis via Large Language Models for Cloud Incidents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7" marR="22517" marT="11259" marB="11259" anchor="ctr"/>
                </a:tc>
                <a:tc>
                  <a:txBody>
                    <a:bodyPr/>
                    <a:lstStyle/>
                    <a:p>
                      <a:r>
                        <a:rPr lang="da-DK" sz="1800"/>
                        <a:t>Yinfang Chen et al. — EuroSys ’24, ACM, 2024</a:t>
                      </a:r>
                      <a:endParaRPr lang="da-DK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7" marR="22517" marT="11259" marB="11259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RCACopilot uses incident handlers and an LLM to collect diagnostic data, identify root-cause categories, and generate explanations.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7" marR="22517" marT="11259" marB="11259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One year of real-world production incidents from Microsoft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7" marR="22517" marT="11259" marB="11259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Automates RCA and reduces manual investigation effort.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7" marR="22517" marT="11259" marB="11259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Performance decreases for unseen root causes; depends on incident handlers and troubleshooting knowledge.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7" marR="22517" marT="11259" marB="11259" anchor="ctr"/>
                </a:tc>
                <a:extLst>
                  <a:ext uri="{0D108BD9-81ED-4DB2-BD59-A6C34878D82A}">
                    <a16:rowId xmlns:a16="http://schemas.microsoft.com/office/drawing/2014/main" val="2344555770"/>
                  </a:ext>
                </a:extLst>
              </a:tr>
              <a:tr h="1452871">
                <a:tc>
                  <a:txBody>
                    <a:bodyPr/>
                    <a:lstStyle/>
                    <a:p>
                      <a:r>
                        <a:rPr lang="en-US" sz="1800"/>
                        <a:t>2. Security-First Evaluation of Text-to-Terraform: Benchmarking LLMs and SLMs for Secure IaC Generation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7" marR="22517" marT="11259" marB="11259" anchor="ctr"/>
                </a:tc>
                <a:tc>
                  <a:txBody>
                    <a:bodyPr/>
                    <a:lstStyle/>
                    <a:p>
                      <a:r>
                        <a:rPr lang="es-ES" sz="1800" dirty="0"/>
                        <a:t>F. L. Santos Vargas et al. — </a:t>
                      </a:r>
                      <a:r>
                        <a:rPr lang="es-ES" sz="1800" dirty="0" err="1"/>
                        <a:t>arXiv</a:t>
                      </a:r>
                      <a:r>
                        <a:rPr lang="es-ES" sz="1800" dirty="0"/>
                        <a:t>, 2026</a:t>
                      </a:r>
                      <a:endParaRPr lang="es-E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7" marR="22517" marT="11259" marB="11259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Evaluates LLMs/SLMs for Terraform generation using Checkov and Trivy security scanning.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7" marR="22517" marT="11259" marB="11259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17 curated AWS Terraform generation scenarios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7" marR="22517" marT="11259" marB="11259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Evaluates both Terraform validity and security compliance.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7" marR="22517" marT="11259" marB="11259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Small scenario set; prompt engineering alone does not ensure secure IaC.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7" marR="22517" marT="11259" marB="11259" anchor="ctr"/>
                </a:tc>
                <a:extLst>
                  <a:ext uri="{0D108BD9-81ED-4DB2-BD59-A6C34878D82A}">
                    <a16:rowId xmlns:a16="http://schemas.microsoft.com/office/drawing/2014/main" val="3732851712"/>
                  </a:ext>
                </a:extLst>
              </a:tr>
              <a:tr h="1452871">
                <a:tc>
                  <a:txBody>
                    <a:bodyPr/>
                    <a:lstStyle/>
                    <a:p>
                      <a:r>
                        <a:rPr lang="en-US" sz="1800"/>
                        <a:t>3. Cloud Infrastructure Management in the Age of AI Agents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7" marR="22517" marT="11259" marB="11259" anchor="ctr"/>
                </a:tc>
                <a:tc>
                  <a:txBody>
                    <a:bodyPr/>
                    <a:lstStyle/>
                    <a:p>
                      <a:r>
                        <a:rPr lang="nb-NO" sz="1800"/>
                        <a:t>Zhenning Yang et al. — arXiv:2506.12270, 2025</a:t>
                      </a:r>
                      <a:endParaRPr lang="nb-NO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7" marR="22517" marT="11259" marB="11259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Explores LLM-based AI agents using SDKs, CLIs, IaC platforms, and cloud interfaces for infrastructure management.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7" marR="22517" marT="11259" marB="11259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Preliminary cloud-management task evaluations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7" marR="22517" marT="11259" marB="11259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Shows potential for automating repetitive cloud-management tasks.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7" marR="22517" marT="11259" marB="11259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Safety, reliability, scalability, and long-horizon autonomous operations require further research.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7" marR="22517" marT="11259" marB="11259" anchor="ctr"/>
                </a:tc>
                <a:extLst>
                  <a:ext uri="{0D108BD9-81ED-4DB2-BD59-A6C34878D82A}">
                    <a16:rowId xmlns:a16="http://schemas.microsoft.com/office/drawing/2014/main" val="3432334325"/>
                  </a:ext>
                </a:extLst>
              </a:tr>
              <a:tr h="1452871">
                <a:tc>
                  <a:txBody>
                    <a:bodyPr/>
                    <a:lstStyle/>
                    <a:p>
                      <a:r>
                        <a:rPr lang="en-US" sz="1800"/>
                        <a:t>4. AIOpsLab: A Holistic Framework for Evaluating AI Agents for Enabling Autonomous Cloud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7" marR="22517" marT="11259" marB="11259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Chen et al. — 2024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7" marR="22517" marT="11259" marB="11259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Provides a framework for evaluating AI agents on cloud incident detection, diagnosis, and resolution tasks.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7" marR="22517" marT="11259" marB="11259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Cloud incident scenarios and benchmark tasks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7" marR="22517" marT="11259" marB="11259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Enables systematic evaluation of autonomous cloud agents.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7" marR="22517" marT="11259" marB="11259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More realistic environments and broader autonomous operations are needed.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7" marR="22517" marT="11259" marB="11259" anchor="ctr"/>
                </a:tc>
                <a:extLst>
                  <a:ext uri="{0D108BD9-81ED-4DB2-BD59-A6C34878D82A}">
                    <a16:rowId xmlns:a16="http://schemas.microsoft.com/office/drawing/2014/main" val="3431469660"/>
                  </a:ext>
                </a:extLst>
              </a:tr>
              <a:tr h="1166989">
                <a:tc>
                  <a:txBody>
                    <a:bodyPr/>
                    <a:lstStyle/>
                    <a:p>
                      <a:r>
                        <a:rPr lang="en-US" sz="1800"/>
                        <a:t>5. An Architecture for Model-Based and Intelligent Automation in DevOps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7" marR="22517" marT="11259" marB="11259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Research paper on intelligent DevOps automation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7" marR="22517" marT="11259" marB="11259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Uses model-based approaches and intelligent automation to support DevOps processes.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7" marR="22517" marT="11259" marB="11259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Not specified in the paper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7" marR="22517" marT="11259" marB="11259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Supports automation and integration of intelligent decision-making in DevOps.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7" marR="22517" marT="11259" marB="11259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Limited integration of modern LLM-based autonomous cloud operations.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2517" marR="22517" marT="11259" marB="11259" anchor="ctr"/>
                </a:tc>
                <a:extLst>
                  <a:ext uri="{0D108BD9-81ED-4DB2-BD59-A6C34878D82A}">
                    <a16:rowId xmlns:a16="http://schemas.microsoft.com/office/drawing/2014/main" val="863829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54282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BCB09-171E-426F-5F29-8742EBCDD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9448800" cy="1143000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2.2 Critical Analysis of Literature:</a:t>
            </a:r>
            <a:endParaRPr lang="en-IN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DC7BC11C-C869-4F18-B035-AB657AE54D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53406793"/>
              </p:ext>
            </p:extLst>
          </p:nvPr>
        </p:nvGraphicFramePr>
        <p:xfrm>
          <a:off x="609600" y="1387746"/>
          <a:ext cx="16611600" cy="8624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8600">
                  <a:extLst>
                    <a:ext uri="{9D8B030D-6E8A-4147-A177-3AD203B41FA5}">
                      <a16:colId xmlns:a16="http://schemas.microsoft.com/office/drawing/2014/main" val="2575770962"/>
                    </a:ext>
                  </a:extLst>
                </a:gridCol>
                <a:gridCol w="2768600">
                  <a:extLst>
                    <a:ext uri="{9D8B030D-6E8A-4147-A177-3AD203B41FA5}">
                      <a16:colId xmlns:a16="http://schemas.microsoft.com/office/drawing/2014/main" val="1964715647"/>
                    </a:ext>
                  </a:extLst>
                </a:gridCol>
                <a:gridCol w="2768600">
                  <a:extLst>
                    <a:ext uri="{9D8B030D-6E8A-4147-A177-3AD203B41FA5}">
                      <a16:colId xmlns:a16="http://schemas.microsoft.com/office/drawing/2014/main" val="1141491396"/>
                    </a:ext>
                  </a:extLst>
                </a:gridCol>
                <a:gridCol w="2768600">
                  <a:extLst>
                    <a:ext uri="{9D8B030D-6E8A-4147-A177-3AD203B41FA5}">
                      <a16:colId xmlns:a16="http://schemas.microsoft.com/office/drawing/2014/main" val="1694192568"/>
                    </a:ext>
                  </a:extLst>
                </a:gridCol>
                <a:gridCol w="2768600">
                  <a:extLst>
                    <a:ext uri="{9D8B030D-6E8A-4147-A177-3AD203B41FA5}">
                      <a16:colId xmlns:a16="http://schemas.microsoft.com/office/drawing/2014/main" val="1040794028"/>
                    </a:ext>
                  </a:extLst>
                </a:gridCol>
                <a:gridCol w="2768600">
                  <a:extLst>
                    <a:ext uri="{9D8B030D-6E8A-4147-A177-3AD203B41FA5}">
                      <a16:colId xmlns:a16="http://schemas.microsoft.com/office/drawing/2014/main" val="597315552"/>
                    </a:ext>
                  </a:extLst>
                </a:gridCol>
              </a:tblGrid>
              <a:tr h="382192">
                <a:tc>
                  <a:txBody>
                    <a:bodyPr/>
                    <a:lstStyle/>
                    <a:p>
                      <a:r>
                        <a:rPr lang="en-IN" sz="1800"/>
                        <a:t>Title of the Paper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5" marR="20115" marT="10058" marB="10058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Author details and Journal / Conference publishing information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5" marR="20115" marT="10058" marB="10058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Proposed method used in the paper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5" marR="20115" marT="10058" marB="10058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Dataset used in the Paper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5" marR="20115" marT="10058" marB="10058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Advantages of the proposed paper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5" marR="20115" marT="10058" marB="10058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Research Gap Identified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5" marR="20115" marT="10058" marB="10058" anchor="ctr"/>
                </a:tc>
                <a:extLst>
                  <a:ext uri="{0D108BD9-81ED-4DB2-BD59-A6C34878D82A}">
                    <a16:rowId xmlns:a16="http://schemas.microsoft.com/office/drawing/2014/main" val="1200375721"/>
                  </a:ext>
                </a:extLst>
              </a:tr>
              <a:tr h="744269">
                <a:tc>
                  <a:txBody>
                    <a:bodyPr/>
                    <a:lstStyle/>
                    <a:p>
                      <a:r>
                        <a:rPr lang="en-US" sz="1800"/>
                        <a:t>6. Automating Cloud Infrastructure Provisioning with Semantically-Enriched Large Language Models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5" marR="20115" marT="10058" marB="10058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Research paper on LLM-based cloud provisioning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5" marR="20115" marT="10058" marB="10058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Uses semantically enriched LLMs to generate and automate cloud infrastructure configurations.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5" marR="20115" marT="10058" marB="10058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Cloud infrastructure configuration examples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5" marR="20115" marT="10058" marB="10058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Reduces manual infrastructure configuration effort.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5" marR="20115" marT="10058" marB="10058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Requires stronger validation, security, and deployment reliability.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5" marR="20115" marT="10058" marB="10058" anchor="ctr"/>
                </a:tc>
                <a:extLst>
                  <a:ext uri="{0D108BD9-81ED-4DB2-BD59-A6C34878D82A}">
                    <a16:rowId xmlns:a16="http://schemas.microsoft.com/office/drawing/2014/main" val="2992969131"/>
                  </a:ext>
                </a:extLst>
              </a:tr>
              <a:tr h="683923">
                <a:tc>
                  <a:txBody>
                    <a:bodyPr/>
                    <a:lstStyle/>
                    <a:p>
                      <a:r>
                        <a:rPr lang="en-US" sz="1800"/>
                        <a:t>7. Generative AI as an Infrastructure Copilot: Automating Infrastructure-as-Code Across the DevSecOps Lifecycle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5" marR="20115" marT="10058" marB="10058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Research paper on </a:t>
                      </a:r>
                      <a:r>
                        <a:rPr lang="en-US" sz="1800" dirty="0" err="1"/>
                        <a:t>GenAI</a:t>
                      </a:r>
                      <a:r>
                        <a:rPr lang="en-US" sz="1800" dirty="0"/>
                        <a:t> and </a:t>
                      </a:r>
                      <a:r>
                        <a:rPr lang="en-US" sz="1800" dirty="0" err="1"/>
                        <a:t>DevSecOps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5" marR="20115" marT="10058" marB="10058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Uses Generative AI as an IaC assistant across development, security, and deployment stages.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5" marR="20115" marT="10058" marB="10058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IaC/DevSecOps examples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5" marR="20115" marT="10058" marB="10058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Supports automation throughout the DevSecOps lifecycle.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5" marR="20115" marT="10058" marB="10058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Security, correctness, and long-term maintainability remain challenges.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5" marR="20115" marT="10058" marB="10058" anchor="ctr"/>
                </a:tc>
                <a:extLst>
                  <a:ext uri="{0D108BD9-81ED-4DB2-BD59-A6C34878D82A}">
                    <a16:rowId xmlns:a16="http://schemas.microsoft.com/office/drawing/2014/main" val="928403993"/>
                  </a:ext>
                </a:extLst>
              </a:tr>
              <a:tr h="864962">
                <a:tc>
                  <a:txBody>
                    <a:bodyPr/>
                    <a:lstStyle/>
                    <a:p>
                      <a:r>
                        <a:rPr lang="en-US" sz="1800" dirty="0"/>
                        <a:t>8. </a:t>
                      </a:r>
                      <a:r>
                        <a:rPr lang="en-US" sz="1800" dirty="0" err="1"/>
                        <a:t>Deployability</a:t>
                      </a:r>
                      <a:r>
                        <a:rPr lang="en-US" sz="1800" dirty="0"/>
                        <a:t>-Centric Infrastructure-as-Code Generation: Fail, Learn, Refine, and Succeed through LLM-Empowered DevOps Simulation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5" marR="20115" marT="10058" marB="10058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Tianyi Zhang, Shidong Pan, Zejun Zhang, Zhenchang Xing, Xiaoyu Sun — 2025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5" marR="20115" marT="10058" marB="10058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Uses iterative generation, deployment testing, feedback, and refinement to improve IaC deployability.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5" marR="20115" marT="10058" marB="10058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DPIaC-Eval: 153 CloudFormation templates covering about 60 AWS services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5" marR="20115" marT="10058" marB="10058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Focuses on actual deployment success rather than syntax alone.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5" marR="20115" marT="10058" marB="10058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Generated IaC still has limitations in requirement coverage and security compliance.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5" marR="20115" marT="10058" marB="10058" anchor="ctr"/>
                </a:tc>
                <a:extLst>
                  <a:ext uri="{0D108BD9-81ED-4DB2-BD59-A6C34878D82A}">
                    <a16:rowId xmlns:a16="http://schemas.microsoft.com/office/drawing/2014/main" val="4031347824"/>
                  </a:ext>
                </a:extLst>
              </a:tr>
              <a:tr h="744269">
                <a:tc>
                  <a:txBody>
                    <a:bodyPr/>
                    <a:lstStyle/>
                    <a:p>
                      <a:r>
                        <a:rPr lang="en-US" sz="1800"/>
                        <a:t>9. AI-Driven Cloud Operations: An Architectural Framework and Research Challenges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5" marR="20115" marT="10058" marB="10058" anchor="ctr"/>
                </a:tc>
                <a:tc>
                  <a:txBody>
                    <a:bodyPr/>
                    <a:lstStyle/>
                    <a:p>
                      <a:r>
                        <a:rPr lang="en-IN" sz="1800" dirty="0" err="1"/>
                        <a:t>Shraddhaben</a:t>
                      </a:r>
                      <a:r>
                        <a:rPr lang="en-IN" sz="1800" dirty="0"/>
                        <a:t> R. </a:t>
                      </a:r>
                      <a:r>
                        <a:rPr lang="en-IN" sz="1800" dirty="0" err="1"/>
                        <a:t>Gajjar</a:t>
                      </a:r>
                      <a:r>
                        <a:rPr lang="en-IN" sz="1800" dirty="0"/>
                        <a:t> — Future Generation Computer Systems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5" marR="20115" marT="10058" marB="10058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Proposes a layered architecture connecting observability, context, reasoning, decision-making, automation, and feedback.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5" marR="20115" marT="10058" marB="10058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Conceptual/reference architecture; no conventional dataset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5" marR="20115" marT="10058" marB="10058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Provides a structured architecture for AI-driven cloud operations.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5" marR="20115" marT="10058" marB="10058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Needs real-world deployment and evaluation of autonomous operations.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5" marR="20115" marT="10058" marB="10058" anchor="ctr"/>
                </a:tc>
                <a:extLst>
                  <a:ext uri="{0D108BD9-81ED-4DB2-BD59-A6C34878D82A}">
                    <a16:rowId xmlns:a16="http://schemas.microsoft.com/office/drawing/2014/main" val="965722232"/>
                  </a:ext>
                </a:extLst>
              </a:tr>
              <a:tr h="1106346">
                <a:tc>
                  <a:txBody>
                    <a:bodyPr/>
                    <a:lstStyle/>
                    <a:p>
                      <a:r>
                        <a:rPr lang="en-US" sz="1800"/>
                        <a:t>10. Generative AI for Infrastructure as Code and Cloud-Native DevOps: A Review of Kubernetes Automation, Terraform Generation, Policy Validation, and Configuration Reliability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5" marR="20115" marT="10058" marB="10058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Dhiraj Kumar — IJNRD, 2026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5" marR="20115" marT="10058" marB="10058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Systematic review of GenAI applications in Kubernetes, Terraform, policy validation, and configuration reliability.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5" marR="20115" marT="10058" marB="10058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Published research studies from the reviewed literature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5" marR="20115" marT="10058" marB="10058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Provides a broad view of GenAI-based IaC and DevOps research.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5" marR="20115" marT="10058" marB="10058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Gaps remain in security, benchmarking, cost optimization, multi-cloud portability, and maintainability.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115" marR="20115" marT="10058" marB="10058" anchor="ctr"/>
                </a:tc>
                <a:extLst>
                  <a:ext uri="{0D108BD9-81ED-4DB2-BD59-A6C34878D82A}">
                    <a16:rowId xmlns:a16="http://schemas.microsoft.com/office/drawing/2014/main" val="30615427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0066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BCB09-171E-426F-5F29-8742EBCDD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9448800" cy="1143000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2.2 Critical Analysis of Literature: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A5BFEBF-98CD-4E4A-A886-3BE87837E2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10878939"/>
              </p:ext>
            </p:extLst>
          </p:nvPr>
        </p:nvGraphicFramePr>
        <p:xfrm>
          <a:off x="609600" y="1600200"/>
          <a:ext cx="15773400" cy="83535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84481858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310817499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4819420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9327743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935584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92504528"/>
                    </a:ext>
                  </a:extLst>
                </a:gridCol>
              </a:tblGrid>
              <a:tr h="392663">
                <a:tc>
                  <a:txBody>
                    <a:bodyPr/>
                    <a:lstStyle/>
                    <a:p>
                      <a:r>
                        <a:rPr lang="en-IN" sz="1800"/>
                        <a:t>Title of the Paper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66" marR="20666" marT="10333" marB="10333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Author details and Journal / Conference publishing information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66" marR="20666" marT="10333" marB="10333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Proposed method used in the paper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66" marR="20666" marT="10333" marB="10333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Dataset used in the Paper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66" marR="20666" marT="10333" marB="10333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Advantages of the proposed paper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66" marR="20666" marT="10333" marB="1033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Research Gap Identified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66" marR="20666" marT="10333" marB="10333" anchor="ctr"/>
                </a:tc>
                <a:extLst>
                  <a:ext uri="{0D108BD9-81ED-4DB2-BD59-A6C34878D82A}">
                    <a16:rowId xmlns:a16="http://schemas.microsoft.com/office/drawing/2014/main" val="289279830"/>
                  </a:ext>
                </a:extLst>
              </a:tr>
              <a:tr h="950659">
                <a:tc>
                  <a:txBody>
                    <a:bodyPr/>
                    <a:lstStyle/>
                    <a:p>
                      <a:r>
                        <a:rPr lang="en-IN" sz="1800"/>
                        <a:t>11. Automatic Root Cause Analysis via Large Language Models for Cloud Incidents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66" marR="20666" marT="10333" marB="10333" anchor="ctr"/>
                </a:tc>
                <a:tc>
                  <a:txBody>
                    <a:bodyPr/>
                    <a:lstStyle/>
                    <a:p>
                      <a:r>
                        <a:rPr lang="da-DK" sz="1800"/>
                        <a:t>Yinfang Chen et al. — EuroSys ’24, ACM, 2024.</a:t>
                      </a:r>
                      <a:endParaRPr lang="da-DK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66" marR="20666" marT="10333" marB="10333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RCACopilot uses incident handlers and an LLM to collect diagnostic data, identify root-cause categories, and generate explanations.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66" marR="20666" marT="10333" marB="10333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One year of real-world production incidents from Microsoft.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66" marR="20666" marT="10333" marB="10333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Automates RCA and reduces manual investigation effort.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66" marR="20666" marT="10333" marB="10333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Performance decreases for unseen root causes; depends on incident handlers and troubleshooting knowledge.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66" marR="20666" marT="10333" marB="10333" anchor="ctr"/>
                </a:tc>
                <a:extLst>
                  <a:ext uri="{0D108BD9-81ED-4DB2-BD59-A6C34878D82A}">
                    <a16:rowId xmlns:a16="http://schemas.microsoft.com/office/drawing/2014/main" val="2701399877"/>
                  </a:ext>
                </a:extLst>
              </a:tr>
              <a:tr h="640661">
                <a:tc>
                  <a:txBody>
                    <a:bodyPr/>
                    <a:lstStyle/>
                    <a:p>
                      <a:r>
                        <a:rPr lang="en-US" sz="1800"/>
                        <a:t>12. Security-First Evaluation of Text-to-Terraform: Benchmarking LLMs and SLMs for Secure IaC Generation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66" marR="20666" marT="10333" marB="10333" anchor="ctr"/>
                </a:tc>
                <a:tc>
                  <a:txBody>
                    <a:bodyPr/>
                    <a:lstStyle/>
                    <a:p>
                      <a:r>
                        <a:rPr lang="es-ES" sz="1800"/>
                        <a:t>F. L. Santos Vargas et al. — arXiv, 2026.</a:t>
                      </a:r>
                      <a:endParaRPr lang="es-E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66" marR="20666" marT="10333" marB="10333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Evaluates LLMs/SLMs for Terraform generation using Checkov and Trivy security scanning.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66" marR="20666" marT="10333" marB="1033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17 curated AWS Terraform generation scenarios.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66" marR="20666" marT="10333" marB="10333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Evaluates both Terraform validity and security compliance.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66" marR="20666" marT="10333" marB="10333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Small scenario set; prompt engineering alone does not ensure secure IaC.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66" marR="20666" marT="10333" marB="10333" anchor="ctr"/>
                </a:tc>
                <a:extLst>
                  <a:ext uri="{0D108BD9-81ED-4DB2-BD59-A6C34878D82A}">
                    <a16:rowId xmlns:a16="http://schemas.microsoft.com/office/drawing/2014/main" val="359611409"/>
                  </a:ext>
                </a:extLst>
              </a:tr>
              <a:tr h="826660">
                <a:tc>
                  <a:txBody>
                    <a:bodyPr/>
                    <a:lstStyle/>
                    <a:p>
                      <a:r>
                        <a:rPr lang="en-US" sz="1800"/>
                        <a:t>13. Cloud Infrastructure Management in the Age of AI Agents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66" marR="20666" marT="10333" marB="10333" anchor="ctr"/>
                </a:tc>
                <a:tc>
                  <a:txBody>
                    <a:bodyPr/>
                    <a:lstStyle/>
                    <a:p>
                      <a:r>
                        <a:rPr lang="nb-NO" sz="1800" dirty="0"/>
                        <a:t>Zhenning Yang et al. — arXiv:2506.12270, 2025.</a:t>
                      </a:r>
                      <a:endParaRPr lang="nb-NO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66" marR="20666" marT="10333" marB="10333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Explores LLM-based AI agents using SDKs, CLIs, IaC platforms, and cloud interfaces for infrastructure management.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66" marR="20666" marT="10333" marB="1033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Preliminary cloud-management task evaluations.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66" marR="20666" marT="10333" marB="10333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Shows potential for automating repetitive cloud-management tasks.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66" marR="20666" marT="10333" marB="10333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Safety, reliability, scalability, and long-horizon autonomous operations require further research.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66" marR="20666" marT="10333" marB="10333" anchor="ctr"/>
                </a:tc>
                <a:extLst>
                  <a:ext uri="{0D108BD9-81ED-4DB2-BD59-A6C34878D82A}">
                    <a16:rowId xmlns:a16="http://schemas.microsoft.com/office/drawing/2014/main" val="2673711608"/>
                  </a:ext>
                </a:extLst>
              </a:tr>
              <a:tr h="1136657">
                <a:tc>
                  <a:txBody>
                    <a:bodyPr/>
                    <a:lstStyle/>
                    <a:p>
                      <a:r>
                        <a:rPr lang="en-US" sz="1800"/>
                        <a:t>14. AIOpsLab: A Holistic Framework for Evaluating AI Agents for Enabling Autonomous Cloud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66" marR="20666" marT="10333" marB="10333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Chen et al. — 2024.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66" marR="20666" marT="10333" marB="10333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Provides a framework for evaluating AI agents on cloud incident detection, diagnosis, and resolution tasks.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66" marR="20666" marT="10333" marB="10333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Cloud incident scenarios and benchmark tasks.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66" marR="20666" marT="10333" marB="10333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Enables systematic evaluation of autonomous cloud agents.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66" marR="20666" marT="10333" marB="10333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More realistic environments and broader autonomous operations are needed. The framework uses workloads, fault injection, observability and agent-cloud interaction.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66" marR="20666" marT="10333" marB="10333" anchor="ctr"/>
                </a:tc>
                <a:extLst>
                  <a:ext uri="{0D108BD9-81ED-4DB2-BD59-A6C34878D82A}">
                    <a16:rowId xmlns:a16="http://schemas.microsoft.com/office/drawing/2014/main" val="1154446069"/>
                  </a:ext>
                </a:extLst>
              </a:tr>
              <a:tr h="578662">
                <a:tc>
                  <a:txBody>
                    <a:bodyPr/>
                    <a:lstStyle/>
                    <a:p>
                      <a:r>
                        <a:rPr lang="en-US" sz="1800"/>
                        <a:t>15. An Architecture for Model-Based and Intelligent Automation in DevOps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66" marR="20666" marT="10333" marB="10333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Research paper on intelligent DevOps automation.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66" marR="20666" marT="10333" marB="10333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Uses model-based approaches and intelligent automation to support DevOps processes.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66" marR="20666" marT="10333" marB="10333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Not specified in the paper.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66" marR="20666" marT="10333" marB="10333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Supports automation and integration of intelligent decision-making in DevOps.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66" marR="20666" marT="10333" marB="10333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Limited integration of modern LLM-based autonomous cloud operations.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666" marR="20666" marT="10333" marB="10333" anchor="ctr"/>
                </a:tc>
                <a:extLst>
                  <a:ext uri="{0D108BD9-81ED-4DB2-BD59-A6C34878D82A}">
                    <a16:rowId xmlns:a16="http://schemas.microsoft.com/office/drawing/2014/main" val="12513947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2737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BCB09-171E-426F-5F29-8742EBCDD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9448800" cy="1143000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2.2 Critical Analysis of Literature:</a:t>
            </a: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170F60DF-D111-4712-91CE-751AB56B0D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4099734"/>
              </p:ext>
            </p:extLst>
          </p:nvPr>
        </p:nvGraphicFramePr>
        <p:xfrm>
          <a:off x="457200" y="1600200"/>
          <a:ext cx="17297400" cy="82865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2900">
                  <a:extLst>
                    <a:ext uri="{9D8B030D-6E8A-4147-A177-3AD203B41FA5}">
                      <a16:colId xmlns:a16="http://schemas.microsoft.com/office/drawing/2014/main" val="2587254827"/>
                    </a:ext>
                  </a:extLst>
                </a:gridCol>
                <a:gridCol w="2882900">
                  <a:extLst>
                    <a:ext uri="{9D8B030D-6E8A-4147-A177-3AD203B41FA5}">
                      <a16:colId xmlns:a16="http://schemas.microsoft.com/office/drawing/2014/main" val="4188271698"/>
                    </a:ext>
                  </a:extLst>
                </a:gridCol>
                <a:gridCol w="2882900">
                  <a:extLst>
                    <a:ext uri="{9D8B030D-6E8A-4147-A177-3AD203B41FA5}">
                      <a16:colId xmlns:a16="http://schemas.microsoft.com/office/drawing/2014/main" val="4059047953"/>
                    </a:ext>
                  </a:extLst>
                </a:gridCol>
                <a:gridCol w="2882900">
                  <a:extLst>
                    <a:ext uri="{9D8B030D-6E8A-4147-A177-3AD203B41FA5}">
                      <a16:colId xmlns:a16="http://schemas.microsoft.com/office/drawing/2014/main" val="389080351"/>
                    </a:ext>
                  </a:extLst>
                </a:gridCol>
                <a:gridCol w="2882900">
                  <a:extLst>
                    <a:ext uri="{9D8B030D-6E8A-4147-A177-3AD203B41FA5}">
                      <a16:colId xmlns:a16="http://schemas.microsoft.com/office/drawing/2014/main" val="3150190618"/>
                    </a:ext>
                  </a:extLst>
                </a:gridCol>
                <a:gridCol w="2882900">
                  <a:extLst>
                    <a:ext uri="{9D8B030D-6E8A-4147-A177-3AD203B41FA5}">
                      <a16:colId xmlns:a16="http://schemas.microsoft.com/office/drawing/2014/main" val="3169725632"/>
                    </a:ext>
                  </a:extLst>
                </a:gridCol>
              </a:tblGrid>
              <a:tr h="700656">
                <a:tc>
                  <a:txBody>
                    <a:bodyPr/>
                    <a:lstStyle/>
                    <a:p>
                      <a:r>
                        <a:rPr lang="en-IN" sz="1800"/>
                        <a:t>Title of the Paper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61" marR="20761" marT="10381" marB="10381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Author details and Journal / Conference publishing information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61" marR="20761" marT="10381" marB="10381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Proposed method used in the paper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61" marR="20761" marT="10381" marB="10381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Dataset used in the Paper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61" marR="20761" marT="10381" marB="10381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Advantages of the proposed paper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61" marR="20761" marT="10381" marB="10381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Research Gap Identified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61" marR="20761" marT="10381" marB="10381" anchor="ctr"/>
                </a:tc>
                <a:extLst>
                  <a:ext uri="{0D108BD9-81ED-4DB2-BD59-A6C34878D82A}">
                    <a16:rowId xmlns:a16="http://schemas.microsoft.com/office/drawing/2014/main" val="3536745846"/>
                  </a:ext>
                </a:extLst>
              </a:tr>
              <a:tr h="1917583">
                <a:tc>
                  <a:txBody>
                    <a:bodyPr/>
                    <a:lstStyle/>
                    <a:p>
                      <a:r>
                        <a:rPr lang="en-US" sz="1800"/>
                        <a:t>16. Building AI Agents for Autonomous Clouds: Challenges and Design Principles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61" marR="20761" marT="10381" marB="10381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Manish Shetty et al. — ACM Symposium on Cloud Computing (SoCC ’24), 2024. Authors include researchers from Microsoft, UC Berkeley, UIUC, IISc and other institutions.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61" marR="20761" marT="10381" marB="10381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Proposes AIOpsLab, combining workload generation, fault injection, observability and an agent-cloud interface to evaluate AI agents for cloud operations.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61" marR="20761" marT="10381" marB="10381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Cloud applications such as SocialNetwork, with workloads and injected faults; telemetry includes logs, metrics and traces.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61" marR="20761" marT="10381" marB="10381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Provides a modular and standardized environment for building and evaluating autonomous cloud agents.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61" marR="20761" marT="10381" marB="10381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Existing AIOps approaches lack standardized metrics, realistic workloads and integrated evaluation frameworks.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61" marR="20761" marT="10381" marB="10381" anchor="ctr"/>
                </a:tc>
                <a:extLst>
                  <a:ext uri="{0D108BD9-81ED-4DB2-BD59-A6C34878D82A}">
                    <a16:rowId xmlns:a16="http://schemas.microsoft.com/office/drawing/2014/main" val="1716953002"/>
                  </a:ext>
                </a:extLst>
              </a:tr>
              <a:tr h="1585694">
                <a:tc>
                  <a:txBody>
                    <a:bodyPr/>
                    <a:lstStyle/>
                    <a:p>
                      <a:r>
                        <a:rPr lang="en-US" sz="1800"/>
                        <a:t>17. Autonomous Cloud Operations: The Role of AI-Driven DevOps in Self-Healing Infrastructure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61" marR="20761" marT="10381" marB="10381" anchor="ctr"/>
                </a:tc>
                <a:tc>
                  <a:txBody>
                    <a:bodyPr/>
                    <a:lstStyle/>
                    <a:p>
                      <a:r>
                        <a:rPr lang="nn-NO" sz="1800"/>
                        <a:t>Venkata M. Kancherla — IJERET, Vol. 4, Issue 1, 2023, pp. 66–76.</a:t>
                      </a:r>
                      <a:endParaRPr lang="nn-NO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61" marR="20761" marT="10381" marB="10381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Uses AI-driven DevOps, predictive analytics, anomaly detection, automation and self-healing mechanisms for cloud infrastructure.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61" marR="20761" marT="10381" marB="10381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Cloud operational data and historical performance data are discussed; specific dataset is not clearly specified.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61" marR="20761" marT="10381" marB="10381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Reduces manual effort, supports predictive failure detection, resource optimization and continuous learning.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61" marR="20761" marT="10381" marB="10381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Data quality, integration complexity, security, privacy, trust and transparency remain challenges.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61" marR="20761" marT="10381" marB="10381" anchor="ctr"/>
                </a:tc>
                <a:extLst>
                  <a:ext uri="{0D108BD9-81ED-4DB2-BD59-A6C34878D82A}">
                    <a16:rowId xmlns:a16="http://schemas.microsoft.com/office/drawing/2014/main" val="3834960338"/>
                  </a:ext>
                </a:extLst>
              </a:tr>
              <a:tr h="2249473">
                <a:tc>
                  <a:txBody>
                    <a:bodyPr/>
                    <a:lstStyle/>
                    <a:p>
                      <a:r>
                        <a:rPr lang="en-US" sz="1800"/>
                        <a:t>18. An on-premise cloud-native AIOps infrastructure system with workload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61" marR="20761" marT="10381" marB="10381" anchor="ctr"/>
                </a:tc>
                <a:tc>
                  <a:txBody>
                    <a:bodyPr/>
                    <a:lstStyle/>
                    <a:p>
                      <a:r>
                        <a:rPr lang="da-DK" sz="1800"/>
                        <a:t>S. Zhang, D. Fan, Y. Liu et al. — SoftwareX 34 (2026) 102622, Elsevier.</a:t>
                      </a:r>
                      <a:endParaRPr lang="da-DK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61" marR="20761" marT="10381" marB="10381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Develops an on-premise cloud-native AIOps system with real-time monitoring and a lightweight Transformer-based workload forecasting model using feature-wise normalization and a combined loss function.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61" marR="20761" marT="10381" marB="10381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Kubernetes monitoring data including CPU, memory, network and disk usage at multiple temporal resolutions.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61" marR="20761" marT="10381" marB="10381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Provides secure on-premise monitoring, scalable metric collection and proactive workload forecasting.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61" marR="20761" marT="10381" marB="10381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Existing AIOps systems face high cost, integration complexity, limited customization and workload-prediction limitations.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61" marR="20761" marT="10381" marB="10381" anchor="ctr"/>
                </a:tc>
                <a:extLst>
                  <a:ext uri="{0D108BD9-81ED-4DB2-BD59-A6C34878D82A}">
                    <a16:rowId xmlns:a16="http://schemas.microsoft.com/office/drawing/2014/main" val="1233429275"/>
                  </a:ext>
                </a:extLst>
              </a:tr>
              <a:tr h="1585694">
                <a:tc>
                  <a:txBody>
                    <a:bodyPr/>
                    <a:lstStyle/>
                    <a:p>
                      <a:r>
                        <a:rPr lang="en-US" sz="1800"/>
                        <a:t>19. Autonomous Multi-Agent AIOps Framework for Cloud-Native DevOps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61" marR="20761" marT="10381" marB="10381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Peeyush Kumar — Kuwait Journal of Advanced Computer Technology, Vol. 4, Issue 1, 2026.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61" marR="20761" marT="10381" marB="10381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Combines multiple AI/ML models and agents for failure prediction, anomaly detection, root-cause analysis and automated remediation.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61" marR="20761" marT="10381" marB="10381" anchor="ctr"/>
                </a:tc>
                <a:tc>
                  <a:txBody>
                    <a:bodyPr/>
                    <a:lstStyle/>
                    <a:p>
                      <a:r>
                        <a:rPr lang="en-IN" sz="1800"/>
                        <a:t>Jenkins/GitHub Actions pipeline logs, Kubernetes event logs and synthetic anomaly datasets for resource spikes, pod failures and build errors.</a:t>
                      </a: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61" marR="20761" marT="10381" marB="10381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Enables earlier failure detection, automatic recovery, reduced false alerts and a self-healing DevOps workflow.</a:t>
                      </a:r>
                      <a:endParaRPr lang="en-US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61" marR="20761" marT="10381" marB="10381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Further work is needed on LLM-powered RCA, reinforcement learning and large-scale real-world deployments.</a:t>
                      </a:r>
                      <a:endParaRPr lang="en-US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0761" marR="20761" marT="10381" marB="10381" anchor="ctr"/>
                </a:tc>
                <a:extLst>
                  <a:ext uri="{0D108BD9-81ED-4DB2-BD59-A6C34878D82A}">
                    <a16:rowId xmlns:a16="http://schemas.microsoft.com/office/drawing/2014/main" val="8222553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4071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B43147-CBE2-6AE7-B9A5-4516FF78DE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27767D8-7234-4FF6-7F15-B374069189B1}"/>
              </a:ext>
            </a:extLst>
          </p:cNvPr>
          <p:cNvSpPr/>
          <p:nvPr/>
        </p:nvSpPr>
        <p:spPr>
          <a:xfrm>
            <a:off x="0" y="-26504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FA34D3B-4A1D-6E7B-F780-1D3D4CA712E3}"/>
              </a:ext>
            </a:extLst>
          </p:cNvPr>
          <p:cNvSpPr/>
          <p:nvPr/>
        </p:nvSpPr>
        <p:spPr>
          <a:xfrm>
            <a:off x="15544800" y="1"/>
            <a:ext cx="2667000" cy="1545676"/>
          </a:xfrm>
          <a:custGeom>
            <a:avLst/>
            <a:gdLst/>
            <a:ahLst/>
            <a:cxnLst/>
            <a:rect l="l" t="t" r="r" b="b"/>
            <a:pathLst>
              <a:path w="2759161" h="1918923">
                <a:moveTo>
                  <a:pt x="0" y="0"/>
                </a:moveTo>
                <a:lnTo>
                  <a:pt x="2759162" y="0"/>
                </a:lnTo>
                <a:lnTo>
                  <a:pt x="2759162" y="1918923"/>
                </a:lnTo>
                <a:lnTo>
                  <a:pt x="0" y="1918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9D943AF-14A3-8AE8-A89D-B5AA7223B3D8}"/>
              </a:ext>
            </a:extLst>
          </p:cNvPr>
          <p:cNvSpPr txBox="1"/>
          <p:nvPr/>
        </p:nvSpPr>
        <p:spPr>
          <a:xfrm>
            <a:off x="-914400" y="114745"/>
            <a:ext cx="15523886" cy="14718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8"/>
              </a:lnSpc>
              <a:spcBef>
                <a:spcPct val="0"/>
              </a:spcBef>
            </a:pPr>
            <a:r>
              <a:rPr lang="en-US" sz="425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</a:rPr>
              <a:t>Chapter 3 – Approach / Design Methodology</a:t>
            </a:r>
            <a:br>
              <a:rPr lang="en-US" sz="425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</a:rPr>
            </a:br>
            <a:r>
              <a:rPr lang="en-US" sz="4250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</a:rPr>
              <a:t>3.1  Overview of Phase –I Work and Outcomes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8E3000-AE7C-42ED-8F74-3EFCDB39E326}"/>
              </a:ext>
            </a:extLst>
          </p:cNvPr>
          <p:cNvSpPr txBox="1"/>
          <p:nvPr/>
        </p:nvSpPr>
        <p:spPr>
          <a:xfrm>
            <a:off x="609600" y="2095500"/>
            <a:ext cx="16154400" cy="689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1 – Codebase-Based Decision Making: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automated code analyzer to identify programming languages, frameworks, dependencies, routes, and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Dockerfile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settings.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Trained three Random Forest ML models using 1,600 repository profiles to recommend deployment patterns, cloud providers, and compute services.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monthly cloud-cost estimation to compare deployment options and identify cost-effective solutions.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DevSecOps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security checks to validate network isolation and detect exposed secrets.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2 – Context-Aware Application Q&amp;A: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context-aware AI assistant to answer questions about application code, architecture, and dependencies.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a semantic vector store using 384-dimensional embeddings to store source code, decision summaries, and AWS/GCP documentation.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Generated 5–7 diagnostic questions automatically for each codebase to help developers understand application requirements.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Provided AI-generated answers with supporting file names and line numbers for easy verification.</a:t>
            </a:r>
          </a:p>
          <a:p>
            <a:pPr algn="just"/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47863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04490F-0F4B-7B42-1549-3465D984A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7CB1017-AC1B-9E6A-9848-FC8739E9CB75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0000"/>
            </a:blip>
            <a:stretch>
              <a:fillRect/>
            </a:stretch>
          </a:blipFill>
        </p:spPr>
        <p:txBody>
          <a:bodyPr lIns="91440" tIns="45720" rIns="91440" bIns="45720"/>
          <a:lstStyle/>
          <a:p>
            <a:endParaRPr lang="en-IN">
              <a:ea typeface="Calibri"/>
              <a:cs typeface="Calibri"/>
            </a:endParaRPr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7C1C3C7-C68C-FE31-6E13-445F83C15460}"/>
              </a:ext>
            </a:extLst>
          </p:cNvPr>
          <p:cNvSpPr/>
          <p:nvPr/>
        </p:nvSpPr>
        <p:spPr>
          <a:xfrm>
            <a:off x="15544800" y="1"/>
            <a:ext cx="2667000" cy="1545676"/>
          </a:xfrm>
          <a:custGeom>
            <a:avLst/>
            <a:gdLst/>
            <a:ahLst/>
            <a:cxnLst/>
            <a:rect l="l" t="t" r="r" b="b"/>
            <a:pathLst>
              <a:path w="2759161" h="1918923">
                <a:moveTo>
                  <a:pt x="0" y="0"/>
                </a:moveTo>
                <a:lnTo>
                  <a:pt x="2759162" y="0"/>
                </a:lnTo>
                <a:lnTo>
                  <a:pt x="2759162" y="1918923"/>
                </a:lnTo>
                <a:lnTo>
                  <a:pt x="0" y="19189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8AF5826-C2EE-A4F1-C1B5-A3BCA962E26C}"/>
              </a:ext>
            </a:extLst>
          </p:cNvPr>
          <p:cNvSpPr txBox="1"/>
          <p:nvPr/>
        </p:nvSpPr>
        <p:spPr>
          <a:xfrm>
            <a:off x="-843156" y="413846"/>
            <a:ext cx="16567494" cy="716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8"/>
              </a:lnSpc>
              <a:spcBef>
                <a:spcPct val="0"/>
              </a:spcBef>
            </a:pPr>
            <a:r>
              <a:rPr lang="en-US" sz="4250" b="1" dirty="0">
                <a:ea typeface="+mn-lt"/>
                <a:cs typeface="+mn-lt"/>
              </a:rPr>
              <a:t>3.2</a:t>
            </a:r>
            <a:r>
              <a:rPr lang="en-US" sz="4250" dirty="0">
                <a:ea typeface="+mn-lt"/>
                <a:cs typeface="+mn-lt"/>
              </a:rPr>
              <a:t>  </a:t>
            </a:r>
            <a:r>
              <a:rPr lang="en-US" sz="4250" b="1" dirty="0">
                <a:ea typeface="+mn-lt"/>
                <a:cs typeface="+mn-lt"/>
              </a:rPr>
              <a:t>Refinement of Problem and Objectives based on Feedback</a:t>
            </a:r>
            <a:endParaRPr lang="en-US" sz="4250" b="1" dirty="0">
              <a:solidFill>
                <a:srgbClr val="000000"/>
              </a:solidFill>
              <a:latin typeface="Open Sauce Bold"/>
              <a:ea typeface="Open Sauce Bold"/>
              <a:cs typeface="Open Sauce Bold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EB0DCFE-D08C-4247-AD46-9177CA2CA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422112"/>
            <a:ext cx="15267138" cy="82791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Initial Concept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Initially, the idea was to use LLMs to generate Terraform code directly from simple natural-language instructions.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main aim was to automate cloud infrastructure setup using AI.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Existing Problems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AI-generated Terraform code may fail during deployment if proper validation is not performed.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 may also suggest incorrect cloud services or generate configurations with security issues.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Improved Objectives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ML to analyze application code and recommend suitable cloud services and deployment methods.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security checks to validate configurations and RAG to answer application-related questions with relevant information.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Final Improvement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was improved by combining code analysis, ML-based recommendations, security validation, and AI-based assistance.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approach aims to make cloud deployment more reliable, secure, and easier for developers.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4874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8897B-6761-7A40-44F6-0EBAECA19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7D53B1D-7B40-9E8A-D17D-5D3F282411B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8394EDC-10FF-0EC1-AD84-2020A85F71A7}"/>
              </a:ext>
            </a:extLst>
          </p:cNvPr>
          <p:cNvSpPr/>
          <p:nvPr/>
        </p:nvSpPr>
        <p:spPr>
          <a:xfrm>
            <a:off x="15544800" y="1"/>
            <a:ext cx="2667000" cy="1545676"/>
          </a:xfrm>
          <a:custGeom>
            <a:avLst/>
            <a:gdLst/>
            <a:ahLst/>
            <a:cxnLst/>
            <a:rect l="l" t="t" r="r" b="b"/>
            <a:pathLst>
              <a:path w="2759161" h="1918923">
                <a:moveTo>
                  <a:pt x="0" y="0"/>
                </a:moveTo>
                <a:lnTo>
                  <a:pt x="2759162" y="0"/>
                </a:lnTo>
                <a:lnTo>
                  <a:pt x="2759162" y="1918923"/>
                </a:lnTo>
                <a:lnTo>
                  <a:pt x="0" y="1918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89F221D-0D66-0A3F-00FE-DE730CB1D260}"/>
              </a:ext>
            </a:extLst>
          </p:cNvPr>
          <p:cNvSpPr txBox="1"/>
          <p:nvPr/>
        </p:nvSpPr>
        <p:spPr>
          <a:xfrm>
            <a:off x="322373" y="413846"/>
            <a:ext cx="13397574" cy="716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8"/>
              </a:lnSpc>
              <a:spcBef>
                <a:spcPct val="0"/>
              </a:spcBef>
            </a:pPr>
            <a:r>
              <a:rPr lang="en-US" sz="4250" b="1">
                <a:solidFill>
                  <a:srgbClr val="000000"/>
                </a:solidFill>
                <a:ea typeface="+mn-lt"/>
                <a:cs typeface="+mn-lt"/>
              </a:rPr>
              <a:t>3.3</a:t>
            </a:r>
            <a:r>
              <a:rPr lang="en-US" sz="4250">
                <a:solidFill>
                  <a:srgbClr val="000000"/>
                </a:solidFill>
                <a:ea typeface="+mn-lt"/>
                <a:cs typeface="+mn-lt"/>
              </a:rPr>
              <a:t>  </a:t>
            </a:r>
            <a:r>
              <a:rPr lang="en-US" sz="4250" b="1">
                <a:solidFill>
                  <a:srgbClr val="000000"/>
                </a:solidFill>
                <a:ea typeface="+mn-lt"/>
                <a:cs typeface="+mn-lt"/>
              </a:rPr>
              <a:t>Selection of Approach / Methodology (</a:t>
            </a:r>
            <a:r>
              <a:rPr lang="en-US" sz="4250" b="1" err="1">
                <a:solidFill>
                  <a:srgbClr val="000000"/>
                </a:solidFill>
                <a:ea typeface="+mn-lt"/>
                <a:cs typeface="+mn-lt"/>
              </a:rPr>
              <a:t>Architechture</a:t>
            </a:r>
            <a:r>
              <a:rPr lang="en-US" sz="4250" b="1">
                <a:solidFill>
                  <a:srgbClr val="000000"/>
                </a:solidFill>
                <a:ea typeface="+mn-lt"/>
                <a:cs typeface="+mn-lt"/>
              </a:rPr>
              <a:t>):</a:t>
            </a:r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4394141-4BEF-4631-A7B7-D133BB8D37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7908" y="1185365"/>
            <a:ext cx="12136092" cy="26507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86FE94B-EB78-4CD5-9532-AB978068BDA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79" r="1738"/>
          <a:stretch/>
        </p:blipFill>
        <p:spPr>
          <a:xfrm>
            <a:off x="914400" y="3836075"/>
            <a:ext cx="12039599" cy="618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0015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8897B-6761-7A40-44F6-0EBAECA19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7D53B1D-7B40-9E8A-D17D-5D3F282411B0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8394EDC-10FF-0EC1-AD84-2020A85F71A7}"/>
              </a:ext>
            </a:extLst>
          </p:cNvPr>
          <p:cNvSpPr/>
          <p:nvPr/>
        </p:nvSpPr>
        <p:spPr>
          <a:xfrm>
            <a:off x="15544800" y="1"/>
            <a:ext cx="2667000" cy="1545676"/>
          </a:xfrm>
          <a:custGeom>
            <a:avLst/>
            <a:gdLst/>
            <a:ahLst/>
            <a:cxnLst/>
            <a:rect l="l" t="t" r="r" b="b"/>
            <a:pathLst>
              <a:path w="2759161" h="1918923">
                <a:moveTo>
                  <a:pt x="0" y="0"/>
                </a:moveTo>
                <a:lnTo>
                  <a:pt x="2759162" y="0"/>
                </a:lnTo>
                <a:lnTo>
                  <a:pt x="2759162" y="1918923"/>
                </a:lnTo>
                <a:lnTo>
                  <a:pt x="0" y="1918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89F221D-0D66-0A3F-00FE-DE730CB1D260}"/>
              </a:ext>
            </a:extLst>
          </p:cNvPr>
          <p:cNvSpPr txBox="1"/>
          <p:nvPr/>
        </p:nvSpPr>
        <p:spPr>
          <a:xfrm>
            <a:off x="322373" y="413846"/>
            <a:ext cx="13397574" cy="716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8"/>
              </a:lnSpc>
              <a:spcBef>
                <a:spcPct val="0"/>
              </a:spcBef>
            </a:pPr>
            <a:r>
              <a:rPr lang="en-US" sz="4250" b="1">
                <a:solidFill>
                  <a:srgbClr val="000000"/>
                </a:solidFill>
                <a:ea typeface="+mn-lt"/>
                <a:cs typeface="+mn-lt"/>
              </a:rPr>
              <a:t>3.3</a:t>
            </a:r>
            <a:r>
              <a:rPr lang="en-US" sz="4250">
                <a:solidFill>
                  <a:srgbClr val="000000"/>
                </a:solidFill>
                <a:ea typeface="+mn-lt"/>
                <a:cs typeface="+mn-lt"/>
              </a:rPr>
              <a:t>  </a:t>
            </a:r>
            <a:r>
              <a:rPr lang="en-US" sz="4250" b="1">
                <a:solidFill>
                  <a:srgbClr val="000000"/>
                </a:solidFill>
                <a:ea typeface="+mn-lt"/>
                <a:cs typeface="+mn-lt"/>
              </a:rPr>
              <a:t>Selection of Approach / Methodology (</a:t>
            </a:r>
            <a:r>
              <a:rPr lang="en-US" sz="4250" b="1" err="1">
                <a:solidFill>
                  <a:srgbClr val="000000"/>
                </a:solidFill>
                <a:ea typeface="+mn-lt"/>
                <a:cs typeface="+mn-lt"/>
              </a:rPr>
              <a:t>Architechture</a:t>
            </a:r>
            <a:r>
              <a:rPr lang="en-US" sz="4250" b="1">
                <a:solidFill>
                  <a:srgbClr val="000000"/>
                </a:solidFill>
                <a:ea typeface="+mn-lt"/>
                <a:cs typeface="+mn-lt"/>
              </a:rPr>
              <a:t>):</a:t>
            </a:r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8E3CDF-E7CA-4102-A8D1-6B86E873E1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00" y="1866900"/>
            <a:ext cx="11887200" cy="640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7856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CC470-24AE-65DD-9098-192DB99EF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33CD4A0-3704-74FD-4C17-FB20797C91D2}"/>
              </a:ext>
            </a:extLst>
          </p:cNvPr>
          <p:cNvSpPr/>
          <p:nvPr/>
        </p:nvSpPr>
        <p:spPr>
          <a:xfrm>
            <a:off x="0" y="-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D1AFC7A-9E95-6EEA-EC50-A09CAC210EF0}"/>
              </a:ext>
            </a:extLst>
          </p:cNvPr>
          <p:cNvSpPr/>
          <p:nvPr/>
        </p:nvSpPr>
        <p:spPr>
          <a:xfrm>
            <a:off x="15544800" y="1"/>
            <a:ext cx="2667000" cy="1545676"/>
          </a:xfrm>
          <a:custGeom>
            <a:avLst/>
            <a:gdLst/>
            <a:ahLst/>
            <a:cxnLst/>
            <a:rect l="l" t="t" r="r" b="b"/>
            <a:pathLst>
              <a:path w="2759161" h="1918923">
                <a:moveTo>
                  <a:pt x="0" y="0"/>
                </a:moveTo>
                <a:lnTo>
                  <a:pt x="2759162" y="0"/>
                </a:lnTo>
                <a:lnTo>
                  <a:pt x="2759162" y="1918923"/>
                </a:lnTo>
                <a:lnTo>
                  <a:pt x="0" y="1918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5FAC078-0F1D-2760-2469-6CC2A12B8A43}"/>
              </a:ext>
            </a:extLst>
          </p:cNvPr>
          <p:cNvSpPr txBox="1"/>
          <p:nvPr/>
        </p:nvSpPr>
        <p:spPr>
          <a:xfrm>
            <a:off x="-2847547" y="413846"/>
            <a:ext cx="16567494" cy="716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8"/>
              </a:lnSpc>
              <a:spcBef>
                <a:spcPct val="0"/>
              </a:spcBef>
            </a:pPr>
            <a:r>
              <a:rPr lang="en-US" sz="4250" b="1" dirty="0">
                <a:ea typeface="+mn-lt"/>
                <a:cs typeface="+mn-lt"/>
              </a:rPr>
              <a:t>3.4</a:t>
            </a:r>
            <a:r>
              <a:rPr lang="en-US" sz="4250" dirty="0">
                <a:ea typeface="+mn-lt"/>
                <a:cs typeface="+mn-lt"/>
              </a:rPr>
              <a:t>  </a:t>
            </a:r>
            <a:r>
              <a:rPr lang="en-US" sz="4250" b="1" dirty="0">
                <a:ea typeface="+mn-lt"/>
                <a:cs typeface="+mn-lt"/>
              </a:rPr>
              <a:t>Technical Approach and Key Elements</a:t>
            </a:r>
            <a:endParaRPr lang="en-US" dirty="0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85DC315B-2321-468B-B4C6-6E5AA883A7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860" y="1537063"/>
            <a:ext cx="16002000" cy="69865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1. Codebase Scanning and Feature Extraction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analyzes application code, dependencies, APIs, and configuration files, then converts the extracted details into a 10-dimensional feature vector to identify application requirements.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ML-Based Cloud and Deployment Decisions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models recommend deployment strategies, cloud platforms, and compute services, achieving 99.56%, 79.13%, and 100% cross-validation accuracy, respectively.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Cost Estimation and Security Validation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 system estimates monthly cloud costs and checks four security gates: packaging, VPC subnets, secret detection, and health probes.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Context-Aware RAG Engine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RAG engine uses all-MiniLM-L6-v2 embeddings to retrieve relevant code and cloud documentation and provide answers with supporting references.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65637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96FF3-42D8-D9FF-A98A-E09BD7B09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28BD05C-612F-3D2C-704F-F4D24BE94A2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9A27E80-D410-8F1A-289B-22CC4448678D}"/>
              </a:ext>
            </a:extLst>
          </p:cNvPr>
          <p:cNvSpPr/>
          <p:nvPr/>
        </p:nvSpPr>
        <p:spPr>
          <a:xfrm>
            <a:off x="15544800" y="1"/>
            <a:ext cx="2667000" cy="1545676"/>
          </a:xfrm>
          <a:custGeom>
            <a:avLst/>
            <a:gdLst/>
            <a:ahLst/>
            <a:cxnLst/>
            <a:rect l="l" t="t" r="r" b="b"/>
            <a:pathLst>
              <a:path w="2759161" h="1918923">
                <a:moveTo>
                  <a:pt x="0" y="0"/>
                </a:moveTo>
                <a:lnTo>
                  <a:pt x="2759162" y="0"/>
                </a:lnTo>
                <a:lnTo>
                  <a:pt x="2759162" y="1918923"/>
                </a:lnTo>
                <a:lnTo>
                  <a:pt x="0" y="1918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468175D-D517-C950-08C1-3DF721354E68}"/>
              </a:ext>
            </a:extLst>
          </p:cNvPr>
          <p:cNvSpPr txBox="1"/>
          <p:nvPr/>
        </p:nvSpPr>
        <p:spPr>
          <a:xfrm>
            <a:off x="-1987719" y="564808"/>
            <a:ext cx="16567494" cy="716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8"/>
              </a:lnSpc>
              <a:spcBef>
                <a:spcPct val="0"/>
              </a:spcBef>
            </a:pPr>
            <a:r>
              <a:rPr lang="en-US" sz="4250" b="1">
                <a:ea typeface="+mn-lt"/>
                <a:cs typeface="+mn-lt"/>
              </a:rPr>
              <a:t>3.5</a:t>
            </a:r>
            <a:r>
              <a:rPr lang="en-US" sz="4250">
                <a:ea typeface="+mn-lt"/>
                <a:cs typeface="+mn-lt"/>
              </a:rPr>
              <a:t>   </a:t>
            </a:r>
            <a:r>
              <a:rPr lang="en-US" sz="4250" b="1">
                <a:ea typeface="+mn-lt"/>
                <a:cs typeface="+mn-lt"/>
              </a:rPr>
              <a:t>Supporting Analysis / Design Considerations</a:t>
            </a:r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8EAE279-8C2E-4D87-AC4A-A13B2362B3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130" y="1846607"/>
            <a:ext cx="15664070" cy="65556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Cloud Service Selection: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evaluates application requirements such as workload type, scalability, cost, performance, and deployment architecture to select suitable AWS or GCP services.</a:t>
            </a:r>
            <a:endParaRPr lang="en-US" alt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Cost Optimization: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Cloud deployment options are compared using estimated monthly costs to identify suitable infrastructure while considering application resource requirements.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Compliance: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2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DevSecOps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validation gates are applied to check important infrastructure requirements such as packaging, VPC subnet configuration, secret management, and health probes.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Application-Specific Decisions: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does not use a single cloud service for all applications. Recommendations are based on the characteristics of the application, such as containerized workloads, high-concurrency APIs, enterprise applications, and serverless functions.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Scalability &amp; Reliability: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selected cloud services are evaluated based on their ability to handle application workload, scaling requirements, and availability needs.</a:t>
            </a:r>
          </a:p>
        </p:txBody>
      </p:sp>
    </p:spTree>
    <p:extLst>
      <p:ext uri="{BB962C8B-B14F-4D97-AF65-F5344CB8AC3E}">
        <p14:creationId xmlns:p14="http://schemas.microsoft.com/office/powerpoint/2010/main" val="28381865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B765F-974C-1138-2158-C1A6E1360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E13B14B-EBB4-7F0E-6986-E2714ED83E56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C8EF8F4-0C29-919C-3B12-E5553AEEEB5A}"/>
              </a:ext>
            </a:extLst>
          </p:cNvPr>
          <p:cNvSpPr/>
          <p:nvPr/>
        </p:nvSpPr>
        <p:spPr>
          <a:xfrm>
            <a:off x="15544800" y="1"/>
            <a:ext cx="2667000" cy="1545676"/>
          </a:xfrm>
          <a:custGeom>
            <a:avLst/>
            <a:gdLst/>
            <a:ahLst/>
            <a:cxnLst/>
            <a:rect l="l" t="t" r="r" b="b"/>
            <a:pathLst>
              <a:path w="2759161" h="1918923">
                <a:moveTo>
                  <a:pt x="0" y="0"/>
                </a:moveTo>
                <a:lnTo>
                  <a:pt x="2759162" y="0"/>
                </a:lnTo>
                <a:lnTo>
                  <a:pt x="2759162" y="1918923"/>
                </a:lnTo>
                <a:lnTo>
                  <a:pt x="0" y="1918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0B0B377-906C-760C-9058-E098FBE1C019}"/>
              </a:ext>
            </a:extLst>
          </p:cNvPr>
          <p:cNvSpPr txBox="1"/>
          <p:nvPr/>
        </p:nvSpPr>
        <p:spPr>
          <a:xfrm>
            <a:off x="-4106504" y="413846"/>
            <a:ext cx="16567494" cy="716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8"/>
              </a:lnSpc>
              <a:spcBef>
                <a:spcPct val="0"/>
              </a:spcBef>
            </a:pPr>
            <a:r>
              <a:rPr lang="en-US" sz="4250" b="1">
                <a:ea typeface="+mn-lt"/>
                <a:cs typeface="+mn-lt"/>
              </a:rPr>
              <a:t>3.6</a:t>
            </a:r>
            <a:r>
              <a:rPr lang="en-US" sz="4250">
                <a:ea typeface="+mn-lt"/>
                <a:cs typeface="+mn-lt"/>
              </a:rPr>
              <a:t>   </a:t>
            </a:r>
            <a:r>
              <a:rPr lang="en-US" sz="4250" b="1">
                <a:ea typeface="+mn-lt"/>
                <a:cs typeface="+mn-lt"/>
              </a:rPr>
              <a:t>Tools / Techniques Used</a:t>
            </a:r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344146E-ACE1-4C6B-AAAA-71DB63A2D0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302459"/>
              </p:ext>
            </p:extLst>
          </p:nvPr>
        </p:nvGraphicFramePr>
        <p:xfrm>
          <a:off x="1782762" y="1544683"/>
          <a:ext cx="13381038" cy="85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60346">
                  <a:extLst>
                    <a:ext uri="{9D8B030D-6E8A-4147-A177-3AD203B41FA5}">
                      <a16:colId xmlns:a16="http://schemas.microsoft.com/office/drawing/2014/main" val="2977624793"/>
                    </a:ext>
                  </a:extLst>
                </a:gridCol>
                <a:gridCol w="4460346">
                  <a:extLst>
                    <a:ext uri="{9D8B030D-6E8A-4147-A177-3AD203B41FA5}">
                      <a16:colId xmlns:a16="http://schemas.microsoft.com/office/drawing/2014/main" val="2033858680"/>
                    </a:ext>
                  </a:extLst>
                </a:gridCol>
                <a:gridCol w="4460346">
                  <a:extLst>
                    <a:ext uri="{9D8B030D-6E8A-4147-A177-3AD203B41FA5}">
                      <a16:colId xmlns:a16="http://schemas.microsoft.com/office/drawing/2014/main" val="715357595"/>
                    </a:ext>
                  </a:extLst>
                </a:gridCol>
              </a:tblGrid>
              <a:tr h="247998">
                <a:tc>
                  <a:txBody>
                    <a:bodyPr/>
                    <a:lstStyle/>
                    <a:p>
                      <a:r>
                        <a:rPr lang="en-IN" sz="2800"/>
                        <a:t>Category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99" marR="61999" marT="31000" marB="31000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Tools / Technologies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99" marR="61999" marT="31000" marB="31000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Purpose / Usage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99" marR="61999" marT="31000" marB="31000" anchor="ctr"/>
                </a:tc>
                <a:extLst>
                  <a:ext uri="{0D108BD9-81ED-4DB2-BD59-A6C34878D82A}">
                    <a16:rowId xmlns:a16="http://schemas.microsoft.com/office/drawing/2014/main" val="3312481818"/>
                  </a:ext>
                </a:extLst>
              </a:tr>
              <a:tr h="619995">
                <a:tc>
                  <a:txBody>
                    <a:bodyPr/>
                    <a:lstStyle/>
                    <a:p>
                      <a:r>
                        <a:rPr lang="en-IN" sz="2800" dirty="0"/>
                        <a:t>Core Language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99" marR="61999" marT="31000" marB="31000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Python 3.12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99" marR="61999" marT="31000" marB="31000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Main programming language used for system development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99" marR="61999" marT="31000" marB="31000" anchor="ctr"/>
                </a:tc>
                <a:extLst>
                  <a:ext uri="{0D108BD9-81ED-4DB2-BD59-A6C34878D82A}">
                    <a16:rowId xmlns:a16="http://schemas.microsoft.com/office/drawing/2014/main" val="2001179531"/>
                  </a:ext>
                </a:extLst>
              </a:tr>
              <a:tr h="805993">
                <a:tc>
                  <a:txBody>
                    <a:bodyPr/>
                    <a:lstStyle/>
                    <a:p>
                      <a:r>
                        <a:rPr lang="en-IN" sz="2800"/>
                        <a:t>Machine Learning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99" marR="61999" marT="31000" marB="31000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scikit-learn 1.5.2, Pandas, NumPy, Joblib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99" marR="61999" marT="31000" marB="31000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Random Forest models, data processing, feature handling, and model storage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99" marR="61999" marT="31000" marB="31000" anchor="ctr"/>
                </a:tc>
                <a:extLst>
                  <a:ext uri="{0D108BD9-81ED-4DB2-BD59-A6C34878D82A}">
                    <a16:rowId xmlns:a16="http://schemas.microsoft.com/office/drawing/2014/main" val="482554339"/>
                  </a:ext>
                </a:extLst>
              </a:tr>
              <a:tr h="805993">
                <a:tc>
                  <a:txBody>
                    <a:bodyPr/>
                    <a:lstStyle/>
                    <a:p>
                      <a:r>
                        <a:rPr lang="en-IN" sz="2800" dirty="0"/>
                        <a:t>NLP &amp; Semantic RAG</a:t>
                      </a:r>
                      <a:endParaRPr lang="en-IN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99" marR="61999" marT="31000" marB="31000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Sentence-Transformers 5.1.2, all-MiniLM-L6-v2, PyTorch, Cosine Similarity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99" marR="61999" marT="31000" marB="31000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384-dimensional embeddings, semantic search, and context-aware Q&amp;A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99" marR="61999" marT="31000" marB="31000" anchor="ctr"/>
                </a:tc>
                <a:extLst>
                  <a:ext uri="{0D108BD9-81ED-4DB2-BD59-A6C34878D82A}">
                    <a16:rowId xmlns:a16="http://schemas.microsoft.com/office/drawing/2014/main" val="2999484061"/>
                  </a:ext>
                </a:extLst>
              </a:tr>
              <a:tr h="805993">
                <a:tc>
                  <a:txBody>
                    <a:bodyPr/>
                    <a:lstStyle/>
                    <a:p>
                      <a:r>
                        <a:rPr lang="en-IN" sz="2800"/>
                        <a:t>Static Analysis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99" marR="61999" marT="31000" marB="31000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Python AST, Regular Expressions, XML Parser, JSON Parser, Dockerfile Parser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99" marR="61999" marT="31000" marB="31000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Codebase scanning, dependency extraction, endpoint detection, and Dockerfile analysis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99" marR="61999" marT="31000" marB="31000" anchor="ctr"/>
                </a:tc>
                <a:extLst>
                  <a:ext uri="{0D108BD9-81ED-4DB2-BD59-A6C34878D82A}">
                    <a16:rowId xmlns:a16="http://schemas.microsoft.com/office/drawing/2014/main" val="3769216819"/>
                  </a:ext>
                </a:extLst>
              </a:tr>
              <a:tr h="619995">
                <a:tc>
                  <a:txBody>
                    <a:bodyPr/>
                    <a:lstStyle/>
                    <a:p>
                      <a:r>
                        <a:rPr lang="en-IN" sz="2800"/>
                        <a:t>User Interfaces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99" marR="61999" marT="31000" marB="31000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Streamlit 1.38.0, Python CLI (argparse)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99" marR="61999" marT="31000" marB="31000" anchor="ctr"/>
                </a:tc>
                <a:tc>
                  <a:txBody>
                    <a:bodyPr/>
                    <a:lstStyle/>
                    <a:p>
                      <a:r>
                        <a:rPr lang="en-US" sz="2800"/>
                        <a:t>Interactive web dashboard and command-line interface</a:t>
                      </a:r>
                      <a:endParaRPr lang="en-US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99" marR="61999" marT="31000" marB="31000" anchor="ctr"/>
                </a:tc>
                <a:extLst>
                  <a:ext uri="{0D108BD9-81ED-4DB2-BD59-A6C34878D82A}">
                    <a16:rowId xmlns:a16="http://schemas.microsoft.com/office/drawing/2014/main" val="2392632985"/>
                  </a:ext>
                </a:extLst>
              </a:tr>
              <a:tr h="619995">
                <a:tc>
                  <a:txBody>
                    <a:bodyPr/>
                    <a:lstStyle/>
                    <a:p>
                      <a:r>
                        <a:rPr lang="en-IN" sz="2800"/>
                        <a:t>Verification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99" marR="61999" marT="31000" marB="31000" anchor="ctr"/>
                </a:tc>
                <a:tc>
                  <a:txBody>
                    <a:bodyPr/>
                    <a:lstStyle/>
                    <a:p>
                      <a:r>
                        <a:rPr lang="en-IN" sz="2800"/>
                        <a:t>Python unittest</a:t>
                      </a:r>
                      <a:endParaRPr lang="en-IN" sz="2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99" marR="61999" marT="31000" marB="31000" anchor="ctr"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Automated testing and system validation — 7/7 tests passing</a:t>
                      </a:r>
                      <a:endParaRPr lang="en-US" sz="2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999" marR="61999" marT="31000" marB="31000" anchor="ctr"/>
                </a:tc>
                <a:extLst>
                  <a:ext uri="{0D108BD9-81ED-4DB2-BD59-A6C34878D82A}">
                    <a16:rowId xmlns:a16="http://schemas.microsoft.com/office/drawing/2014/main" val="3227471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74170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3132F-CFF7-CE83-6F1A-62ED039C2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961991F-3A51-3E63-7DDC-FBD31027763D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BC73796-401B-0B7B-21F5-9CBD04F1768D}"/>
              </a:ext>
            </a:extLst>
          </p:cNvPr>
          <p:cNvSpPr/>
          <p:nvPr/>
        </p:nvSpPr>
        <p:spPr>
          <a:xfrm>
            <a:off x="15544800" y="1"/>
            <a:ext cx="2667000" cy="1545676"/>
          </a:xfrm>
          <a:custGeom>
            <a:avLst/>
            <a:gdLst/>
            <a:ahLst/>
            <a:cxnLst/>
            <a:rect l="l" t="t" r="r" b="b"/>
            <a:pathLst>
              <a:path w="2759161" h="1918923">
                <a:moveTo>
                  <a:pt x="0" y="0"/>
                </a:moveTo>
                <a:lnTo>
                  <a:pt x="2759162" y="0"/>
                </a:lnTo>
                <a:lnTo>
                  <a:pt x="2759162" y="1918923"/>
                </a:lnTo>
                <a:lnTo>
                  <a:pt x="0" y="1918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7D54C2A-BE26-B717-5E0B-76E611AE9A68}"/>
              </a:ext>
            </a:extLst>
          </p:cNvPr>
          <p:cNvSpPr txBox="1"/>
          <p:nvPr/>
        </p:nvSpPr>
        <p:spPr>
          <a:xfrm>
            <a:off x="-3543287" y="413846"/>
            <a:ext cx="16567494" cy="716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8"/>
              </a:lnSpc>
              <a:spcBef>
                <a:spcPct val="0"/>
              </a:spcBef>
            </a:pPr>
            <a:r>
              <a:rPr lang="en-US" sz="4250" b="1">
                <a:ea typeface="+mn-lt"/>
                <a:cs typeface="+mn-lt"/>
              </a:rPr>
              <a:t>3.7 </a:t>
            </a:r>
            <a:r>
              <a:rPr lang="en-US" sz="4250">
                <a:ea typeface="+mn-lt"/>
                <a:cs typeface="+mn-lt"/>
              </a:rPr>
              <a:t> </a:t>
            </a:r>
            <a:r>
              <a:rPr lang="en-US" sz="4250" b="1">
                <a:ea typeface="+mn-lt"/>
                <a:cs typeface="+mn-lt"/>
              </a:rPr>
              <a:t>Justification of Selected Approach</a:t>
            </a:r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C3592FE-A983-4C5E-8309-C3D04C6CF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760126"/>
            <a:ext cx="16230600" cy="61247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for Decision Making: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Selected because it handles mixed features well and provides fast and reliable deployment predictions.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Hybrid ML + Policy Rules: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Selected to combine ML-based decisions with fixed security and infrastructure validation rules, reducing unreliable recommendations.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SentenceTransformers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RAG: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Selected because all-MiniLM-L6-v2 is lightweight and provides efficient semantic search for code and cloud documentation.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RAG-Based Assistance: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Selected to provide context-aware and citation-grounded answers using the actual application codebase and relevant documentation.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AWS + GCP: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Selected to compare enterprise-focused AWS services with the container and serverless capabilities of GCP.</a:t>
            </a:r>
          </a:p>
        </p:txBody>
      </p:sp>
    </p:spTree>
    <p:extLst>
      <p:ext uri="{BB962C8B-B14F-4D97-AF65-F5344CB8AC3E}">
        <p14:creationId xmlns:p14="http://schemas.microsoft.com/office/powerpoint/2010/main" val="11729171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5710588" y="0"/>
            <a:ext cx="2759161" cy="1918923"/>
          </a:xfrm>
          <a:custGeom>
            <a:avLst/>
            <a:gdLst/>
            <a:ahLst/>
            <a:cxnLst/>
            <a:rect l="l" t="t" r="r" b="b"/>
            <a:pathLst>
              <a:path w="2759161" h="1918923">
                <a:moveTo>
                  <a:pt x="0" y="0"/>
                </a:moveTo>
                <a:lnTo>
                  <a:pt x="2759162" y="0"/>
                </a:lnTo>
                <a:lnTo>
                  <a:pt x="2759162" y="1918923"/>
                </a:lnTo>
                <a:lnTo>
                  <a:pt x="0" y="1918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6510290" y="4169183"/>
            <a:ext cx="5267419" cy="11609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08"/>
              </a:lnSpc>
              <a:spcBef>
                <a:spcPct val="0"/>
              </a:spcBef>
            </a:pPr>
            <a:r>
              <a:rPr lang="en-US" sz="6791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THANK YOU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AEED5-2ABB-AB58-D609-0A9B77C36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3048E8F-F5B1-94EA-172C-C65670269C52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B534602F-45F4-7949-6FB3-18F1000094A6}"/>
              </a:ext>
            </a:extLst>
          </p:cNvPr>
          <p:cNvSpPr/>
          <p:nvPr/>
        </p:nvSpPr>
        <p:spPr>
          <a:xfrm>
            <a:off x="15528839" y="0"/>
            <a:ext cx="2759161" cy="1918923"/>
          </a:xfrm>
          <a:custGeom>
            <a:avLst/>
            <a:gdLst/>
            <a:ahLst/>
            <a:cxnLst/>
            <a:rect l="l" t="t" r="r" b="b"/>
            <a:pathLst>
              <a:path w="2759161" h="1918923">
                <a:moveTo>
                  <a:pt x="0" y="0"/>
                </a:moveTo>
                <a:lnTo>
                  <a:pt x="2759161" y="0"/>
                </a:lnTo>
                <a:lnTo>
                  <a:pt x="2759161" y="1918923"/>
                </a:lnTo>
                <a:lnTo>
                  <a:pt x="0" y="1918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017F7577-801D-CB14-42B6-70999EC41071}"/>
              </a:ext>
            </a:extLst>
          </p:cNvPr>
          <p:cNvSpPr txBox="1"/>
          <p:nvPr/>
        </p:nvSpPr>
        <p:spPr>
          <a:xfrm>
            <a:off x="-228600" y="114300"/>
            <a:ext cx="9758060" cy="7035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8"/>
              </a:lnSpc>
              <a:spcBef>
                <a:spcPct val="0"/>
              </a:spcBef>
            </a:pPr>
            <a:r>
              <a:rPr lang="en-US" sz="4291" b="1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Proposed System Architecture: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C0AC188-4B90-4602-8282-D79F99122C1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104900"/>
            <a:ext cx="15621000" cy="868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3010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3" name="Freeform 3"/>
          <p:cNvSpPr/>
          <p:nvPr/>
        </p:nvSpPr>
        <p:spPr>
          <a:xfrm>
            <a:off x="15528839" y="-106017"/>
            <a:ext cx="2759161" cy="1918923"/>
          </a:xfrm>
          <a:custGeom>
            <a:avLst/>
            <a:gdLst/>
            <a:ahLst/>
            <a:cxnLst/>
            <a:rect l="l" t="t" r="r" b="b"/>
            <a:pathLst>
              <a:path w="2759161" h="1918923">
                <a:moveTo>
                  <a:pt x="0" y="0"/>
                </a:moveTo>
                <a:lnTo>
                  <a:pt x="2759161" y="0"/>
                </a:lnTo>
                <a:lnTo>
                  <a:pt x="2759161" y="1918923"/>
                </a:lnTo>
                <a:lnTo>
                  <a:pt x="0" y="191892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4" name="TextBox 4"/>
          <p:cNvSpPr txBox="1"/>
          <p:nvPr/>
        </p:nvSpPr>
        <p:spPr>
          <a:xfrm>
            <a:off x="238815" y="547486"/>
            <a:ext cx="4522245" cy="14730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08"/>
              </a:lnSpc>
              <a:spcBef>
                <a:spcPct val="0"/>
              </a:spcBef>
            </a:pPr>
            <a:r>
              <a:rPr lang="en-US" sz="4291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Base Paper Link(If any):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D11A2-B218-4A1A-A6BF-5C886D1E84CA}"/>
              </a:ext>
            </a:extLst>
          </p:cNvPr>
          <p:cNvSpPr txBox="1"/>
          <p:nvPr/>
        </p:nvSpPr>
        <p:spPr>
          <a:xfrm>
            <a:off x="1066800" y="2476500"/>
            <a:ext cx="12115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https://journals.plos.org/plosone/article?id=10.1371%2Fjournal.pone.0105297&amp;utm_source=chatgpt.com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BCB09-171E-426F-5F29-8742EBCDD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9448800" cy="1143000"/>
          </a:xfrm>
        </p:spPr>
        <p:txBody>
          <a:bodyPr>
            <a:normAutofit/>
          </a:bodyPr>
          <a:lstStyle/>
          <a:p>
            <a:pPr algn="l"/>
            <a:r>
              <a:rPr lang="en-US" b="1" dirty="0">
                <a:solidFill>
                  <a:srgbClr val="000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References:</a:t>
            </a:r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E47C80A-1E94-44EE-AAF6-B373E4E5E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930129"/>
            <a:ext cx="16078200" cy="666750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2400" b="1" dirty="0"/>
              <a:t>[1] </a:t>
            </a:r>
            <a:r>
              <a:rPr lang="en-US" sz="2400" dirty="0"/>
              <a:t>Humble, J., &amp; Farley, D. (2010).</a:t>
            </a:r>
            <a:r>
              <a:rPr lang="en-US" sz="2400" b="1" dirty="0"/>
              <a:t> </a:t>
            </a:r>
            <a:r>
              <a:rPr lang="en-US" sz="2400" i="1" dirty="0"/>
              <a:t>Continuous Delivery: Reliable Software Releases through Build, Test, and Deployment Automation.</a:t>
            </a:r>
            <a:r>
              <a:rPr lang="en-US" sz="2400" dirty="0"/>
              <a:t> Addison-Wesley Professional.</a:t>
            </a:r>
          </a:p>
          <a:p>
            <a:pPr marL="0" indent="0" algn="just">
              <a:buNone/>
            </a:pPr>
            <a:br>
              <a:rPr lang="en-US" sz="2400" dirty="0"/>
            </a:br>
            <a:r>
              <a:rPr lang="en-US" sz="2400" b="1" dirty="0"/>
              <a:t>[2] </a:t>
            </a:r>
            <a:r>
              <a:rPr lang="en-US" sz="2400" dirty="0"/>
              <a:t>Zhang, Q., Fang, C., </a:t>
            </a:r>
            <a:r>
              <a:rPr lang="en-US" sz="2400" dirty="0" err="1"/>
              <a:t>Xie</a:t>
            </a:r>
            <a:r>
              <a:rPr lang="en-US" sz="2400" dirty="0"/>
              <a:t>, Y., et al. (2023)</a:t>
            </a:r>
            <a:r>
              <a:rPr lang="en-US" sz="2400" b="1" dirty="0"/>
              <a:t>.</a:t>
            </a:r>
            <a:r>
              <a:rPr lang="en-US" sz="2400" dirty="0"/>
              <a:t> </a:t>
            </a:r>
            <a:r>
              <a:rPr lang="en-US" sz="2400" i="1" dirty="0"/>
              <a:t>A Survey on Large Language Models for Software Engineering.</a:t>
            </a:r>
            <a:r>
              <a:rPr lang="en-US" sz="2400" dirty="0"/>
              <a:t> arXiv:2312.15223.</a:t>
            </a:r>
          </a:p>
          <a:p>
            <a:pPr marL="0" indent="0" algn="just">
              <a:buNone/>
            </a:pPr>
            <a:endParaRPr lang="en-US" sz="2400" dirty="0"/>
          </a:p>
          <a:p>
            <a:pPr marL="0" indent="0" algn="just">
              <a:buNone/>
            </a:pPr>
            <a:r>
              <a:rPr lang="en-US" sz="2400" b="1" dirty="0"/>
              <a:t>[3] </a:t>
            </a:r>
            <a:r>
              <a:rPr lang="en-IN" sz="2400" dirty="0"/>
              <a:t>Hou, X., Zhao, Y., Liu, Y., et al. (2024). </a:t>
            </a:r>
            <a:r>
              <a:rPr lang="en-IN" sz="2400" i="1" dirty="0"/>
              <a:t>Large Language Models for Software Engineering: A Systematic Literature Review.</a:t>
            </a:r>
            <a:r>
              <a:rPr lang="en-IN" sz="2400" dirty="0"/>
              <a:t> ACM Transactions on Software Engineering and Methodology, 33(8), Article 220.</a:t>
            </a:r>
          </a:p>
          <a:p>
            <a:pPr marL="0" indent="0" algn="just">
              <a:buNone/>
            </a:pPr>
            <a:endParaRPr lang="en-IN" sz="2400" dirty="0"/>
          </a:p>
          <a:p>
            <a:pPr marL="0" indent="0" algn="just">
              <a:buNone/>
            </a:pPr>
            <a:r>
              <a:rPr lang="en-US" sz="2400" b="1" dirty="0"/>
              <a:t>[</a:t>
            </a:r>
            <a:r>
              <a:rPr lang="en-IN" sz="2400" b="1" dirty="0"/>
              <a:t>4]</a:t>
            </a:r>
            <a:r>
              <a:rPr lang="en-US" sz="2400" dirty="0"/>
              <a:t> </a:t>
            </a:r>
            <a:r>
              <a:rPr lang="en-US" sz="2400" dirty="0" err="1"/>
              <a:t>Patcas</a:t>
            </a:r>
            <a:r>
              <a:rPr lang="en-US" sz="2400" dirty="0"/>
              <a:t>, R., &amp; </a:t>
            </a:r>
            <a:r>
              <a:rPr lang="en-US" sz="2400" dirty="0" err="1"/>
              <a:t>Motogna</a:t>
            </a:r>
            <a:r>
              <a:rPr lang="en-US" sz="2400" dirty="0"/>
              <a:t>, S. (2026). </a:t>
            </a:r>
            <a:r>
              <a:rPr lang="en-US" sz="2400" i="1" dirty="0"/>
              <a:t>An evaluation study of large language models for addressing code quality issues.</a:t>
            </a:r>
            <a:r>
              <a:rPr lang="en-US" sz="2400" dirty="0"/>
              <a:t> Empirical Software Engineering, 31, 118.</a:t>
            </a:r>
          </a:p>
          <a:p>
            <a:pPr marL="0" indent="0" algn="just">
              <a:buNone/>
            </a:pPr>
            <a:endParaRPr lang="en-US" sz="2400" b="1" dirty="0"/>
          </a:p>
          <a:p>
            <a:pPr marL="0" indent="0" algn="just">
              <a:buNone/>
            </a:pPr>
            <a:r>
              <a:rPr lang="en-US" sz="2400" b="1" dirty="0"/>
              <a:t>[5] </a:t>
            </a:r>
            <a:r>
              <a:rPr lang="en-US" sz="2400" dirty="0"/>
              <a:t>Abtahi, S. M., &amp; Azim, A. (2025). </a:t>
            </a:r>
            <a:r>
              <a:rPr lang="en-US" sz="2400" i="1" dirty="0"/>
              <a:t>Augmenting Large Language Models with Static Code Analysis for Automated Code Quality Improvements.</a:t>
            </a:r>
            <a:r>
              <a:rPr lang="en-US" sz="2400" dirty="0"/>
              <a:t> arXiv:2506.10330.</a:t>
            </a:r>
            <a:endParaRPr lang="en-IN" sz="2400" b="1" dirty="0"/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1B3D6911-95C0-4EC6-87BE-6744F3A96369}"/>
              </a:ext>
            </a:extLst>
          </p:cNvPr>
          <p:cNvSpPr/>
          <p:nvPr/>
        </p:nvSpPr>
        <p:spPr>
          <a:xfrm>
            <a:off x="15392400" y="0"/>
            <a:ext cx="2759161" cy="1918923"/>
          </a:xfrm>
          <a:custGeom>
            <a:avLst/>
            <a:gdLst/>
            <a:ahLst/>
            <a:cxnLst/>
            <a:rect l="l" t="t" r="r" b="b"/>
            <a:pathLst>
              <a:path w="2759161" h="1918923">
                <a:moveTo>
                  <a:pt x="0" y="0"/>
                </a:moveTo>
                <a:lnTo>
                  <a:pt x="2759161" y="0"/>
                </a:lnTo>
                <a:lnTo>
                  <a:pt x="2759161" y="1918923"/>
                </a:lnTo>
                <a:lnTo>
                  <a:pt x="0" y="19189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77308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</TotalTime>
  <Words>4175</Words>
  <Application>Microsoft Office PowerPoint</Application>
  <PresentationFormat>Custom</PresentationFormat>
  <Paragraphs>361</Paragraphs>
  <Slides>25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Open Sauce Bold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2.2 Critical Analysis of Literature:</vt:lpstr>
      <vt:lpstr>2.2 Critical Analysis of Literature:</vt:lpstr>
      <vt:lpstr>2.2 Critical Analysis of Literature:</vt:lpstr>
      <vt:lpstr>2.2 Critical Analysis of Literature: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MAJOR PROJECT ABSTRACT</dc:title>
  <dc:creator>uday bhaskar</dc:creator>
  <cp:lastModifiedBy>uday bhaskar</cp:lastModifiedBy>
  <cp:revision>40</cp:revision>
  <dcterms:created xsi:type="dcterms:W3CDTF">2006-08-16T00:00:00Z</dcterms:created>
  <dcterms:modified xsi:type="dcterms:W3CDTF">2026-10-22T08:46:20Z</dcterms:modified>
  <dc:identifier>DAHBHb9LjcI</dc:identifier>
</cp:coreProperties>
</file>