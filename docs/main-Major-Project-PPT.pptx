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74" r:id="rId5"/>
    <p:sldId id="275" r:id="rId6"/>
    <p:sldId id="263" r:id="rId7"/>
    <p:sldId id="259" r:id="rId8"/>
    <p:sldId id="276" r:id="rId9"/>
    <p:sldId id="277" r:id="rId10"/>
    <p:sldId id="278" r:id="rId11"/>
    <p:sldId id="270" r:id="rId12"/>
    <p:sldId id="272" r:id="rId13"/>
    <p:sldId id="279" r:id="rId14"/>
    <p:sldId id="280" r:id="rId15"/>
    <p:sldId id="281" r:id="rId16"/>
    <p:sldId id="289" r:id="rId17"/>
    <p:sldId id="282" r:id="rId18"/>
    <p:sldId id="283" r:id="rId19"/>
    <p:sldId id="264" r:id="rId20"/>
    <p:sldId id="285" r:id="rId21"/>
    <p:sldId id="286" r:id="rId22"/>
    <p:sldId id="287" r:id="rId23"/>
    <p:sldId id="288" r:id="rId24"/>
    <p:sldId id="260" r:id="rId25"/>
    <p:sldId id="271" r:id="rId26"/>
    <p:sldId id="262" r:id="rId27"/>
  </p:sldIdLst>
  <p:sldSz cx="18288000" cy="10287000"/>
  <p:notesSz cx="6858000" cy="9144000"/>
  <p:embeddedFontLst>
    <p:embeddedFont>
      <p:font typeface="Open Sauce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52" d="100"/>
          <a:sy n="52" d="100"/>
        </p:scale>
        <p:origin x="62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E7A11A-6006-4F19-A262-D293DDD0F5E7}"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365F-B30F-49E1-B2B0-9F626C2EF9C8}" type="slidenum">
              <a:rPr lang="en-IN" smtClean="0"/>
              <a:t>‹#›</a:t>
            </a:fld>
            <a:endParaRPr lang="en-IN"/>
          </a:p>
        </p:txBody>
      </p:sp>
    </p:spTree>
    <p:extLst>
      <p:ext uri="{BB962C8B-B14F-4D97-AF65-F5344CB8AC3E}">
        <p14:creationId xmlns:p14="http://schemas.microsoft.com/office/powerpoint/2010/main" val="449458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BAFBAA-1D04-4B45-8542-7F0EFFBF013A}" type="slidenum">
              <a:rPr lang="en-IN" smtClean="0"/>
              <a:t>17</a:t>
            </a:fld>
            <a:endParaRPr lang="en-IN"/>
          </a:p>
        </p:txBody>
      </p:sp>
    </p:spTree>
    <p:extLst>
      <p:ext uri="{BB962C8B-B14F-4D97-AF65-F5344CB8AC3E}">
        <p14:creationId xmlns:p14="http://schemas.microsoft.com/office/powerpoint/2010/main" val="2159711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journals.plos.org/plosone/article?id=10.1371%2Fjournal.pone.0105297&amp;utm_source=chatgpt.co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graphicFrame>
        <p:nvGraphicFramePr>
          <p:cNvPr id="3" name="Table 3"/>
          <p:cNvGraphicFramePr>
            <a:graphicFrameLocks noGrp="1"/>
          </p:cNvGraphicFramePr>
          <p:nvPr>
            <p:extLst>
              <p:ext uri="{D42A27DB-BD31-4B8C-83A1-F6EECF244321}">
                <p14:modId xmlns:p14="http://schemas.microsoft.com/office/powerpoint/2010/main" val="1882188463"/>
              </p:ext>
            </p:extLst>
          </p:nvPr>
        </p:nvGraphicFramePr>
        <p:xfrm>
          <a:off x="8763000" y="5112026"/>
          <a:ext cx="9217597" cy="5081590"/>
        </p:xfrm>
        <a:graphic>
          <a:graphicData uri="http://schemas.openxmlformats.org/drawingml/2006/table">
            <a:tbl>
              <a:tblPr/>
              <a:tblGrid>
                <a:gridCol w="4403433">
                  <a:extLst>
                    <a:ext uri="{9D8B030D-6E8A-4147-A177-3AD203B41FA5}">
                      <a16:colId xmlns:a16="http://schemas.microsoft.com/office/drawing/2014/main" val="20000"/>
                    </a:ext>
                  </a:extLst>
                </a:gridCol>
                <a:gridCol w="4814164">
                  <a:extLst>
                    <a:ext uri="{9D8B030D-6E8A-4147-A177-3AD203B41FA5}">
                      <a16:colId xmlns:a16="http://schemas.microsoft.com/office/drawing/2014/main" val="20001"/>
                    </a:ext>
                  </a:extLst>
                </a:gridCol>
              </a:tblGrid>
              <a:tr h="706627">
                <a:tc gridSpan="2">
                  <a:txBody>
                    <a:bodyPr/>
                    <a:lstStyle/>
                    <a:p>
                      <a:pPr algn="ctr">
                        <a:lnSpc>
                          <a:spcPts val="4059"/>
                        </a:lnSpc>
                        <a:defRPr/>
                      </a:pPr>
                      <a:r>
                        <a:rPr lang="en-US" sz="3200" b="1" dirty="0">
                          <a:latin typeface="Times New Roman" panose="02020603050405020304" pitchFamily="18" charset="0"/>
                          <a:cs typeface="Times New Roman" panose="02020603050405020304" pitchFamily="18" charset="0"/>
                        </a:rPr>
                        <a:t>Batch Number: </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364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6627">
                <a:tc>
                  <a:txBody>
                    <a:bodyPr/>
                    <a:lstStyle/>
                    <a:p>
                      <a:pPr algn="ctr">
                        <a:lnSpc>
                          <a:spcPts val="4059"/>
                        </a:lnSpc>
                        <a:defRPr/>
                      </a:pPr>
                      <a:r>
                        <a:rPr lang="en-US" sz="2400" b="1" dirty="0">
                          <a:latin typeface="Times New Roman" panose="02020603050405020304" pitchFamily="18" charset="0"/>
                          <a:cs typeface="Times New Roman" panose="02020603050405020304" pitchFamily="18" charset="0"/>
                        </a:rPr>
                        <a:t>Name of the Team Members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40"/>
                        </a:lnSpc>
                        <a:defRPr/>
                      </a:pPr>
                      <a:r>
                        <a:rPr lang="en-US" sz="2400" b="1" dirty="0">
                          <a:latin typeface="Times New Roman" panose="02020603050405020304" pitchFamily="18" charset="0"/>
                          <a:cs typeface="Times New Roman" panose="02020603050405020304" pitchFamily="18" charset="0"/>
                        </a:rPr>
                        <a:t>Roll Numbers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0662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G. </a:t>
                      </a:r>
                      <a:r>
                        <a:rPr lang="en-IN" sz="2400" dirty="0" err="1">
                          <a:effectLst/>
                          <a:latin typeface="Times New Roman" panose="02020603050405020304" pitchFamily="18" charset="0"/>
                          <a:cs typeface="Times New Roman" panose="02020603050405020304" pitchFamily="18" charset="0"/>
                        </a:rPr>
                        <a:t>Vibhas</a:t>
                      </a:r>
                      <a:r>
                        <a:rPr lang="en-IN" sz="2400" dirty="0">
                          <a:effectLst/>
                          <a:latin typeface="Times New Roman" panose="02020603050405020304" pitchFamily="18" charset="0"/>
                          <a:cs typeface="Times New Roman" panose="02020603050405020304" pitchFamily="18" charset="0"/>
                        </a:rPr>
                        <a:t> Naidu</a:t>
                      </a:r>
                    </a:p>
                    <a:p>
                      <a:pPr algn="ctr" rtl="0" fontAlgn="ctr"/>
                      <a:endParaRPr lang="en-IN" sz="2400" dirty="0">
                        <a:effectLst/>
                        <a:latin typeface="Times New Roman" panose="02020603050405020304" pitchFamily="18" charset="0"/>
                        <a:cs typeface="Times New Roman" panose="02020603050405020304" pitchFamily="18" charset="0"/>
                      </a:endParaRP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23071A67F1</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06627">
                <a:tc>
                  <a:txBody>
                    <a:bodyPr/>
                    <a:lstStyle/>
                    <a:p>
                      <a:pPr algn="ctr" rtl="0" fontAlgn="ctr"/>
                      <a:r>
                        <a:rPr lang="en-IN" sz="2400" dirty="0" err="1">
                          <a:effectLst/>
                          <a:latin typeface="Times New Roman" panose="02020603050405020304" pitchFamily="18" charset="0"/>
                          <a:cs typeface="Times New Roman" panose="02020603050405020304" pitchFamily="18" charset="0"/>
                        </a:rPr>
                        <a:t>Jagadeeswar</a:t>
                      </a:r>
                      <a:r>
                        <a:rPr lang="en-IN" sz="2400" dirty="0">
                          <a:effectLst/>
                          <a:latin typeface="Times New Roman" panose="02020603050405020304" pitchFamily="18" charset="0"/>
                          <a:cs typeface="Times New Roman" panose="02020603050405020304" pitchFamily="18" charset="0"/>
                        </a:rPr>
                        <a:t> </a:t>
                      </a:r>
                      <a:r>
                        <a:rPr lang="en-IN" sz="2400" dirty="0" err="1">
                          <a:effectLst/>
                          <a:latin typeface="Times New Roman" panose="02020603050405020304" pitchFamily="18" charset="0"/>
                          <a:cs typeface="Times New Roman" panose="02020603050405020304" pitchFamily="18" charset="0"/>
                        </a:rPr>
                        <a:t>Jonnadula</a:t>
                      </a:r>
                      <a:r>
                        <a:rPr lang="en-IN" sz="2400" dirty="0">
                          <a:effectLst/>
                          <a:latin typeface="Times New Roman" panose="02020603050405020304" pitchFamily="18" charset="0"/>
                          <a:cs typeface="Times New Roman" panose="02020603050405020304" pitchFamily="18" charset="0"/>
                        </a:rPr>
                        <a:t> </a:t>
                      </a: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23071A67F4</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1450138"/>
                  </a:ext>
                </a:extLst>
              </a:tr>
              <a:tr h="706627">
                <a:tc>
                  <a:txBody>
                    <a:bodyPr/>
                    <a:lstStyle/>
                    <a:p>
                      <a:pPr algn="ctr" rtl="0" fontAlgn="ctr"/>
                      <a:r>
                        <a:rPr lang="en-IN" sz="2400" dirty="0">
                          <a:effectLst/>
                          <a:latin typeface="Times New Roman" panose="02020603050405020304" pitchFamily="18" charset="0"/>
                          <a:cs typeface="Times New Roman" panose="02020603050405020304" pitchFamily="18" charset="0"/>
                        </a:rPr>
                        <a:t>K Parvez </a:t>
                      </a:r>
                      <a:r>
                        <a:rPr lang="en-IN" sz="2400" dirty="0" err="1">
                          <a:effectLst/>
                          <a:latin typeface="Times New Roman" panose="02020603050405020304" pitchFamily="18" charset="0"/>
                          <a:cs typeface="Times New Roman" panose="02020603050405020304" pitchFamily="18" charset="0"/>
                        </a:rPr>
                        <a:t>Alam</a:t>
                      </a:r>
                      <a:endParaRPr lang="en-IN" sz="2400" dirty="0">
                        <a:effectLst/>
                        <a:latin typeface="Times New Roman" panose="02020603050405020304" pitchFamily="18" charset="0"/>
                        <a:cs typeface="Times New Roman" panose="02020603050405020304" pitchFamily="18" charset="0"/>
                      </a:endParaRP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23071A67F5</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06627">
                <a:tc>
                  <a:txBody>
                    <a:bodyPr/>
                    <a:lstStyle/>
                    <a:p>
                      <a:pPr algn="ctr" rtl="0" fontAlgn="ctr"/>
                      <a:r>
                        <a:rPr lang="en-IN" sz="2400" dirty="0">
                          <a:effectLst/>
                          <a:latin typeface="Times New Roman" panose="02020603050405020304" pitchFamily="18" charset="0"/>
                          <a:cs typeface="Times New Roman" panose="02020603050405020304" pitchFamily="18" charset="0"/>
                        </a:rPr>
                        <a:t>Y. Uday Bhaskar Reddy</a:t>
                      </a: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23071A67K4</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411464"/>
                  </a:ext>
                </a:extLst>
              </a:tr>
            </a:tbl>
          </a:graphicData>
        </a:graphic>
      </p:graphicFrame>
      <p:sp>
        <p:nvSpPr>
          <p:cNvPr id="6" name="TextBox 6"/>
          <p:cNvSpPr txBox="1"/>
          <p:nvPr/>
        </p:nvSpPr>
        <p:spPr>
          <a:xfrm>
            <a:off x="762000" y="3003982"/>
            <a:ext cx="17373600" cy="1473032"/>
          </a:xfrm>
          <a:prstGeom prst="rect">
            <a:avLst/>
          </a:prstGeom>
        </p:spPr>
        <p:txBody>
          <a:bodyPr wrap="square"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An AI-Driven Autonomous DevOps Framework for Intelligent Cloud Infrastructure Provisioning and Application Deployment</a:t>
            </a:r>
          </a:p>
        </p:txBody>
      </p:sp>
      <p:pic>
        <p:nvPicPr>
          <p:cNvPr id="11" name="Picture 10">
            <a:extLst>
              <a:ext uri="{FF2B5EF4-FFF2-40B4-BE49-F238E27FC236}">
                <a16:creationId xmlns:a16="http://schemas.microsoft.com/office/drawing/2014/main" id="{BE02D836-7B44-9056-998D-7A2B2986E8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1" y="66675"/>
            <a:ext cx="16306800" cy="2847057"/>
          </a:xfrm>
          <a:prstGeom prst="rect">
            <a:avLst/>
          </a:prstGeom>
          <a:noFill/>
          <a:ln>
            <a:noFill/>
          </a:ln>
        </p:spPr>
      </p:pic>
      <p:sp>
        <p:nvSpPr>
          <p:cNvPr id="4" name="TextBox 3">
            <a:extLst>
              <a:ext uri="{FF2B5EF4-FFF2-40B4-BE49-F238E27FC236}">
                <a16:creationId xmlns:a16="http://schemas.microsoft.com/office/drawing/2014/main" id="{49BF72DB-01E8-8EDA-7D0E-B97FE11F5496}"/>
              </a:ext>
            </a:extLst>
          </p:cNvPr>
          <p:cNvSpPr txBox="1"/>
          <p:nvPr/>
        </p:nvSpPr>
        <p:spPr>
          <a:xfrm>
            <a:off x="277586" y="7149334"/>
            <a:ext cx="7494814" cy="255454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Under The Supervision of:</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Name: Dr. P Jyothi</a:t>
            </a:r>
          </a:p>
          <a:p>
            <a:r>
              <a:rPr lang="en-US" sz="3200" b="1" dirty="0">
                <a:latin typeface="Times New Roman" panose="02020603050405020304" pitchFamily="18" charset="0"/>
                <a:cs typeface="Times New Roman" panose="02020603050405020304" pitchFamily="18" charset="0"/>
              </a:rPr>
              <a:t>Designation: Assistant Professor</a:t>
            </a:r>
          </a:p>
          <a:p>
            <a:r>
              <a:rPr lang="en-US" sz="3200" b="1" dirty="0">
                <a:latin typeface="Times New Roman" panose="02020603050405020304" pitchFamily="18" charset="0"/>
                <a:cs typeface="Times New Roman" panose="02020603050405020304" pitchFamily="18" charset="0"/>
              </a:rPr>
              <a:t>Dept. of CSE-(</a:t>
            </a:r>
            <a:r>
              <a:rPr lang="en-US" sz="3200" b="1" dirty="0" err="1">
                <a:latin typeface="Times New Roman" panose="02020603050405020304" pitchFamily="18" charset="0"/>
                <a:cs typeface="Times New Roman" panose="02020603050405020304" pitchFamily="18" charset="0"/>
              </a:rPr>
              <a:t>CyS</a:t>
            </a:r>
            <a:r>
              <a:rPr lang="en-US" sz="3200" b="1" dirty="0">
                <a:latin typeface="Times New Roman" panose="02020603050405020304" pitchFamily="18" charset="0"/>
                <a:cs typeface="Times New Roman" panose="02020603050405020304" pitchFamily="18" charset="0"/>
              </a:rPr>
              <a:t>, DS) and AI&amp;DS</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dirty="0"/>
          </a:p>
        </p:txBody>
      </p:sp>
      <p:sp>
        <p:nvSpPr>
          <p:cNvPr id="3" name="Freeform 3"/>
          <p:cNvSpPr/>
          <p:nvPr/>
        </p:nvSpPr>
        <p:spPr>
          <a:xfrm>
            <a:off x="15392400"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402390" y="547486"/>
            <a:ext cx="2795623" cy="738227"/>
          </a:xfrm>
          <a:prstGeom prst="rect">
            <a:avLst/>
          </a:prstGeom>
        </p:spPr>
        <p:txBody>
          <a:bodyPr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Abstract:</a:t>
            </a:r>
          </a:p>
        </p:txBody>
      </p:sp>
      <p:sp>
        <p:nvSpPr>
          <p:cNvPr id="6" name="TextBox 5">
            <a:extLst>
              <a:ext uri="{FF2B5EF4-FFF2-40B4-BE49-F238E27FC236}">
                <a16:creationId xmlns:a16="http://schemas.microsoft.com/office/drawing/2014/main" id="{15844B9E-454B-4EDF-B234-3B08A3E19D0A}"/>
              </a:ext>
            </a:extLst>
          </p:cNvPr>
          <p:cNvSpPr txBox="1"/>
          <p:nvPr/>
        </p:nvSpPr>
        <p:spPr>
          <a:xfrm>
            <a:off x="402390" y="1918923"/>
            <a:ext cx="16590210" cy="8894743"/>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Modern software development requires efficient, scalable, and reliable cloud deployment, but developers often face challenges in analyzing application requirements, selecting suitable cloud services, configuring infrastructure, managing CI/CD pipelines, and identifying deployment or runtime failures. This project proposes an </a:t>
            </a:r>
            <a:r>
              <a:rPr lang="en-US" sz="2200" b="1" dirty="0">
                <a:latin typeface="Times New Roman" panose="02020603050405020304" pitchFamily="18" charset="0"/>
                <a:cs typeface="Times New Roman" panose="02020603050405020304" pitchFamily="18" charset="0"/>
              </a:rPr>
              <a:t>AI-Driven Autonomous DevOps Framework for Intelligent Cloud Infrastructure Provisioning and Application Deployment</a:t>
            </a:r>
            <a:r>
              <a:rPr lang="en-US" sz="2200" dirty="0">
                <a:latin typeface="Times New Roman" panose="02020603050405020304" pitchFamily="18" charset="0"/>
                <a:cs typeface="Times New Roman" panose="02020603050405020304" pitchFamily="18" charset="0"/>
              </a:rPr>
              <a:t> that integrates </a:t>
            </a:r>
            <a:r>
              <a:rPr lang="en-US" sz="2200" b="1" dirty="0">
                <a:latin typeface="Times New Roman" panose="02020603050405020304" pitchFamily="18" charset="0"/>
                <a:cs typeface="Times New Roman" panose="02020603050405020304" pitchFamily="18" charset="0"/>
              </a:rPr>
              <a:t>Artificial Intelligence, Machine Learning, Large Language Models, Natural Language Processing, and cloud automation</a:t>
            </a:r>
            <a:r>
              <a:rPr lang="en-US" sz="2200" dirty="0">
                <a:latin typeface="Times New Roman" panose="02020603050405020304" pitchFamily="18" charset="0"/>
                <a:cs typeface="Times New Roman" panose="02020603050405020304" pitchFamily="18" charset="0"/>
              </a:rPr>
              <a:t> into a unified platform. The system enables developers to connect external code repositories such as GitHub, after which an </a:t>
            </a:r>
            <a:r>
              <a:rPr lang="en-US" sz="2200" b="1" dirty="0">
                <a:latin typeface="Times New Roman" panose="02020603050405020304" pitchFamily="18" charset="0"/>
                <a:cs typeface="Times New Roman" panose="02020603050405020304" pitchFamily="18" charset="0"/>
              </a:rPr>
              <a:t>ML-based code analysis model</a:t>
            </a:r>
            <a:r>
              <a:rPr lang="en-US" sz="2200" dirty="0">
                <a:latin typeface="Times New Roman" panose="02020603050405020304" pitchFamily="18" charset="0"/>
                <a:cs typeface="Times New Roman" panose="02020603050405020304" pitchFamily="18" charset="0"/>
              </a:rPr>
              <a:t> analyzes the source code to identify the programming language, framework, dependencies, architecture, and infrastructure requirements. Based on these characteristics, an </a:t>
            </a:r>
            <a:r>
              <a:rPr lang="en-US" sz="2200" b="1" dirty="0">
                <a:latin typeface="Times New Roman" panose="02020603050405020304" pitchFamily="18" charset="0"/>
                <a:cs typeface="Times New Roman" panose="02020603050405020304" pitchFamily="18" charset="0"/>
              </a:rPr>
              <a:t>ML-driven cloud-service recommendation model</a:t>
            </a:r>
            <a:r>
              <a:rPr lang="en-US" sz="2200" dirty="0">
                <a:latin typeface="Times New Roman" panose="02020603050405020304" pitchFamily="18" charset="0"/>
                <a:cs typeface="Times New Roman" panose="02020603050405020304" pitchFamily="18" charset="0"/>
              </a:rPr>
              <a:t> recommends suitable services and deployment strategies across </a:t>
            </a:r>
            <a:r>
              <a:rPr lang="en-US" sz="2200" b="1" dirty="0">
                <a:latin typeface="Times New Roman" panose="02020603050405020304" pitchFamily="18" charset="0"/>
                <a:cs typeface="Times New Roman" panose="02020603050405020304" pitchFamily="18" charset="0"/>
              </a:rPr>
              <a:t>AWS, Microsoft Azure, and Google Cloud Platform (GCP)</a:t>
            </a:r>
            <a:r>
              <a:rPr lang="en-US" sz="2200" dirty="0">
                <a:latin typeface="Times New Roman" panose="02020603050405020304" pitchFamily="18" charset="0"/>
                <a:cs typeface="Times New Roman" panose="02020603050405020304" pitchFamily="18" charset="0"/>
              </a:rPr>
              <a:t> by considering application requirements, cost, performance, scalability, and resource utilization. A decision and rule layer allows users to enforce deployment preferences, such as selecting a specific cloud provider or choosing the most cost-effective option.</a:t>
            </a:r>
          </a:p>
          <a:p>
            <a:pPr algn="just"/>
            <a:r>
              <a:rPr lang="en-US" sz="2200" dirty="0">
                <a:latin typeface="Times New Roman" panose="02020603050405020304" pitchFamily="18" charset="0"/>
                <a:cs typeface="Times New Roman" panose="02020603050405020304" pitchFamily="18" charset="0"/>
              </a:rPr>
              <a:t>The framework also incorporates an </a:t>
            </a:r>
            <a:r>
              <a:rPr lang="en-US" sz="2200" b="1" dirty="0">
                <a:latin typeface="Times New Roman" panose="02020603050405020304" pitchFamily="18" charset="0"/>
                <a:cs typeface="Times New Roman" panose="02020603050405020304" pitchFamily="18" charset="0"/>
              </a:rPr>
              <a:t>LLM-based application intelligence module</a:t>
            </a:r>
            <a:r>
              <a:rPr lang="en-US" sz="2200" dirty="0">
                <a:latin typeface="Times New Roman" panose="02020603050405020304" pitchFamily="18" charset="0"/>
                <a:cs typeface="Times New Roman" panose="02020603050405020304" pitchFamily="18" charset="0"/>
              </a:rPr>
              <a:t> to provide context-specific insights about the codebase, architecture, dependencies, functionality, and deployment requirements. </a:t>
            </a:r>
            <a:r>
              <a:rPr lang="en-US" sz="2200" b="1" dirty="0">
                <a:latin typeface="Times New Roman" panose="02020603050405020304" pitchFamily="18" charset="0"/>
                <a:cs typeface="Times New Roman" panose="02020603050405020304" pitchFamily="18" charset="0"/>
              </a:rPr>
              <a:t>Terraform and cloud provider APIs</a:t>
            </a:r>
            <a:r>
              <a:rPr lang="en-US" sz="2200" dirty="0">
                <a:latin typeface="Times New Roman" panose="02020603050405020304" pitchFamily="18" charset="0"/>
                <a:cs typeface="Times New Roman" panose="02020603050405020304" pitchFamily="18" charset="0"/>
              </a:rPr>
              <a:t> are used to automatically provision the selected infrastructure and deploy applications through CI/CD pipelines. The system generates an </a:t>
            </a:r>
            <a:r>
              <a:rPr lang="en-US" sz="2200" b="1" dirty="0">
                <a:latin typeface="Times New Roman" panose="02020603050405020304" pitchFamily="18" charset="0"/>
                <a:cs typeface="Times New Roman" panose="02020603050405020304" pitchFamily="18" charset="0"/>
              </a:rPr>
              <a:t>explainable deployment report</a:t>
            </a:r>
            <a:r>
              <a:rPr lang="en-US" sz="2200" dirty="0">
                <a:latin typeface="Times New Roman" panose="02020603050405020304" pitchFamily="18" charset="0"/>
                <a:cs typeface="Times New Roman" panose="02020603050405020304" pitchFamily="18" charset="0"/>
              </a:rPr>
              <a:t> describing the selected cloud resources, their purpose, configuration, and the reasoning behind deployment decisions. For operational reliability, an </a:t>
            </a:r>
            <a:r>
              <a:rPr lang="en-US" sz="2200" b="1" dirty="0">
                <a:latin typeface="Times New Roman" panose="02020603050405020304" pitchFamily="18" charset="0"/>
                <a:cs typeface="Times New Roman" panose="02020603050405020304" pitchFamily="18" charset="0"/>
              </a:rPr>
              <a:t>ML-based monitoring and anomaly detection model</a:t>
            </a:r>
            <a:r>
              <a:rPr lang="en-US" sz="2200" dirty="0">
                <a:latin typeface="Times New Roman" panose="02020603050405020304" pitchFamily="18" charset="0"/>
                <a:cs typeface="Times New Roman" panose="02020603050405020304" pitchFamily="18" charset="0"/>
              </a:rPr>
              <a:t> analyzes application and infrastructure metrics and logs to identify abnormal behavior, while an </a:t>
            </a:r>
            <a:r>
              <a:rPr lang="en-US" sz="2200" b="1" dirty="0">
                <a:latin typeface="Times New Roman" panose="02020603050405020304" pitchFamily="18" charset="0"/>
                <a:cs typeface="Times New Roman" panose="02020603050405020304" pitchFamily="18" charset="0"/>
              </a:rPr>
              <a:t>ML-based error classification model</a:t>
            </a:r>
            <a:r>
              <a:rPr lang="en-US" sz="2200" dirty="0">
                <a:latin typeface="Times New Roman" panose="02020603050405020304" pitchFamily="18" charset="0"/>
                <a:cs typeface="Times New Roman" panose="02020603050405020304" pitchFamily="18" charset="0"/>
              </a:rPr>
              <a:t> identifies deployment and runtime failures and predicts their probable causes. A rule-based automation engine can initiate corrective actions such as application restart, scaling, rollback, or redeployment. By combining </a:t>
            </a:r>
            <a:r>
              <a:rPr lang="en-US" sz="2200" b="1" dirty="0">
                <a:latin typeface="Times New Roman" panose="02020603050405020304" pitchFamily="18" charset="0"/>
                <a:cs typeface="Times New Roman" panose="02020603050405020304" pitchFamily="18" charset="0"/>
              </a:rPr>
              <a:t>Machine Learning, Artificial Intelligence, Natural Language Processing, Infrastructure as Code, and multi-cloud automation</a:t>
            </a:r>
            <a:r>
              <a:rPr lang="en-US" sz="2200" dirty="0">
                <a:latin typeface="Times New Roman" panose="02020603050405020304" pitchFamily="18" charset="0"/>
                <a:cs typeface="Times New Roman" panose="02020603050405020304" pitchFamily="18" charset="0"/>
              </a:rPr>
              <a:t>, the proposed framework aims to reduce manual DevOps effort, improve deployment reliability, optimize cloud-resource selection, and enable intelligent, autonomous, and explainable application deployment across heterogeneous cloud environments.</a:t>
            </a:r>
          </a:p>
          <a:p>
            <a:pPr algn="just"/>
            <a:endParaRPr lang="en-US"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Keywords:</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Artificial Intelligence, Machine Learning, Cloud Computing, DevOps Automation, Multi-Cloud Deployment, Infrastructure as Code, CI/CD, Anomaly Detection.</a:t>
            </a:r>
          </a:p>
          <a:p>
            <a:pPr algn="just"/>
            <a:endParaRPr lang="en-US"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0"/>
            <a:ext cx="2759161" cy="1918923"/>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7" name="TextBox 6">
            <a:extLst>
              <a:ext uri="{FF2B5EF4-FFF2-40B4-BE49-F238E27FC236}">
                <a16:creationId xmlns:a16="http://schemas.microsoft.com/office/drawing/2014/main" id="{7469FA27-1ECC-4A81-BBCA-B218CC6349FD}"/>
              </a:ext>
            </a:extLst>
          </p:cNvPr>
          <p:cNvSpPr txBox="1"/>
          <p:nvPr/>
        </p:nvSpPr>
        <p:spPr>
          <a:xfrm>
            <a:off x="584139" y="2095500"/>
            <a:ext cx="15494061" cy="6740307"/>
          </a:xfrm>
          <a:prstGeom prst="rect">
            <a:avLst/>
          </a:prstGeom>
          <a:noFill/>
        </p:spPr>
        <p:txBody>
          <a:bodyPr wrap="square" rtlCol="0">
            <a:spAutoFit/>
          </a:bodyPr>
          <a:lstStyle/>
          <a:p>
            <a:pPr algn="just"/>
            <a:r>
              <a:rPr lang="en-US" sz="2400" dirty="0"/>
              <a:t>Cloud computing and DevOps have become essential technologies in modern software development, enabling organizations to develop, deploy, and scale applications efficiently. However, cloud application deployment involves several complex activities, such as analyzing application requirements, identifying dependencies, selecting appropriate cloud services, configuring infrastructure, establishing CI/CD pipelines, and managing deployment issues. These activities often depend on manual effort and specialized technical knowledge. The complexity increases further when applications need to be deployed across multiple cloud platforms with different services, configurations, and resource requirements. Therefore, there is a need for intelligent approaches that can assist developers in making effective deployment and infrastructure decisions.</a:t>
            </a:r>
          </a:p>
          <a:p>
            <a:pPr algn="just"/>
            <a:endParaRPr lang="en-US" sz="2400" dirty="0"/>
          </a:p>
          <a:p>
            <a:pPr algn="just"/>
            <a:r>
              <a:rPr lang="en-US" sz="2400" dirty="0"/>
              <a:t>The proposed </a:t>
            </a:r>
            <a:r>
              <a:rPr lang="en-US" sz="2400" b="1" dirty="0"/>
              <a:t>AI-Driven Autonomous DevOps Framework for Intelligent Cloud Infrastructure Provisioning and Application Deployment</a:t>
            </a:r>
            <a:r>
              <a:rPr lang="en-US" sz="2400" dirty="0"/>
              <a:t> addresses these challenges by integrating </a:t>
            </a:r>
            <a:r>
              <a:rPr lang="en-US" sz="2400" b="1" dirty="0"/>
              <a:t>Artificial Intelligence, Machine Learning, Natural Language Processing, cloud computing, and DevOps technologies</a:t>
            </a:r>
            <a:r>
              <a:rPr lang="en-US" sz="2400" dirty="0"/>
              <a:t>. The framework analyzes application source code to identify its characteristics, dependencies, architecture, and infrastructure requirements, and uses ML-based models to recommend suitable cloud services and deployment strategies. It also incorporates cloud resource provisioning, CI/CD pipelines, application monitoring, anomaly detection, and error classification to support different stages of the deployment lifecycle. By combining intelligent decision-making with multi-cloud technologies, the proposed framework aims to improve </a:t>
            </a:r>
            <a:r>
              <a:rPr lang="en-US" sz="2400" b="1" dirty="0"/>
              <a:t>deployment efficiency, reliability, scalability, and cost-effectiveness</a:t>
            </a:r>
            <a:r>
              <a:rPr lang="en-US" sz="2400" dirty="0"/>
              <a:t>, while reducing the complexity and technical effort involved in cloud application deployment.</a:t>
            </a:r>
          </a:p>
        </p:txBody>
      </p:sp>
      <p:sp>
        <p:nvSpPr>
          <p:cNvPr id="10" name="TextBox 4">
            <a:extLst>
              <a:ext uri="{FF2B5EF4-FFF2-40B4-BE49-F238E27FC236}">
                <a16:creationId xmlns:a16="http://schemas.microsoft.com/office/drawing/2014/main" id="{07787CF5-0E8E-46E0-A5C8-EB541B8FD0B1}"/>
              </a:ext>
            </a:extLst>
          </p:cNvPr>
          <p:cNvSpPr txBox="1"/>
          <p:nvPr/>
        </p:nvSpPr>
        <p:spPr>
          <a:xfrm>
            <a:off x="-1817817" y="81237"/>
            <a:ext cx="13121930" cy="1464440"/>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latin typeface="Open Sauce Bold"/>
                <a:ea typeface="Open Sauce Bold"/>
                <a:cs typeface="Open Sauce Bold"/>
                <a:sym typeface="Open Sauce Bold"/>
              </a:rPr>
              <a:t>    CHAPTER-1 Introduction:</a:t>
            </a:r>
            <a:br>
              <a:rPr lang="en-US" sz="4250" b="1" dirty="0">
                <a:solidFill>
                  <a:srgbClr val="000000"/>
                </a:solidFill>
                <a:latin typeface="Open Sauce Bold"/>
                <a:ea typeface="Open Sauce Bold"/>
                <a:cs typeface="Open Sauce Bold"/>
              </a:rPr>
            </a:br>
            <a:r>
              <a:rPr lang="en-US" sz="4250" b="1" dirty="0">
                <a:solidFill>
                  <a:srgbClr val="000000"/>
                </a:solidFill>
                <a:latin typeface="Open Sauce Bold"/>
                <a:ea typeface="Open Sauce Bold"/>
                <a:cs typeface="Open Sauce Bold"/>
              </a:rPr>
              <a:t>1.1  Background of the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6AA61E0C-1A29-442E-8FC8-BF5A402D1EA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4" name="Freeform 3">
            <a:extLst>
              <a:ext uri="{FF2B5EF4-FFF2-40B4-BE49-F238E27FC236}">
                <a16:creationId xmlns:a16="http://schemas.microsoft.com/office/drawing/2014/main" id="{AB2AA27E-ED1D-48D6-A815-BC5454967E6A}"/>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5" name="TextBox 4">
            <a:extLst>
              <a:ext uri="{FF2B5EF4-FFF2-40B4-BE49-F238E27FC236}">
                <a16:creationId xmlns:a16="http://schemas.microsoft.com/office/drawing/2014/main" id="{91A151F3-5160-4803-A015-5E11D15B82AC}"/>
              </a:ext>
            </a:extLst>
          </p:cNvPr>
          <p:cNvSpPr txBox="1"/>
          <p:nvPr/>
        </p:nvSpPr>
        <p:spPr>
          <a:xfrm>
            <a:off x="-2911121" y="762835"/>
            <a:ext cx="13121930" cy="702436"/>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latin typeface="Open Sauce Bold"/>
                <a:ea typeface="Open Sauce Bold"/>
                <a:cs typeface="Open Sauce Bold"/>
              </a:rPr>
              <a:t>1.2  Need and Relevance</a:t>
            </a:r>
          </a:p>
        </p:txBody>
      </p:sp>
      <p:sp>
        <p:nvSpPr>
          <p:cNvPr id="7" name="TextBox 6">
            <a:extLst>
              <a:ext uri="{FF2B5EF4-FFF2-40B4-BE49-F238E27FC236}">
                <a16:creationId xmlns:a16="http://schemas.microsoft.com/office/drawing/2014/main" id="{BC53F632-781E-4FC0-A203-DB3EA2EF893B}"/>
              </a:ext>
            </a:extLst>
          </p:cNvPr>
          <p:cNvSpPr txBox="1"/>
          <p:nvPr/>
        </p:nvSpPr>
        <p:spPr>
          <a:xfrm>
            <a:off x="487017" y="1943241"/>
            <a:ext cx="17313965" cy="369332"/>
          </a:xfrm>
          <a:prstGeom prst="rect">
            <a:avLst/>
          </a:prstGeom>
        </p:spPr>
        <p:txBody>
          <a:bodyPr wrap="square" lIns="0" tIns="0" rIns="0" bIns="0" rtlCol="0" anchor="t">
            <a:spAutoFit/>
          </a:bodyPr>
          <a:lstStyle/>
          <a:p>
            <a:pPr algn="just"/>
            <a:endParaRPr lang="en-US" sz="2400" dirty="0">
              <a:solidFill>
                <a:srgbClr val="000000"/>
              </a:solidFill>
              <a:latin typeface="Times New Roman" panose="02020603050405020304" pitchFamily="18" charset="0"/>
              <a:ea typeface="Calibri"/>
              <a:cs typeface="Times New Roman" panose="02020603050405020304" pitchFamily="18" charset="0"/>
            </a:endParaRPr>
          </a:p>
        </p:txBody>
      </p:sp>
      <p:sp>
        <p:nvSpPr>
          <p:cNvPr id="9" name="TextBox 8">
            <a:extLst>
              <a:ext uri="{FF2B5EF4-FFF2-40B4-BE49-F238E27FC236}">
                <a16:creationId xmlns:a16="http://schemas.microsoft.com/office/drawing/2014/main" id="{A6369671-DC6C-4BF0-8ED5-4C34A93BDFD8}"/>
              </a:ext>
            </a:extLst>
          </p:cNvPr>
          <p:cNvSpPr txBox="1"/>
          <p:nvPr/>
        </p:nvSpPr>
        <p:spPr>
          <a:xfrm>
            <a:off x="487017" y="1943241"/>
            <a:ext cx="17313965" cy="369332"/>
          </a:xfrm>
          <a:prstGeom prst="rect">
            <a:avLst/>
          </a:prstGeom>
        </p:spPr>
        <p:txBody>
          <a:bodyPr wrap="square" lIns="0" tIns="0" rIns="0" bIns="0" rtlCol="0" anchor="t">
            <a:spAutoFit/>
          </a:bodyPr>
          <a:lstStyle/>
          <a:p>
            <a:pPr algn="just"/>
            <a:endParaRPr lang="en-US" sz="2400" dirty="0">
              <a:solidFill>
                <a:srgbClr val="000000"/>
              </a:solidFill>
              <a:latin typeface="Times New Roman" panose="02020603050405020304" pitchFamily="18" charset="0"/>
              <a:ea typeface="Calibri"/>
              <a:cs typeface="Times New Roman" panose="02020603050405020304" pitchFamily="18" charset="0"/>
            </a:endParaRPr>
          </a:p>
        </p:txBody>
      </p:sp>
      <p:sp>
        <p:nvSpPr>
          <p:cNvPr id="10" name="TextBox 9">
            <a:extLst>
              <a:ext uri="{FF2B5EF4-FFF2-40B4-BE49-F238E27FC236}">
                <a16:creationId xmlns:a16="http://schemas.microsoft.com/office/drawing/2014/main" id="{18E6215E-8C75-4E5D-965A-D6B4386DDAE3}"/>
              </a:ext>
            </a:extLst>
          </p:cNvPr>
          <p:cNvSpPr txBox="1"/>
          <p:nvPr/>
        </p:nvSpPr>
        <p:spPr>
          <a:xfrm>
            <a:off x="487017" y="1943241"/>
            <a:ext cx="17313965" cy="6278642"/>
          </a:xfrm>
          <a:prstGeom prst="rect">
            <a:avLst/>
          </a:prstGeom>
        </p:spPr>
        <p:txBody>
          <a:bodyPr wrap="square" lIns="0" tIns="0" rIns="0" bIns="0" rtlCol="0" anchor="t">
            <a:spAutoFit/>
          </a:bodyPr>
          <a:lstStyle/>
          <a:p>
            <a:pPr algn="just"/>
            <a:r>
              <a:rPr lang="en-US" sz="2400" dirty="0">
                <a:latin typeface="Times New Roman" panose="02020603050405020304" pitchFamily="18" charset="0"/>
                <a:cs typeface="Times New Roman" panose="02020603050405020304" pitchFamily="18" charset="0"/>
              </a:rPr>
              <a:t>Modern software development increasingly depends on cloud computing and DevOps practices to develop, deploy, and manage applications efficiently. However, cloud application deployment involves several activities such as analyzing application requirements, identifying dependencies, selecting suitable cloud services, configuring infrastructure, establishing CI/CD pipelines, and managing deployment issues. These activities often require manual effort and specialized technical knowledge, making the deployment process complex for developers.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complexity becomes greater when applications need to be deployed across multiple cloud platforms such as </a:t>
            </a:r>
            <a:r>
              <a:rPr lang="en-US" sz="2400" b="1" dirty="0">
                <a:latin typeface="Times New Roman" panose="02020603050405020304" pitchFamily="18" charset="0"/>
                <a:cs typeface="Times New Roman" panose="02020603050405020304" pitchFamily="18" charset="0"/>
              </a:rPr>
              <a:t>Amazon Web Services (AWS), Microsoft Azure, and Google Cloud Platform (GCP)</a:t>
            </a:r>
            <a:r>
              <a:rPr lang="en-US" sz="2400" dirty="0">
                <a:latin typeface="Times New Roman" panose="02020603050405020304" pitchFamily="18" charset="0"/>
                <a:cs typeface="Times New Roman" panose="02020603050405020304" pitchFamily="18" charset="0"/>
              </a:rPr>
              <a:t>. Each cloud platform provides different services, configurations, and resource requirements. Therefore, developers need to carefully analyze the application and select suitable cloud resources based on factors such as </a:t>
            </a:r>
            <a:r>
              <a:rPr lang="en-US" sz="2400" b="1" dirty="0">
                <a:latin typeface="Times New Roman" panose="02020603050405020304" pitchFamily="18" charset="0"/>
                <a:cs typeface="Times New Roman" panose="02020603050405020304" pitchFamily="18" charset="0"/>
              </a:rPr>
              <a:t>cost, performance, scalability, and resource requirements</a:t>
            </a:r>
            <a:r>
              <a:rPr lang="en-US" sz="2400" dirty="0">
                <a:latin typeface="Times New Roman" panose="02020603050405020304" pitchFamily="18" charset="0"/>
                <a:cs typeface="Times New Roman" panose="02020603050405020304" pitchFamily="18" charset="0"/>
              </a:rPr>
              <a:t>. An intelligent system can help reduce this complexity by analyzing the application and recommending appropriate cloud services and deployment strategies.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proposed </a:t>
            </a:r>
            <a:r>
              <a:rPr lang="en-US" sz="2400" b="1" dirty="0">
                <a:latin typeface="Times New Roman" panose="02020603050405020304" pitchFamily="18" charset="0"/>
                <a:cs typeface="Times New Roman" panose="02020603050405020304" pitchFamily="18" charset="0"/>
              </a:rPr>
              <a:t>AI-Driven Autonomous DevOps Framework</a:t>
            </a:r>
            <a:r>
              <a:rPr lang="en-US" sz="2400" dirty="0">
                <a:latin typeface="Times New Roman" panose="02020603050405020304" pitchFamily="18" charset="0"/>
                <a:cs typeface="Times New Roman" panose="02020603050405020304" pitchFamily="18" charset="0"/>
              </a:rPr>
              <a:t> addresses this need by integrating </a:t>
            </a:r>
            <a:r>
              <a:rPr lang="en-US" sz="2400" b="1" dirty="0">
                <a:latin typeface="Times New Roman" panose="02020603050405020304" pitchFamily="18" charset="0"/>
                <a:cs typeface="Times New Roman" panose="02020603050405020304" pitchFamily="18" charset="0"/>
              </a:rPr>
              <a:t>Artificial Intelligence, Machine Learning, Natural Language Processing, Large Language Models, Infrastructure as Code, and DevOps automation</a:t>
            </a:r>
            <a:r>
              <a:rPr lang="en-US" sz="2400" dirty="0">
                <a:latin typeface="Times New Roman" panose="02020603050405020304" pitchFamily="18" charset="0"/>
                <a:cs typeface="Times New Roman" panose="02020603050405020304" pitchFamily="18" charset="0"/>
              </a:rPr>
              <a:t>. The framework supports codebase analysis, cloud-service recommendation, infrastructure provisioning using Terraform, CI/CD-based deployment, application-specific question answering, monitoring, anomaly detection, and error classification. It also supports corrective actions such as restart, scaling, rollback, and redeployment. Thus, the framework aims to reduce manual DevOps effort while improving deployment efficiency, reliability, scalability, and cost-effectiveness.</a:t>
            </a:r>
          </a:p>
        </p:txBody>
      </p:sp>
    </p:spTree>
    <p:extLst>
      <p:ext uri="{BB962C8B-B14F-4D97-AF65-F5344CB8AC3E}">
        <p14:creationId xmlns:p14="http://schemas.microsoft.com/office/powerpoint/2010/main" val="4101719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2">
            <a:extLst>
              <a:ext uri="{FF2B5EF4-FFF2-40B4-BE49-F238E27FC236}">
                <a16:creationId xmlns:a16="http://schemas.microsoft.com/office/drawing/2014/main" id="{C2D34E4D-8A91-4CF1-87C2-F92F069EA12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11" name="Freeform 3">
            <a:extLst>
              <a:ext uri="{FF2B5EF4-FFF2-40B4-BE49-F238E27FC236}">
                <a16:creationId xmlns:a16="http://schemas.microsoft.com/office/drawing/2014/main" id="{EEDB8B6B-9665-4145-9D23-07EE66BCE2E4}"/>
              </a:ext>
            </a:extLst>
          </p:cNvPr>
          <p:cNvSpPr/>
          <p:nvPr/>
        </p:nvSpPr>
        <p:spPr>
          <a:xfrm>
            <a:off x="15621000" y="5443"/>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12" name="TextBox 4">
            <a:extLst>
              <a:ext uri="{FF2B5EF4-FFF2-40B4-BE49-F238E27FC236}">
                <a16:creationId xmlns:a16="http://schemas.microsoft.com/office/drawing/2014/main" id="{2A21FF9A-7EDD-411F-AA7D-FB7597286B50}"/>
              </a:ext>
            </a:extLst>
          </p:cNvPr>
          <p:cNvSpPr txBox="1"/>
          <p:nvPr/>
        </p:nvSpPr>
        <p:spPr>
          <a:xfrm>
            <a:off x="-3278243" y="778281"/>
            <a:ext cx="13121930" cy="702436"/>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latin typeface="Open Sauce Bold"/>
                <a:ea typeface="Open Sauce Bold"/>
                <a:cs typeface="Open Sauce Bold"/>
              </a:rPr>
              <a:t>1.3 Problem Statement</a:t>
            </a:r>
          </a:p>
        </p:txBody>
      </p:sp>
      <p:sp>
        <p:nvSpPr>
          <p:cNvPr id="13" name="TextBox 12">
            <a:extLst>
              <a:ext uri="{FF2B5EF4-FFF2-40B4-BE49-F238E27FC236}">
                <a16:creationId xmlns:a16="http://schemas.microsoft.com/office/drawing/2014/main" id="{04F53D3B-2A1D-41EA-9D7F-E3C29CA48547}"/>
              </a:ext>
            </a:extLst>
          </p:cNvPr>
          <p:cNvSpPr txBox="1"/>
          <p:nvPr/>
        </p:nvSpPr>
        <p:spPr>
          <a:xfrm>
            <a:off x="381000" y="1763525"/>
            <a:ext cx="17313965" cy="6894195"/>
          </a:xfrm>
          <a:prstGeom prst="rect">
            <a:avLst/>
          </a:prstGeom>
        </p:spPr>
        <p:txBody>
          <a:bodyPr wrap="square" lIns="0" tIns="0" rIns="0" bIns="0" rtlCol="0" anchor="t">
            <a:spAutoFit/>
          </a:bodyPr>
          <a:lstStyle/>
          <a:p>
            <a:r>
              <a:rPr lang="en-US" sz="2800" b="1" dirty="0">
                <a:latin typeface="Times New Roman" panose="02020603050405020304" pitchFamily="18" charset="0"/>
                <a:cs typeface="Times New Roman" panose="02020603050405020304" pitchFamily="18" charset="0"/>
              </a:rPr>
              <a:t>Complex and Manual Cloud Resource Selection: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Selecting suitable cloud services requires analysis of application requirements, cost, performance, and scalability.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Comparing services across AWS, Azure, and GCP manually can be difficult and time-consuming. </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Lack of Context-Aware Application Assistance: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Developers may find it difficult to understand complex codebases, dependencies, architecture, and deployment requirements.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context-aware system is needed to provide application-specific information through natural-language interaction. </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Complex Infrastructure Provisioning and Application Deployment: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Manually configuring cloud infrastructure and deployment pipelines requires significant technical effort.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Automated provisioning and CI/CD-based deployment are needed to simplify the deployment process. </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Limited Automated Monitoring and Error Handling:</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Applications may experience abnormal behavior, deployment failures, runtime errors, and resource-related problems.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 integrated system is needed to detect anomalies, classify errors, and support corrective actions.</a:t>
            </a:r>
          </a:p>
        </p:txBody>
      </p:sp>
    </p:spTree>
    <p:extLst>
      <p:ext uri="{BB962C8B-B14F-4D97-AF65-F5344CB8AC3E}">
        <p14:creationId xmlns:p14="http://schemas.microsoft.com/office/powerpoint/2010/main" val="2278362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dirty="0"/>
          </a:p>
        </p:txBody>
      </p:sp>
      <p:sp>
        <p:nvSpPr>
          <p:cNvPr id="3" name="Freeform 3"/>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7940" y="547486"/>
            <a:ext cx="5490860" cy="703591"/>
          </a:xfrm>
          <a:prstGeom prst="rect">
            <a:avLst/>
          </a:prstGeom>
        </p:spPr>
        <p:txBody>
          <a:bodyPr wrap="square"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1.4 Objectives:</a:t>
            </a:r>
          </a:p>
        </p:txBody>
      </p:sp>
      <p:sp>
        <p:nvSpPr>
          <p:cNvPr id="5" name="TextBox 4">
            <a:extLst>
              <a:ext uri="{FF2B5EF4-FFF2-40B4-BE49-F238E27FC236}">
                <a16:creationId xmlns:a16="http://schemas.microsoft.com/office/drawing/2014/main" id="{7F84DD88-F8AF-4BB0-AEF4-3D4279B3388A}"/>
              </a:ext>
            </a:extLst>
          </p:cNvPr>
          <p:cNvSpPr txBox="1"/>
          <p:nvPr/>
        </p:nvSpPr>
        <p:spPr>
          <a:xfrm>
            <a:off x="685800" y="2019300"/>
            <a:ext cx="16611600" cy="6370975"/>
          </a:xfrm>
          <a:prstGeom prst="rect">
            <a:avLst/>
          </a:prstGeom>
          <a:noFill/>
        </p:spPr>
        <p:txBody>
          <a:bodyPr wrap="square" rtlCol="0">
            <a:spAutoFit/>
          </a:bodyPr>
          <a:lstStyle/>
          <a:p>
            <a:r>
              <a:rPr lang="en-US" sz="2400" b="1" dirty="0"/>
              <a:t>1. Codebase-Based Decision Making</a:t>
            </a:r>
          </a:p>
          <a:p>
            <a:r>
              <a:rPr lang="en-US" sz="2400" dirty="0"/>
              <a:t>To develop an intelligent ML-based decision-making system that analyzes application code and recommends suitable cloud services and deployment strategies.</a:t>
            </a:r>
          </a:p>
          <a:p>
            <a:r>
              <a:rPr lang="en-US" sz="2400" dirty="0"/>
              <a:t>• Analyze the source code, programming language, framework, dependencies, and architecture.</a:t>
            </a:r>
            <a:br>
              <a:rPr lang="en-US" sz="2400" dirty="0"/>
            </a:br>
            <a:r>
              <a:rPr lang="en-US" sz="2400" dirty="0"/>
              <a:t>• Identify application infrastructure and deployment requirements.</a:t>
            </a:r>
            <a:br>
              <a:rPr lang="en-US" sz="2400" dirty="0"/>
            </a:br>
            <a:r>
              <a:rPr lang="en-US" sz="2400" dirty="0"/>
              <a:t>• Recommend suitable cloud services across </a:t>
            </a:r>
            <a:r>
              <a:rPr lang="en-US" sz="2400" b="1" dirty="0"/>
              <a:t>AWS, Azure, and GCP</a:t>
            </a:r>
            <a:r>
              <a:rPr lang="en-US" sz="2400" dirty="0"/>
              <a:t>.</a:t>
            </a:r>
            <a:br>
              <a:rPr lang="en-US" sz="2400" dirty="0"/>
            </a:br>
            <a:r>
              <a:rPr lang="en-US" sz="2400" dirty="0"/>
              <a:t>• Consider cost, performance, scalability, and resource requirements.</a:t>
            </a:r>
            <a:br>
              <a:rPr lang="en-US" sz="2400" dirty="0"/>
            </a:br>
            <a:r>
              <a:rPr lang="en-US" sz="2400" dirty="0"/>
              <a:t>• Determine an appropriate deployment strategy based on application characteristics.</a:t>
            </a:r>
          </a:p>
          <a:p>
            <a:endParaRPr lang="en-US" sz="2400" dirty="0"/>
          </a:p>
          <a:p>
            <a:r>
              <a:rPr lang="en-US" sz="2400" b="1" dirty="0"/>
              <a:t>2. Context-Aware Application Question Answering</a:t>
            </a:r>
          </a:p>
          <a:p>
            <a:r>
              <a:rPr lang="en-US" sz="2400" dirty="0"/>
              <a:t>To develop an intelligent question-answering system that provides application-specific information based on the analyzed codebase and technical knowledge.</a:t>
            </a:r>
          </a:p>
          <a:p>
            <a:r>
              <a:rPr lang="en-US" sz="2400" dirty="0"/>
              <a:t>• Allow users to ask questions about the application using natural language.</a:t>
            </a:r>
            <a:br>
              <a:rPr lang="en-US" sz="2400" dirty="0"/>
            </a:br>
            <a:r>
              <a:rPr lang="en-US" sz="2400" dirty="0"/>
              <a:t>• Provide information about application architecture, dependencies, and functionality.</a:t>
            </a:r>
            <a:br>
              <a:rPr lang="en-US" sz="2400" dirty="0"/>
            </a:br>
            <a:r>
              <a:rPr lang="en-US" sz="2400" dirty="0"/>
              <a:t>• Identify application deployment and infrastructure requirements.</a:t>
            </a:r>
            <a:br>
              <a:rPr lang="en-US" sz="2400" dirty="0"/>
            </a:br>
            <a:r>
              <a:rPr lang="en-US" sz="2400" dirty="0"/>
              <a:t>• Generate context-specific responses based on the analyzed application.</a:t>
            </a:r>
            <a:br>
              <a:rPr lang="en-US" sz="2400" dirty="0"/>
            </a:br>
            <a:r>
              <a:rPr lang="en-US" sz="2400" dirty="0"/>
              <a:t>• Help developers understand complex codebases and configurations.</a:t>
            </a:r>
          </a:p>
        </p:txBody>
      </p:sp>
    </p:spTree>
    <p:extLst>
      <p:ext uri="{BB962C8B-B14F-4D97-AF65-F5344CB8AC3E}">
        <p14:creationId xmlns:p14="http://schemas.microsoft.com/office/powerpoint/2010/main" val="217486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490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7940" y="547486"/>
            <a:ext cx="5033660" cy="703591"/>
          </a:xfrm>
          <a:prstGeom prst="rect">
            <a:avLst/>
          </a:prstGeom>
        </p:spPr>
        <p:txBody>
          <a:bodyPr wrap="square"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 1.4 Objectives:</a:t>
            </a:r>
          </a:p>
        </p:txBody>
      </p:sp>
      <p:sp>
        <p:nvSpPr>
          <p:cNvPr id="5" name="TextBox 4">
            <a:extLst>
              <a:ext uri="{FF2B5EF4-FFF2-40B4-BE49-F238E27FC236}">
                <a16:creationId xmlns:a16="http://schemas.microsoft.com/office/drawing/2014/main" id="{7F84DD88-F8AF-4BB0-AEF4-3D4279B3388A}"/>
              </a:ext>
            </a:extLst>
          </p:cNvPr>
          <p:cNvSpPr txBox="1"/>
          <p:nvPr/>
        </p:nvSpPr>
        <p:spPr>
          <a:xfrm>
            <a:off x="685800" y="2019300"/>
            <a:ext cx="16611600" cy="7478970"/>
          </a:xfrm>
          <a:prstGeom prst="rect">
            <a:avLst/>
          </a:prstGeom>
          <a:noFill/>
        </p:spPr>
        <p:txBody>
          <a:bodyPr wrap="square" rtlCol="0">
            <a:spAutoFit/>
          </a:bodyPr>
          <a:lstStyle/>
          <a:p>
            <a:r>
              <a:rPr lang="en-US" sz="2400" b="1" dirty="0"/>
              <a:t>3. Cloud Provisioning and Deployment Reporting</a:t>
            </a:r>
          </a:p>
          <a:p>
            <a:r>
              <a:rPr lang="en-US" sz="2400" dirty="0"/>
              <a:t>To implement cloud infrastructure provisioning and application deployment while providing clear and explainable deployment decisions.</a:t>
            </a:r>
          </a:p>
          <a:p>
            <a:r>
              <a:rPr lang="en-US" sz="2400" dirty="0"/>
              <a:t>• Provision required cloud resources using </a:t>
            </a:r>
            <a:r>
              <a:rPr lang="en-US" sz="2400" b="1" dirty="0"/>
              <a:t>Terraform and cloud provider APIs</a:t>
            </a:r>
            <a:r>
              <a:rPr lang="en-US" sz="2400" dirty="0"/>
              <a:t>.</a:t>
            </a:r>
            <a:br>
              <a:rPr lang="en-US" sz="2400" dirty="0"/>
            </a:br>
            <a:r>
              <a:rPr lang="en-US" sz="2400" dirty="0"/>
              <a:t>• Configure and deploy applications through </a:t>
            </a:r>
            <a:r>
              <a:rPr lang="en-US" sz="2400" b="1" dirty="0"/>
              <a:t>CI/CD pipelines</a:t>
            </a:r>
            <a:r>
              <a:rPr lang="en-US" sz="2400" dirty="0"/>
              <a:t>.</a:t>
            </a:r>
            <a:br>
              <a:rPr lang="en-US" sz="2400" dirty="0"/>
            </a:br>
            <a:r>
              <a:rPr lang="en-US" sz="2400" dirty="0"/>
              <a:t>• Support deployment across </a:t>
            </a:r>
            <a:r>
              <a:rPr lang="en-US" sz="2400" b="1" dirty="0"/>
              <a:t>AWS, Azure, and GCP</a:t>
            </a:r>
            <a:r>
              <a:rPr lang="en-US" sz="2400" dirty="0"/>
              <a:t>.</a:t>
            </a:r>
            <a:br>
              <a:rPr lang="en-US" sz="2400" dirty="0"/>
            </a:br>
            <a:r>
              <a:rPr lang="en-US" sz="2400" dirty="0"/>
              <a:t>• Generate an explainable deployment report.</a:t>
            </a:r>
            <a:br>
              <a:rPr lang="en-US" sz="2400" dirty="0"/>
            </a:br>
            <a:r>
              <a:rPr lang="en-US" sz="2400" dirty="0"/>
              <a:t>• Describe selected cloud services, configurations, and their purpose.</a:t>
            </a:r>
            <a:br>
              <a:rPr lang="en-US" sz="2400" dirty="0"/>
            </a:br>
            <a:r>
              <a:rPr lang="en-US" sz="2400" dirty="0"/>
              <a:t>• Provide the rationale behind each cloud and deployment decision.</a:t>
            </a:r>
          </a:p>
          <a:p>
            <a:endParaRPr lang="en-US" sz="2400" dirty="0"/>
          </a:p>
          <a:p>
            <a:r>
              <a:rPr lang="en-US" sz="2400" b="1" dirty="0"/>
              <a:t>4. Deployment Monitoring and Error Response</a:t>
            </a:r>
          </a:p>
          <a:p>
            <a:r>
              <a:rPr lang="en-US" sz="2400" dirty="0"/>
              <a:t>To develop an intelligent monitoring and error-handling system that identifies deployment and runtime problems and supports appropriate corrective actions.</a:t>
            </a:r>
          </a:p>
          <a:p>
            <a:r>
              <a:rPr lang="en-US" sz="2400" dirty="0"/>
              <a:t>• Monitor application and infrastructure metrics, logs, and resource usage.</a:t>
            </a:r>
            <a:br>
              <a:rPr lang="en-US" sz="2400" dirty="0"/>
            </a:br>
            <a:r>
              <a:rPr lang="en-US" sz="2400" dirty="0"/>
              <a:t>• Detect abnormal behavior using </a:t>
            </a:r>
            <a:r>
              <a:rPr lang="en-US" sz="2400" b="1" dirty="0"/>
              <a:t>ML-based anomaly detection</a:t>
            </a:r>
            <a:r>
              <a:rPr lang="en-US" sz="2400" dirty="0"/>
              <a:t>.</a:t>
            </a:r>
            <a:br>
              <a:rPr lang="en-US" sz="2400" dirty="0"/>
            </a:br>
            <a:r>
              <a:rPr lang="en-US" sz="2400" dirty="0"/>
              <a:t>• Classify build, deployment, runtime, and resource-related failures.</a:t>
            </a:r>
            <a:br>
              <a:rPr lang="en-US" sz="2400" dirty="0"/>
            </a:br>
            <a:r>
              <a:rPr lang="en-US" sz="2400" dirty="0"/>
              <a:t>• Identify the probable causes of detected errors.</a:t>
            </a:r>
            <a:br>
              <a:rPr lang="en-US" sz="2400" dirty="0"/>
            </a:br>
            <a:r>
              <a:rPr lang="en-US" sz="2400" dirty="0"/>
              <a:t>• Support corrective actions such as </a:t>
            </a:r>
            <a:r>
              <a:rPr lang="en-US" sz="2400" b="1" dirty="0"/>
              <a:t>restart, scaling, rollback, or redeployment</a:t>
            </a:r>
            <a:r>
              <a:rPr lang="en-US" sz="2400" dirty="0"/>
              <a:t>.</a:t>
            </a:r>
            <a:br>
              <a:rPr lang="en-US" sz="2400" dirty="0"/>
            </a:br>
            <a:r>
              <a:rPr lang="en-US" sz="2400" dirty="0"/>
              <a:t>• Evaluate system reliability, response time, and reduction in manual intervention.</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F4DB7-6983-0343-6408-C4D536F6420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DA3BA3-F7CB-319F-0C82-71F2CEEB906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DF334EA9-40B2-12B2-26D6-523909D832DE}"/>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A89280C2-CAE7-987A-9127-08DFA451C8EE}"/>
              </a:ext>
            </a:extLst>
          </p:cNvPr>
          <p:cNvSpPr txBox="1"/>
          <p:nvPr/>
        </p:nvSpPr>
        <p:spPr>
          <a:xfrm>
            <a:off x="-3592982" y="215064"/>
            <a:ext cx="13121930"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1.5 Scope of Work</a:t>
            </a:r>
          </a:p>
        </p:txBody>
      </p:sp>
      <p:sp>
        <p:nvSpPr>
          <p:cNvPr id="5" name="TextBox 4">
            <a:extLst>
              <a:ext uri="{FF2B5EF4-FFF2-40B4-BE49-F238E27FC236}">
                <a16:creationId xmlns:a16="http://schemas.microsoft.com/office/drawing/2014/main" id="{76B8CFED-0610-8079-4044-3359B6520909}"/>
              </a:ext>
            </a:extLst>
          </p:cNvPr>
          <p:cNvSpPr txBox="1"/>
          <p:nvPr/>
        </p:nvSpPr>
        <p:spPr>
          <a:xfrm>
            <a:off x="487017" y="1363459"/>
            <a:ext cx="17313965" cy="7325082"/>
          </a:xfrm>
          <a:prstGeom prst="rect">
            <a:avLst/>
          </a:prstGeom>
        </p:spPr>
        <p:txBody>
          <a:bodyPr wrap="square" lIns="0" tIns="0" rIns="0" bIns="0" rtlCol="0" anchor="t">
            <a:spAutoFit/>
          </a:bodyPr>
          <a:lstStyle/>
          <a:p>
            <a:pPr algn="just"/>
            <a:r>
              <a:rPr lang="en-US" sz="2800" b="1" dirty="0">
                <a:latin typeface="Times New Roman" panose="02020603050405020304" pitchFamily="18" charset="0"/>
                <a:cs typeface="Times New Roman" panose="02020603050405020304" pitchFamily="18" charset="0"/>
              </a:rPr>
              <a:t>• Codebase Analysis and Cloud Service Recommendation:</a:t>
            </a:r>
            <a:r>
              <a:rPr lang="en-US" sz="2800" dirty="0">
                <a:latin typeface="Times New Roman" panose="02020603050405020304" pitchFamily="18" charset="0"/>
                <a:cs typeface="Times New Roman" panose="02020603050405020304" pitchFamily="18" charset="0"/>
              </a:rPr>
              <a:t> Develop a system that analyzes application code and recommends suitable cloud services and deployment strategies.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Context-Aware Application Assistance:</a:t>
            </a:r>
            <a:r>
              <a:rPr lang="en-US" sz="2800" dirty="0">
                <a:latin typeface="Times New Roman" panose="02020603050405020304" pitchFamily="18" charset="0"/>
                <a:cs typeface="Times New Roman" panose="02020603050405020304" pitchFamily="18" charset="0"/>
              </a:rPr>
              <a:t> Provide application-specific information through natural-language interaction with an AI-based assistant.</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Automated Cloud Provisioning and Deployment:</a:t>
            </a:r>
            <a:r>
              <a:rPr lang="en-US" sz="2800" dirty="0">
                <a:latin typeface="Times New Roman" panose="02020603050405020304" pitchFamily="18" charset="0"/>
                <a:cs typeface="Times New Roman" panose="02020603050405020304" pitchFamily="18" charset="0"/>
              </a:rPr>
              <a:t> Automate cloud infrastructure provisioning using Terraform and application deployment through CI/CD pipelines.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Multi-Cloud Deployment Support:</a:t>
            </a:r>
            <a:r>
              <a:rPr lang="en-US" sz="2800" dirty="0">
                <a:latin typeface="Times New Roman" panose="02020603050405020304" pitchFamily="18" charset="0"/>
                <a:cs typeface="Times New Roman" panose="02020603050405020304" pitchFamily="18" charset="0"/>
              </a:rPr>
              <a:t> Support application deployment across AWS, Microsoft Azure, and Google Cloud Platform.</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Intelligent Monitoring and Error Response:</a:t>
            </a:r>
            <a:r>
              <a:rPr lang="en-US" sz="2800" dirty="0">
                <a:latin typeface="Times New Roman" panose="02020603050405020304" pitchFamily="18" charset="0"/>
                <a:cs typeface="Times New Roman" panose="02020603050405020304" pitchFamily="18" charset="0"/>
              </a:rPr>
              <a:t> Monitor applications, detect anomalies and failures, and support corrective actions such as restart, scaling, rollback, and redeployment.</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Explainable DevOps Automation:</a:t>
            </a:r>
            <a:r>
              <a:rPr lang="en-US" sz="2800" dirty="0">
                <a:latin typeface="Times New Roman" panose="02020603050405020304" pitchFamily="18" charset="0"/>
                <a:cs typeface="Times New Roman" panose="02020603050405020304" pitchFamily="18" charset="0"/>
              </a:rPr>
              <a:t> Generate clear deployment reports explaining selected resources, configurations, and deployment decisions. </a:t>
            </a:r>
          </a:p>
        </p:txBody>
      </p:sp>
    </p:spTree>
    <p:extLst>
      <p:ext uri="{BB962C8B-B14F-4D97-AF65-F5344CB8AC3E}">
        <p14:creationId xmlns:p14="http://schemas.microsoft.com/office/powerpoint/2010/main" val="195303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6D9A5-B211-4AE7-0C19-EC8A5F4A00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7BCED21-DFCF-F87B-64B1-BA87E930E1B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59217B7-88E6-75B9-1B5D-33EF85C00499}"/>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758334A0-7157-D0C7-9D28-A8C9F7082156}"/>
              </a:ext>
            </a:extLst>
          </p:cNvPr>
          <p:cNvSpPr txBox="1"/>
          <p:nvPr/>
        </p:nvSpPr>
        <p:spPr>
          <a:xfrm>
            <a:off x="-1986156" y="215064"/>
            <a:ext cx="13121930"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1.6  Organization of the Report</a:t>
            </a:r>
          </a:p>
        </p:txBody>
      </p:sp>
      <p:sp>
        <p:nvSpPr>
          <p:cNvPr id="6" name="TextBox 5">
            <a:extLst>
              <a:ext uri="{FF2B5EF4-FFF2-40B4-BE49-F238E27FC236}">
                <a16:creationId xmlns:a16="http://schemas.microsoft.com/office/drawing/2014/main" id="{4F9A2374-CF2C-D7E3-BE6A-7003BAEDEDCE}"/>
              </a:ext>
            </a:extLst>
          </p:cNvPr>
          <p:cNvSpPr txBox="1"/>
          <p:nvPr/>
        </p:nvSpPr>
        <p:spPr>
          <a:xfrm>
            <a:off x="538172" y="1751439"/>
            <a:ext cx="1656146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latin typeface="Times New Roman"/>
                <a:ea typeface="Calibri"/>
                <a:cs typeface="Times New Roman"/>
              </a:rPr>
              <a:t>Chapter</a:t>
            </a:r>
            <a:r>
              <a:rPr lang="en-GB" sz="2800" b="1">
                <a:latin typeface="Times New Roman"/>
                <a:ea typeface="+mn-lt"/>
                <a:cs typeface="Times New Roman"/>
              </a:rPr>
              <a:t> 1 – Introduction</a:t>
            </a:r>
            <a:br>
              <a:rPr lang="en-GB" sz="2800" b="1">
                <a:latin typeface="Times New Roman"/>
                <a:ea typeface="+mn-lt"/>
                <a:cs typeface="Times New Roman"/>
              </a:rPr>
            </a:br>
            <a:r>
              <a:rPr lang="en-GB" sz="2800">
                <a:latin typeface="Times New Roman"/>
                <a:ea typeface="+mn-lt"/>
                <a:cs typeface="Times New Roman"/>
              </a:rPr>
              <a:t>Presents the background of the problem, need and relevance, problem statement, objectives, and scope of the project.</a:t>
            </a:r>
            <a:endParaRPr lang="en-GB" sz="2800">
              <a:latin typeface="Times New Roman"/>
              <a:ea typeface="Calibri"/>
              <a:cs typeface="Times New Roman"/>
            </a:endParaRPr>
          </a:p>
          <a:p>
            <a:endParaRPr lang="en-GB" sz="2800">
              <a:latin typeface="Times New Roman"/>
              <a:ea typeface="+mn-lt"/>
              <a:cs typeface="Times New Roman"/>
            </a:endParaRPr>
          </a:p>
          <a:p>
            <a:r>
              <a:rPr lang="en-GB" sz="2800" b="1">
                <a:latin typeface="Times New Roman"/>
                <a:ea typeface="+mn-lt"/>
                <a:cs typeface="Times New Roman"/>
              </a:rPr>
              <a:t>Chapter 2 – Literature Review</a:t>
            </a:r>
            <a:br>
              <a:rPr lang="en-GB" sz="2800" b="1">
                <a:latin typeface="Times New Roman"/>
                <a:ea typeface="+mn-lt"/>
                <a:cs typeface="Times New Roman"/>
              </a:rPr>
            </a:br>
            <a:r>
              <a:rPr lang="en-GB" sz="2800">
                <a:latin typeface="Times New Roman"/>
                <a:ea typeface="+mn-lt"/>
                <a:cs typeface="Times New Roman"/>
              </a:rPr>
              <a:t>Discusses existing research and approaches related to AI-based airport assistance, identifies their limitations, and presents the research gaps addressed by SIPAS.</a:t>
            </a:r>
            <a:endParaRPr lang="en-GB" sz="2800">
              <a:latin typeface="Times New Roman"/>
              <a:ea typeface="Calibri"/>
              <a:cs typeface="Times New Roman"/>
            </a:endParaRPr>
          </a:p>
          <a:p>
            <a:endParaRPr lang="en-GB" sz="2800">
              <a:latin typeface="Times New Roman"/>
              <a:ea typeface="+mn-lt"/>
              <a:cs typeface="Times New Roman"/>
            </a:endParaRPr>
          </a:p>
          <a:p>
            <a:r>
              <a:rPr lang="en-GB" sz="2800" b="1">
                <a:latin typeface="Times New Roman"/>
                <a:ea typeface="+mn-lt"/>
                <a:cs typeface="Times New Roman"/>
              </a:rPr>
              <a:t>Chapter 3 – Approach / Design Methodology</a:t>
            </a:r>
            <a:br>
              <a:rPr lang="en-GB" sz="2800" b="1">
                <a:latin typeface="Times New Roman"/>
                <a:ea typeface="+mn-lt"/>
                <a:cs typeface="Times New Roman"/>
              </a:rPr>
            </a:br>
            <a:r>
              <a:rPr lang="en-GB" sz="2800">
                <a:latin typeface="Times New Roman"/>
                <a:ea typeface="+mn-lt"/>
                <a:cs typeface="Times New Roman"/>
              </a:rPr>
              <a:t>Describes the proposed methodology, technical approach, system design, key components, tools, and technologies used to develop SIPAS.</a:t>
            </a:r>
            <a:endParaRPr lang="en-GB" sz="2800">
              <a:latin typeface="Times New Roman"/>
              <a:cs typeface="Times New Roman"/>
            </a:endParaRPr>
          </a:p>
          <a:p>
            <a:pPr algn="l"/>
            <a:endParaRPr lang="en-GB" sz="2800">
              <a:latin typeface="Times New Roman"/>
              <a:ea typeface="Calibri"/>
              <a:cs typeface="Times New Roman"/>
            </a:endParaRPr>
          </a:p>
        </p:txBody>
      </p:sp>
    </p:spTree>
    <p:extLst>
      <p:ext uri="{BB962C8B-B14F-4D97-AF65-F5344CB8AC3E}">
        <p14:creationId xmlns:p14="http://schemas.microsoft.com/office/powerpoint/2010/main" val="62420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D1CEE-ED5A-60E8-3B68-FFEE88F7C8B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E9B5AF-DF82-6F0B-6FC4-842E1EAACC4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7590F00C-93F7-4DDB-8C02-AA9854E7C4B4}"/>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2FBD122F-0226-C423-D4B3-8307569E7B4E}"/>
              </a:ext>
            </a:extLst>
          </p:cNvPr>
          <p:cNvSpPr txBox="1"/>
          <p:nvPr/>
        </p:nvSpPr>
        <p:spPr>
          <a:xfrm>
            <a:off x="-1638286" y="231629"/>
            <a:ext cx="13121930" cy="1471878"/>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latin typeface="Open Sauce Bold"/>
                <a:ea typeface="Open Sauce Bold"/>
                <a:cs typeface="Open Sauce Bold"/>
              </a:rPr>
              <a:t>Chapter 2 – LITERATURE REVIEW</a:t>
            </a:r>
            <a:br>
              <a:rPr lang="en-US" sz="4250" b="1" dirty="0">
                <a:solidFill>
                  <a:srgbClr val="000000"/>
                </a:solidFill>
                <a:latin typeface="Open Sauce Bold"/>
                <a:ea typeface="Open Sauce Bold"/>
                <a:cs typeface="Open Sauce Bold"/>
              </a:rPr>
            </a:br>
            <a:r>
              <a:rPr lang="en-US" sz="4250" b="1" dirty="0">
                <a:solidFill>
                  <a:srgbClr val="000000"/>
                </a:solidFill>
                <a:latin typeface="Open Sauce Bold"/>
                <a:ea typeface="Open Sauce Bold"/>
                <a:cs typeface="Open Sauce Bold"/>
              </a:rPr>
              <a:t>2.1  Overview of Existing Work</a:t>
            </a:r>
          </a:p>
        </p:txBody>
      </p:sp>
      <p:sp>
        <p:nvSpPr>
          <p:cNvPr id="6" name="TextBox 5">
            <a:extLst>
              <a:ext uri="{FF2B5EF4-FFF2-40B4-BE49-F238E27FC236}">
                <a16:creationId xmlns:a16="http://schemas.microsoft.com/office/drawing/2014/main" id="{6DF16B10-8CB0-32EA-7630-88E4649A4F61}"/>
              </a:ext>
            </a:extLst>
          </p:cNvPr>
          <p:cNvSpPr txBox="1"/>
          <p:nvPr/>
        </p:nvSpPr>
        <p:spPr>
          <a:xfrm>
            <a:off x="869476" y="1983352"/>
            <a:ext cx="16561465" cy="74174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dirty="0">
                <a:latin typeface="Times New Roman" panose="02020603050405020304" pitchFamily="18" charset="0"/>
                <a:cs typeface="Times New Roman" panose="02020603050405020304" pitchFamily="18" charset="0"/>
              </a:rPr>
              <a:t>Existing work in AI-driven DevOps mainly focuses on </a:t>
            </a:r>
            <a:r>
              <a:rPr lang="en-US" sz="2800" b="1" dirty="0">
                <a:latin typeface="Times New Roman" panose="02020603050405020304" pitchFamily="18" charset="0"/>
                <a:cs typeface="Times New Roman" panose="02020603050405020304" pitchFamily="18" charset="0"/>
              </a:rPr>
              <a:t>automating cloud infrastructure, generating Infrastructure as Code (</a:t>
            </a:r>
            <a:r>
              <a:rPr lang="en-US" sz="2800" b="1" dirty="0" err="1">
                <a:latin typeface="Times New Roman" panose="02020603050405020304" pitchFamily="18" charset="0"/>
                <a:cs typeface="Times New Roman" panose="02020603050405020304" pitchFamily="18" charset="0"/>
              </a:rPr>
              <a:t>IaC</a:t>
            </a:r>
            <a:r>
              <a:rPr lang="en-US" sz="2800" b="1" dirty="0">
                <a:latin typeface="Times New Roman" panose="02020603050405020304" pitchFamily="18" charset="0"/>
                <a:cs typeface="Times New Roman" panose="02020603050405020304" pitchFamily="18" charset="0"/>
              </a:rPr>
              <a:t>), analyzing application code, monitoring system logs, and detecting deployment failures</a:t>
            </a:r>
            <a:r>
              <a:rPr lang="en-US" sz="2800" dirty="0">
                <a:latin typeface="Times New Roman" panose="02020603050405020304" pitchFamily="18" charset="0"/>
                <a:cs typeface="Times New Roman" panose="02020603050405020304" pitchFamily="18" charset="0"/>
              </a:rPr>
              <a:t>. Several approaches use </a:t>
            </a:r>
            <a:r>
              <a:rPr lang="en-US" sz="2800" b="1" dirty="0">
                <a:latin typeface="Times New Roman" panose="02020603050405020304" pitchFamily="18" charset="0"/>
                <a:cs typeface="Times New Roman" panose="02020603050405020304" pitchFamily="18" charset="0"/>
              </a:rPr>
              <a:t>Large Language Models (LLMs), Machine Learning, and </a:t>
            </a:r>
            <a:r>
              <a:rPr lang="en-US" sz="2800" b="1" dirty="0" err="1">
                <a:latin typeface="Times New Roman" panose="02020603050405020304" pitchFamily="18" charset="0"/>
                <a:cs typeface="Times New Roman" panose="02020603050405020304" pitchFamily="18" charset="0"/>
              </a:rPr>
              <a:t>AIOps</a:t>
            </a:r>
            <a:r>
              <a:rPr lang="en-US" sz="2800" dirty="0">
                <a:latin typeface="Times New Roman" panose="02020603050405020304" pitchFamily="18" charset="0"/>
                <a:cs typeface="Times New Roman" panose="02020603050405020304" pitchFamily="18" charset="0"/>
              </a:rPr>
              <a:t> to reduce manual effort in cloud deployment and infrastructure management.</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Research on </a:t>
            </a:r>
            <a:r>
              <a:rPr lang="en-US" sz="2800" b="1" dirty="0">
                <a:latin typeface="Times New Roman" panose="02020603050405020304" pitchFamily="18" charset="0"/>
                <a:cs typeface="Times New Roman" panose="02020603050405020304" pitchFamily="18" charset="0"/>
              </a:rPr>
              <a:t>Terraform and LLM-based </a:t>
            </a:r>
            <a:r>
              <a:rPr lang="en-US" sz="2800" b="1" dirty="0" err="1">
                <a:latin typeface="Times New Roman" panose="02020603050405020304" pitchFamily="18" charset="0"/>
                <a:cs typeface="Times New Roman" panose="02020603050405020304" pitchFamily="18" charset="0"/>
              </a:rPr>
              <a:t>IaC</a:t>
            </a:r>
            <a:r>
              <a:rPr lang="en-US" sz="2800" b="1" dirty="0">
                <a:latin typeface="Times New Roman" panose="02020603050405020304" pitchFamily="18" charset="0"/>
                <a:cs typeface="Times New Roman" panose="02020603050405020304" pitchFamily="18" charset="0"/>
              </a:rPr>
              <a:t> generation</a:t>
            </a:r>
            <a:r>
              <a:rPr lang="en-US" sz="2800" dirty="0">
                <a:latin typeface="Times New Roman" panose="02020603050405020304" pitchFamily="18" charset="0"/>
                <a:cs typeface="Times New Roman" panose="02020603050405020304" pitchFamily="18" charset="0"/>
              </a:rPr>
              <a:t> focuses on automatically creating infrastructure configurations from application requirements. Other approaches address </a:t>
            </a:r>
            <a:r>
              <a:rPr lang="en-US" sz="2800" b="1" dirty="0">
                <a:latin typeface="Times New Roman" panose="02020603050405020304" pitchFamily="18" charset="0"/>
                <a:cs typeface="Times New Roman" panose="02020603050405020304" pitchFamily="18" charset="0"/>
              </a:rPr>
              <a:t>security-aware Terraform generation</a:t>
            </a:r>
            <a:r>
              <a:rPr lang="en-US" sz="2800" dirty="0">
                <a:latin typeface="Times New Roman" panose="02020603050405020304" pitchFamily="18" charset="0"/>
                <a:cs typeface="Times New Roman" panose="02020603050405020304" pitchFamily="18" charset="0"/>
              </a:rPr>
              <a:t> and automated cloud deployment.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Existing </a:t>
            </a:r>
            <a:r>
              <a:rPr lang="en-US" sz="2800" dirty="0" err="1">
                <a:latin typeface="Times New Roman" panose="02020603050405020304" pitchFamily="18" charset="0"/>
                <a:cs typeface="Times New Roman" panose="02020603050405020304" pitchFamily="18" charset="0"/>
              </a:rPr>
              <a:t>AIOps</a:t>
            </a:r>
            <a:r>
              <a:rPr lang="en-US" sz="2800" dirty="0">
                <a:latin typeface="Times New Roman" panose="02020603050405020304" pitchFamily="18" charset="0"/>
                <a:cs typeface="Times New Roman" panose="02020603050405020304" pitchFamily="18" charset="0"/>
              </a:rPr>
              <a:t>-based approaches also focus on </a:t>
            </a:r>
            <a:r>
              <a:rPr lang="en-US" sz="2800" b="1" dirty="0">
                <a:latin typeface="Times New Roman" panose="02020603050405020304" pitchFamily="18" charset="0"/>
                <a:cs typeface="Times New Roman" panose="02020603050405020304" pitchFamily="18" charset="0"/>
              </a:rPr>
              <a:t>log analysis, anomaly detection, resource allocation, and automated cloud healing</a:t>
            </a:r>
            <a:r>
              <a:rPr lang="en-US" sz="2800" dirty="0">
                <a:latin typeface="Times New Roman" panose="02020603050405020304" pitchFamily="18" charset="0"/>
                <a:cs typeface="Times New Roman" panose="02020603050405020304" pitchFamily="18" charset="0"/>
              </a:rPr>
              <a:t>. These systems help identify abnormal behavior, classify failures, and improve cloud resource management.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However, the existing work generally addresses individual aspects of DevOps automation. The proposed project combines </a:t>
            </a:r>
            <a:r>
              <a:rPr lang="en-US" sz="2800" b="1" dirty="0">
                <a:latin typeface="Times New Roman" panose="02020603050405020304" pitchFamily="18" charset="0"/>
                <a:cs typeface="Times New Roman" panose="02020603050405020304" pitchFamily="18" charset="0"/>
              </a:rPr>
              <a:t>codebase analysis, cloud-service recommendation, context-aware application assistance, Terraform-based provisioning, CI/CD deployment, monitoring, anomaly detection, and automated error response</a:t>
            </a:r>
            <a:r>
              <a:rPr lang="en-US" sz="2800" dirty="0">
                <a:latin typeface="Times New Roman" panose="02020603050405020304" pitchFamily="18" charset="0"/>
                <a:cs typeface="Times New Roman" panose="02020603050405020304" pitchFamily="18" charset="0"/>
              </a:rPr>
              <a:t> into a single framework.</a:t>
            </a:r>
          </a:p>
        </p:txBody>
      </p:sp>
    </p:spTree>
    <p:extLst>
      <p:ext uri="{BB962C8B-B14F-4D97-AF65-F5344CB8AC3E}">
        <p14:creationId xmlns:p14="http://schemas.microsoft.com/office/powerpoint/2010/main" val="1167666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2.2 Critical Analysis of Literature:</a:t>
            </a:r>
            <a:endParaRPr lang="en-IN" dirty="0"/>
          </a:p>
        </p:txBody>
      </p:sp>
      <p:graphicFrame>
        <p:nvGraphicFramePr>
          <p:cNvPr id="10" name="Content Placeholder 9">
            <a:extLst>
              <a:ext uri="{FF2B5EF4-FFF2-40B4-BE49-F238E27FC236}">
                <a16:creationId xmlns:a16="http://schemas.microsoft.com/office/drawing/2014/main" id="{A1033129-DB8E-4601-9A20-3FFDDA1399A6}"/>
              </a:ext>
            </a:extLst>
          </p:cNvPr>
          <p:cNvGraphicFramePr>
            <a:graphicFrameLocks noGrp="1"/>
          </p:cNvGraphicFramePr>
          <p:nvPr>
            <p:ph idx="1"/>
            <p:extLst>
              <p:ext uri="{D42A27DB-BD31-4B8C-83A1-F6EECF244321}">
                <p14:modId xmlns:p14="http://schemas.microsoft.com/office/powerpoint/2010/main" val="2643612004"/>
              </p:ext>
            </p:extLst>
          </p:nvPr>
        </p:nvGraphicFramePr>
        <p:xfrm>
          <a:off x="685800" y="1417638"/>
          <a:ext cx="16764000" cy="8145462"/>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724734094"/>
                    </a:ext>
                  </a:extLst>
                </a:gridCol>
                <a:gridCol w="2794000">
                  <a:extLst>
                    <a:ext uri="{9D8B030D-6E8A-4147-A177-3AD203B41FA5}">
                      <a16:colId xmlns:a16="http://schemas.microsoft.com/office/drawing/2014/main" val="199178456"/>
                    </a:ext>
                  </a:extLst>
                </a:gridCol>
                <a:gridCol w="2794000">
                  <a:extLst>
                    <a:ext uri="{9D8B030D-6E8A-4147-A177-3AD203B41FA5}">
                      <a16:colId xmlns:a16="http://schemas.microsoft.com/office/drawing/2014/main" val="3079387262"/>
                    </a:ext>
                  </a:extLst>
                </a:gridCol>
                <a:gridCol w="2794000">
                  <a:extLst>
                    <a:ext uri="{9D8B030D-6E8A-4147-A177-3AD203B41FA5}">
                      <a16:colId xmlns:a16="http://schemas.microsoft.com/office/drawing/2014/main" val="1557345928"/>
                    </a:ext>
                  </a:extLst>
                </a:gridCol>
                <a:gridCol w="2794000">
                  <a:extLst>
                    <a:ext uri="{9D8B030D-6E8A-4147-A177-3AD203B41FA5}">
                      <a16:colId xmlns:a16="http://schemas.microsoft.com/office/drawing/2014/main" val="2838726973"/>
                    </a:ext>
                  </a:extLst>
                </a:gridCol>
                <a:gridCol w="2794000">
                  <a:extLst>
                    <a:ext uri="{9D8B030D-6E8A-4147-A177-3AD203B41FA5}">
                      <a16:colId xmlns:a16="http://schemas.microsoft.com/office/drawing/2014/main" val="2904197838"/>
                    </a:ext>
                  </a:extLst>
                </a:gridCol>
              </a:tblGrid>
              <a:tr h="881109">
                <a:tc>
                  <a:txBody>
                    <a:bodyPr/>
                    <a:lstStyle/>
                    <a:p>
                      <a:r>
                        <a:rPr lang="en-IN" sz="1800"/>
                        <a:t>Title of the Paper</a:t>
                      </a:r>
                      <a:endParaRPr lang="en-IN"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Author details and Journal / Conference publishing information</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Proposed method used in the paper</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Dataset used in the Paper</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Advantages of the proposed paper</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IN" sz="1800" dirty="0"/>
                        <a:t>Research Gap Identified</a:t>
                      </a:r>
                      <a:endParaRPr lang="en-IN" sz="1800" dirty="0">
                        <a:latin typeface="Times New Roman" panose="02020603050405020304" pitchFamily="18" charset="0"/>
                        <a:cs typeface="Times New Roman" panose="02020603050405020304" pitchFamily="18" charset="0"/>
                      </a:endParaRPr>
                    </a:p>
                  </a:txBody>
                  <a:tcPr marL="22517" marR="22517" marT="11259" marB="11259" anchor="ctr"/>
                </a:tc>
                <a:extLst>
                  <a:ext uri="{0D108BD9-81ED-4DB2-BD59-A6C34878D82A}">
                    <a16:rowId xmlns:a16="http://schemas.microsoft.com/office/drawing/2014/main" val="3513270574"/>
                  </a:ext>
                </a:extLst>
              </a:tr>
              <a:tr h="1738751">
                <a:tc>
                  <a:txBody>
                    <a:bodyPr/>
                    <a:lstStyle/>
                    <a:p>
                      <a:r>
                        <a:rPr lang="en-IN" sz="1800"/>
                        <a:t>1. Automatic Root Cause Analysis via Large Language Models for Cloud Incidents</a:t>
                      </a:r>
                      <a:endParaRPr lang="en-IN"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da-DK" sz="1800"/>
                        <a:t>Yinfang Chen et al. — EuroSys ’24, ACM, 2024</a:t>
                      </a:r>
                      <a:endParaRPr lang="da-DK"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RCACopilot uses incident handlers and an LLM to collect diagnostic data, identify root-cause categories, and generate explanations.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One year of real-world production incidents from Microsoft</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Automates RCA and reduces manual investigation effort.</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Performance decreases for unseen root causes; depends on incident handlers and troubleshooting knowledge.</a:t>
                      </a:r>
                      <a:endParaRPr lang="en-US" sz="1800">
                        <a:latin typeface="Times New Roman" panose="02020603050405020304" pitchFamily="18" charset="0"/>
                        <a:cs typeface="Times New Roman" panose="02020603050405020304" pitchFamily="18" charset="0"/>
                      </a:endParaRPr>
                    </a:p>
                  </a:txBody>
                  <a:tcPr marL="22517" marR="22517" marT="11259" marB="11259" anchor="ctr"/>
                </a:tc>
                <a:extLst>
                  <a:ext uri="{0D108BD9-81ED-4DB2-BD59-A6C34878D82A}">
                    <a16:rowId xmlns:a16="http://schemas.microsoft.com/office/drawing/2014/main" val="2344555770"/>
                  </a:ext>
                </a:extLst>
              </a:tr>
              <a:tr h="1452871">
                <a:tc>
                  <a:txBody>
                    <a:bodyPr/>
                    <a:lstStyle/>
                    <a:p>
                      <a:r>
                        <a:rPr lang="en-US" sz="1800"/>
                        <a:t>2. Security-First Evaluation of Text-to-Terraform: Benchmarking LLMs and SLMs for Secure IaC Generation</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s-ES" sz="1800" dirty="0"/>
                        <a:t>F. L. Santos Vargas et al. — </a:t>
                      </a:r>
                      <a:r>
                        <a:rPr lang="es-ES" sz="1800" dirty="0" err="1"/>
                        <a:t>arXiv</a:t>
                      </a:r>
                      <a:r>
                        <a:rPr lang="es-ES" sz="1800" dirty="0"/>
                        <a:t>, 2026</a:t>
                      </a:r>
                      <a:endParaRPr lang="es-ES" sz="1800" dirty="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Evaluates LLMs/SLMs for Terraform generation using Checkov and Trivy security scanning.</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IN" sz="1800"/>
                        <a:t>17 curated AWS Terraform generation scenarios</a:t>
                      </a:r>
                      <a:endParaRPr lang="en-IN"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Evaluates both Terraform validity and security compliance.</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Small scenario set; prompt engineering alone does not ensure secure IaC.</a:t>
                      </a:r>
                      <a:endParaRPr lang="en-US" sz="1800">
                        <a:latin typeface="Times New Roman" panose="02020603050405020304" pitchFamily="18" charset="0"/>
                        <a:cs typeface="Times New Roman" panose="02020603050405020304" pitchFamily="18" charset="0"/>
                      </a:endParaRPr>
                    </a:p>
                  </a:txBody>
                  <a:tcPr marL="22517" marR="22517" marT="11259" marB="11259" anchor="ctr"/>
                </a:tc>
                <a:extLst>
                  <a:ext uri="{0D108BD9-81ED-4DB2-BD59-A6C34878D82A}">
                    <a16:rowId xmlns:a16="http://schemas.microsoft.com/office/drawing/2014/main" val="3732851712"/>
                  </a:ext>
                </a:extLst>
              </a:tr>
              <a:tr h="1452871">
                <a:tc>
                  <a:txBody>
                    <a:bodyPr/>
                    <a:lstStyle/>
                    <a:p>
                      <a:r>
                        <a:rPr lang="en-US" sz="1800"/>
                        <a:t>3. Cloud Infrastructure Management in the Age of AI Agents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nb-NO" sz="1800"/>
                        <a:t>Zhenning Yang et al. — arXiv:2506.12270, 2025</a:t>
                      </a:r>
                      <a:endParaRPr lang="nb-NO"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Explores LLM-based AI agents using SDKs, CLIs, IaC platforms, and cloud interfaces for infrastructure management.</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IN" sz="1800"/>
                        <a:t>Preliminary cloud-management task evaluations</a:t>
                      </a:r>
                      <a:endParaRPr lang="en-IN"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Shows potential for automating repetitive cloud-management tasks.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Safety, reliability, scalability, and long-horizon autonomous operations require further research.</a:t>
                      </a:r>
                      <a:endParaRPr lang="en-US" sz="1800">
                        <a:latin typeface="Times New Roman" panose="02020603050405020304" pitchFamily="18" charset="0"/>
                        <a:cs typeface="Times New Roman" panose="02020603050405020304" pitchFamily="18" charset="0"/>
                      </a:endParaRPr>
                    </a:p>
                  </a:txBody>
                  <a:tcPr marL="22517" marR="22517" marT="11259" marB="11259" anchor="ctr"/>
                </a:tc>
                <a:extLst>
                  <a:ext uri="{0D108BD9-81ED-4DB2-BD59-A6C34878D82A}">
                    <a16:rowId xmlns:a16="http://schemas.microsoft.com/office/drawing/2014/main" val="3432334325"/>
                  </a:ext>
                </a:extLst>
              </a:tr>
              <a:tr h="1452871">
                <a:tc>
                  <a:txBody>
                    <a:bodyPr/>
                    <a:lstStyle/>
                    <a:p>
                      <a:r>
                        <a:rPr lang="en-US" sz="1800"/>
                        <a:t>4. AIOpsLab: A Holistic Framework for Evaluating AI Agents for Enabling Autonomous Cloud</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IN" sz="1800"/>
                        <a:t>Chen et al. — 2024</a:t>
                      </a:r>
                      <a:endParaRPr lang="en-IN"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Provides a framework for evaluating AI agents on cloud incident detection, diagnosis, and resolution tasks.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Cloud incident scenarios and benchmark tasks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Enables systematic evaluation of autonomous cloud agents.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More realistic environments and broader autonomous operations are needed.</a:t>
                      </a:r>
                      <a:endParaRPr lang="en-US" sz="1800">
                        <a:latin typeface="Times New Roman" panose="02020603050405020304" pitchFamily="18" charset="0"/>
                        <a:cs typeface="Times New Roman" panose="02020603050405020304" pitchFamily="18" charset="0"/>
                      </a:endParaRPr>
                    </a:p>
                  </a:txBody>
                  <a:tcPr marL="22517" marR="22517" marT="11259" marB="11259" anchor="ctr"/>
                </a:tc>
                <a:extLst>
                  <a:ext uri="{0D108BD9-81ED-4DB2-BD59-A6C34878D82A}">
                    <a16:rowId xmlns:a16="http://schemas.microsoft.com/office/drawing/2014/main" val="3431469660"/>
                  </a:ext>
                </a:extLst>
              </a:tr>
              <a:tr h="1166989">
                <a:tc>
                  <a:txBody>
                    <a:bodyPr/>
                    <a:lstStyle/>
                    <a:p>
                      <a:r>
                        <a:rPr lang="en-US" sz="1800"/>
                        <a:t>5. An Architecture for Model-Based and Intelligent Automation in DevOps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Research paper on intelligent DevOps automation</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Uses model-based approaches and intelligent automation to support DevOps processes.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Not specified in the paper</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a:t>Supports automation and integration of intelligent decision-making in DevOps.</a:t>
                      </a:r>
                      <a:endParaRPr lang="en-US" sz="1800">
                        <a:latin typeface="Times New Roman" panose="02020603050405020304" pitchFamily="18" charset="0"/>
                        <a:cs typeface="Times New Roman" panose="02020603050405020304" pitchFamily="18" charset="0"/>
                      </a:endParaRPr>
                    </a:p>
                  </a:txBody>
                  <a:tcPr marL="22517" marR="22517" marT="11259" marB="11259" anchor="ctr"/>
                </a:tc>
                <a:tc>
                  <a:txBody>
                    <a:bodyPr/>
                    <a:lstStyle/>
                    <a:p>
                      <a:r>
                        <a:rPr lang="en-US" sz="1800" dirty="0"/>
                        <a:t>Limited integration of modern LLM-based autonomous cloud operations.</a:t>
                      </a:r>
                      <a:endParaRPr lang="en-US" sz="1800" dirty="0">
                        <a:latin typeface="Times New Roman" panose="02020603050405020304" pitchFamily="18" charset="0"/>
                        <a:cs typeface="Times New Roman" panose="02020603050405020304" pitchFamily="18" charset="0"/>
                      </a:endParaRPr>
                    </a:p>
                  </a:txBody>
                  <a:tcPr marL="22517" marR="22517" marT="11259" marB="11259" anchor="ctr"/>
                </a:tc>
                <a:extLst>
                  <a:ext uri="{0D108BD9-81ED-4DB2-BD59-A6C34878D82A}">
                    <a16:rowId xmlns:a16="http://schemas.microsoft.com/office/drawing/2014/main" val="863829369"/>
                  </a:ext>
                </a:extLst>
              </a:tr>
            </a:tbl>
          </a:graphicData>
        </a:graphic>
      </p:graphicFrame>
    </p:spTree>
    <p:extLst>
      <p:ext uri="{BB962C8B-B14F-4D97-AF65-F5344CB8AC3E}">
        <p14:creationId xmlns:p14="http://schemas.microsoft.com/office/powerpoint/2010/main" val="4065428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2.2 Critical Analysis of Literature:</a:t>
            </a:r>
            <a:endParaRPr lang="en-IN" dirty="0"/>
          </a:p>
        </p:txBody>
      </p:sp>
      <p:graphicFrame>
        <p:nvGraphicFramePr>
          <p:cNvPr id="9" name="Content Placeholder 8">
            <a:extLst>
              <a:ext uri="{FF2B5EF4-FFF2-40B4-BE49-F238E27FC236}">
                <a16:creationId xmlns:a16="http://schemas.microsoft.com/office/drawing/2014/main" id="{DC7BC11C-C869-4F18-B035-AB657AE54D78}"/>
              </a:ext>
            </a:extLst>
          </p:cNvPr>
          <p:cNvGraphicFramePr>
            <a:graphicFrameLocks noGrp="1"/>
          </p:cNvGraphicFramePr>
          <p:nvPr>
            <p:ph idx="1"/>
            <p:extLst>
              <p:ext uri="{D42A27DB-BD31-4B8C-83A1-F6EECF244321}">
                <p14:modId xmlns:p14="http://schemas.microsoft.com/office/powerpoint/2010/main" val="2553406793"/>
              </p:ext>
            </p:extLst>
          </p:nvPr>
        </p:nvGraphicFramePr>
        <p:xfrm>
          <a:off x="609600" y="1387746"/>
          <a:ext cx="16611600" cy="8624616"/>
        </p:xfrm>
        <a:graphic>
          <a:graphicData uri="http://schemas.openxmlformats.org/drawingml/2006/table">
            <a:tbl>
              <a:tblPr firstRow="1" bandRow="1">
                <a:tableStyleId>{5C22544A-7EE6-4342-B048-85BDC9FD1C3A}</a:tableStyleId>
              </a:tblPr>
              <a:tblGrid>
                <a:gridCol w="2768600">
                  <a:extLst>
                    <a:ext uri="{9D8B030D-6E8A-4147-A177-3AD203B41FA5}">
                      <a16:colId xmlns:a16="http://schemas.microsoft.com/office/drawing/2014/main" val="2575770962"/>
                    </a:ext>
                  </a:extLst>
                </a:gridCol>
                <a:gridCol w="2768600">
                  <a:extLst>
                    <a:ext uri="{9D8B030D-6E8A-4147-A177-3AD203B41FA5}">
                      <a16:colId xmlns:a16="http://schemas.microsoft.com/office/drawing/2014/main" val="1964715647"/>
                    </a:ext>
                  </a:extLst>
                </a:gridCol>
                <a:gridCol w="2768600">
                  <a:extLst>
                    <a:ext uri="{9D8B030D-6E8A-4147-A177-3AD203B41FA5}">
                      <a16:colId xmlns:a16="http://schemas.microsoft.com/office/drawing/2014/main" val="1141491396"/>
                    </a:ext>
                  </a:extLst>
                </a:gridCol>
                <a:gridCol w="2768600">
                  <a:extLst>
                    <a:ext uri="{9D8B030D-6E8A-4147-A177-3AD203B41FA5}">
                      <a16:colId xmlns:a16="http://schemas.microsoft.com/office/drawing/2014/main" val="1694192568"/>
                    </a:ext>
                  </a:extLst>
                </a:gridCol>
                <a:gridCol w="2768600">
                  <a:extLst>
                    <a:ext uri="{9D8B030D-6E8A-4147-A177-3AD203B41FA5}">
                      <a16:colId xmlns:a16="http://schemas.microsoft.com/office/drawing/2014/main" val="1040794028"/>
                    </a:ext>
                  </a:extLst>
                </a:gridCol>
                <a:gridCol w="2768600">
                  <a:extLst>
                    <a:ext uri="{9D8B030D-6E8A-4147-A177-3AD203B41FA5}">
                      <a16:colId xmlns:a16="http://schemas.microsoft.com/office/drawing/2014/main" val="597315552"/>
                    </a:ext>
                  </a:extLst>
                </a:gridCol>
              </a:tblGrid>
              <a:tr h="382192">
                <a:tc>
                  <a:txBody>
                    <a:bodyPr/>
                    <a:lstStyle/>
                    <a:p>
                      <a:r>
                        <a:rPr lang="en-IN" sz="1800"/>
                        <a:t>Title of the Paper</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Author details and Journal / Conference publishing information</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Proposed method used in the paper</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Dataset used in the Paper</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Advantages of the proposed paper</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Research Gap Identified</a:t>
                      </a:r>
                      <a:endParaRPr lang="en-IN" sz="1800">
                        <a:latin typeface="Times New Roman" panose="02020603050405020304" pitchFamily="18" charset="0"/>
                        <a:cs typeface="Times New Roman" panose="02020603050405020304" pitchFamily="18" charset="0"/>
                      </a:endParaRPr>
                    </a:p>
                  </a:txBody>
                  <a:tcPr marL="20115" marR="20115" marT="10058" marB="10058" anchor="ctr"/>
                </a:tc>
                <a:extLst>
                  <a:ext uri="{0D108BD9-81ED-4DB2-BD59-A6C34878D82A}">
                    <a16:rowId xmlns:a16="http://schemas.microsoft.com/office/drawing/2014/main" val="1200375721"/>
                  </a:ext>
                </a:extLst>
              </a:tr>
              <a:tr h="744269">
                <a:tc>
                  <a:txBody>
                    <a:bodyPr/>
                    <a:lstStyle/>
                    <a:p>
                      <a:r>
                        <a:rPr lang="en-US" sz="1800"/>
                        <a:t>6. Automating Cloud Infrastructure Provisioning with Semantically-Enriched Large Language Models</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Research paper on LLM-based cloud provisioning</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Uses semantically enriched LLMs to generate and automate cloud infrastructure configurations.</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Cloud infrastructure configuration examples</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Reduces manual infrastructure configuration effort.</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Requires stronger validation, security, and deployment reliability.</a:t>
                      </a:r>
                      <a:endParaRPr lang="en-US" sz="1800">
                        <a:latin typeface="Times New Roman" panose="02020603050405020304" pitchFamily="18" charset="0"/>
                        <a:cs typeface="Times New Roman" panose="02020603050405020304" pitchFamily="18" charset="0"/>
                      </a:endParaRPr>
                    </a:p>
                  </a:txBody>
                  <a:tcPr marL="20115" marR="20115" marT="10058" marB="10058" anchor="ctr"/>
                </a:tc>
                <a:extLst>
                  <a:ext uri="{0D108BD9-81ED-4DB2-BD59-A6C34878D82A}">
                    <a16:rowId xmlns:a16="http://schemas.microsoft.com/office/drawing/2014/main" val="2992969131"/>
                  </a:ext>
                </a:extLst>
              </a:tr>
              <a:tr h="683923">
                <a:tc>
                  <a:txBody>
                    <a:bodyPr/>
                    <a:lstStyle/>
                    <a:p>
                      <a:r>
                        <a:rPr lang="en-US" sz="1800"/>
                        <a:t>7. Generative AI as an Infrastructure Copilot: Automating Infrastructure-as-Code Across the DevSecOps Lifecycle</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dirty="0"/>
                        <a:t>Research paper on </a:t>
                      </a:r>
                      <a:r>
                        <a:rPr lang="en-US" sz="1800" dirty="0" err="1"/>
                        <a:t>GenAI</a:t>
                      </a:r>
                      <a:r>
                        <a:rPr lang="en-US" sz="1800" dirty="0"/>
                        <a:t> and </a:t>
                      </a:r>
                      <a:r>
                        <a:rPr lang="en-US" sz="1800" dirty="0" err="1"/>
                        <a:t>DevSecOps</a:t>
                      </a:r>
                      <a:endParaRPr lang="en-US" sz="1800" dirty="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Uses Generative AI as an IaC assistant across development, security, and deployment stages.</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IaC/DevSecOps examples</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Supports automation throughout the DevSecOps lifecycle.</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Security, correctness, and long-term maintainability remain challenges.</a:t>
                      </a:r>
                      <a:endParaRPr lang="en-US" sz="1800">
                        <a:latin typeface="Times New Roman" panose="02020603050405020304" pitchFamily="18" charset="0"/>
                        <a:cs typeface="Times New Roman" panose="02020603050405020304" pitchFamily="18" charset="0"/>
                      </a:endParaRPr>
                    </a:p>
                  </a:txBody>
                  <a:tcPr marL="20115" marR="20115" marT="10058" marB="10058" anchor="ctr"/>
                </a:tc>
                <a:extLst>
                  <a:ext uri="{0D108BD9-81ED-4DB2-BD59-A6C34878D82A}">
                    <a16:rowId xmlns:a16="http://schemas.microsoft.com/office/drawing/2014/main" val="928403993"/>
                  </a:ext>
                </a:extLst>
              </a:tr>
              <a:tr h="864962">
                <a:tc>
                  <a:txBody>
                    <a:bodyPr/>
                    <a:lstStyle/>
                    <a:p>
                      <a:r>
                        <a:rPr lang="en-US" sz="1800" dirty="0"/>
                        <a:t>8. </a:t>
                      </a:r>
                      <a:r>
                        <a:rPr lang="en-US" sz="1800" dirty="0" err="1"/>
                        <a:t>Deployability</a:t>
                      </a:r>
                      <a:r>
                        <a:rPr lang="en-US" sz="1800" dirty="0"/>
                        <a:t>-Centric Infrastructure-as-Code Generation: Fail, Learn, Refine, and Succeed through LLM-Empowered DevOps Simulation</a:t>
                      </a:r>
                      <a:endParaRPr lang="en-US" sz="1800" dirty="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Tianyi Zhang, Shidong Pan, Zejun Zhang, Zhenchang Xing, Xiaoyu Sun — 2025</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Uses iterative generation, deployment testing, feedback, and refinement to improve IaC deployability.</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DPIaC-Eval: 153 CloudFormation templates covering about 60 AWS services</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Focuses on actual deployment success rather than syntax alone.</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Generated IaC still has limitations in requirement coverage and security compliance.</a:t>
                      </a:r>
                      <a:endParaRPr lang="en-US" sz="1800">
                        <a:latin typeface="Times New Roman" panose="02020603050405020304" pitchFamily="18" charset="0"/>
                        <a:cs typeface="Times New Roman" panose="02020603050405020304" pitchFamily="18" charset="0"/>
                      </a:endParaRPr>
                    </a:p>
                  </a:txBody>
                  <a:tcPr marL="20115" marR="20115" marT="10058" marB="10058" anchor="ctr"/>
                </a:tc>
                <a:extLst>
                  <a:ext uri="{0D108BD9-81ED-4DB2-BD59-A6C34878D82A}">
                    <a16:rowId xmlns:a16="http://schemas.microsoft.com/office/drawing/2014/main" val="4031347824"/>
                  </a:ext>
                </a:extLst>
              </a:tr>
              <a:tr h="744269">
                <a:tc>
                  <a:txBody>
                    <a:bodyPr/>
                    <a:lstStyle/>
                    <a:p>
                      <a:r>
                        <a:rPr lang="en-US" sz="1800"/>
                        <a:t>9. AI-Driven Cloud Operations: An Architectural Framework and Research Challenges</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dirty="0" err="1"/>
                        <a:t>Shraddhaben</a:t>
                      </a:r>
                      <a:r>
                        <a:rPr lang="en-IN" sz="1800" dirty="0"/>
                        <a:t> R. </a:t>
                      </a:r>
                      <a:r>
                        <a:rPr lang="en-IN" sz="1800" dirty="0" err="1"/>
                        <a:t>Gajjar</a:t>
                      </a:r>
                      <a:r>
                        <a:rPr lang="en-IN" sz="1800" dirty="0"/>
                        <a:t> — Future Generation Computer Systems</a:t>
                      </a:r>
                      <a:endParaRPr lang="en-IN" sz="1800" dirty="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Proposes a layered architecture connecting observability, context, reasoning, decision-making, automation, and feedback.</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Conceptual/reference architecture; no conventional dataset</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Provides a structured architecture for AI-driven cloud operations.</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Needs real-world deployment and evaluation of autonomous operations.</a:t>
                      </a:r>
                      <a:endParaRPr lang="en-US" sz="1800">
                        <a:latin typeface="Times New Roman" panose="02020603050405020304" pitchFamily="18" charset="0"/>
                        <a:cs typeface="Times New Roman" panose="02020603050405020304" pitchFamily="18" charset="0"/>
                      </a:endParaRPr>
                    </a:p>
                  </a:txBody>
                  <a:tcPr marL="20115" marR="20115" marT="10058" marB="10058" anchor="ctr"/>
                </a:tc>
                <a:extLst>
                  <a:ext uri="{0D108BD9-81ED-4DB2-BD59-A6C34878D82A}">
                    <a16:rowId xmlns:a16="http://schemas.microsoft.com/office/drawing/2014/main" val="965722232"/>
                  </a:ext>
                </a:extLst>
              </a:tr>
              <a:tr h="1106346">
                <a:tc>
                  <a:txBody>
                    <a:bodyPr/>
                    <a:lstStyle/>
                    <a:p>
                      <a:r>
                        <a:rPr lang="en-US" sz="1800"/>
                        <a:t>10. Generative AI for Infrastructure as Code and Cloud-Native DevOps: A Review of Kubernetes Automation, Terraform Generation, Policy Validation, and Configuration Reliability</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IN" sz="1800"/>
                        <a:t>Dhiraj Kumar — IJNRD, 2026</a:t>
                      </a:r>
                      <a:endParaRPr lang="en-IN"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Systematic review of GenAI applications in Kubernetes, Terraform, policy validation, and configuration reliability.</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Published research studies from the reviewed literature</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a:t>Provides a broad view of GenAI-based IaC and DevOps research.</a:t>
                      </a:r>
                      <a:endParaRPr lang="en-US" sz="1800">
                        <a:latin typeface="Times New Roman" panose="02020603050405020304" pitchFamily="18" charset="0"/>
                        <a:cs typeface="Times New Roman" panose="02020603050405020304" pitchFamily="18" charset="0"/>
                      </a:endParaRPr>
                    </a:p>
                  </a:txBody>
                  <a:tcPr marL="20115" marR="20115" marT="10058" marB="10058" anchor="ctr"/>
                </a:tc>
                <a:tc>
                  <a:txBody>
                    <a:bodyPr/>
                    <a:lstStyle/>
                    <a:p>
                      <a:r>
                        <a:rPr lang="en-US" sz="1800" dirty="0"/>
                        <a:t>Gaps remain in security, benchmarking, cost optimization, multi-cloud portability, and maintainability.</a:t>
                      </a:r>
                      <a:endParaRPr lang="en-US" sz="1800" dirty="0">
                        <a:latin typeface="Times New Roman" panose="02020603050405020304" pitchFamily="18" charset="0"/>
                        <a:cs typeface="Times New Roman" panose="02020603050405020304" pitchFamily="18" charset="0"/>
                      </a:endParaRPr>
                    </a:p>
                  </a:txBody>
                  <a:tcPr marL="20115" marR="20115" marT="10058" marB="10058" anchor="ctr"/>
                </a:tc>
                <a:extLst>
                  <a:ext uri="{0D108BD9-81ED-4DB2-BD59-A6C34878D82A}">
                    <a16:rowId xmlns:a16="http://schemas.microsoft.com/office/drawing/2014/main" val="3061542735"/>
                  </a:ext>
                </a:extLst>
              </a:tr>
            </a:tbl>
          </a:graphicData>
        </a:graphic>
      </p:graphicFrame>
    </p:spTree>
    <p:extLst>
      <p:ext uri="{BB962C8B-B14F-4D97-AF65-F5344CB8AC3E}">
        <p14:creationId xmlns:p14="http://schemas.microsoft.com/office/powerpoint/2010/main" val="33006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2.2 Critical Analysis of Literature:</a:t>
            </a:r>
            <a:endParaRPr lang="en-IN" dirty="0"/>
          </a:p>
        </p:txBody>
      </p:sp>
      <p:graphicFrame>
        <p:nvGraphicFramePr>
          <p:cNvPr id="5" name="Content Placeholder 4">
            <a:extLst>
              <a:ext uri="{FF2B5EF4-FFF2-40B4-BE49-F238E27FC236}">
                <a16:creationId xmlns:a16="http://schemas.microsoft.com/office/drawing/2014/main" id="{4A5BFEBF-98CD-4E4A-A886-3BE87837E21E}"/>
              </a:ext>
            </a:extLst>
          </p:cNvPr>
          <p:cNvGraphicFramePr>
            <a:graphicFrameLocks noGrp="1"/>
          </p:cNvGraphicFramePr>
          <p:nvPr>
            <p:ph idx="1"/>
            <p:extLst>
              <p:ext uri="{D42A27DB-BD31-4B8C-83A1-F6EECF244321}">
                <p14:modId xmlns:p14="http://schemas.microsoft.com/office/powerpoint/2010/main" val="4010878939"/>
              </p:ext>
            </p:extLst>
          </p:nvPr>
        </p:nvGraphicFramePr>
        <p:xfrm>
          <a:off x="609600" y="1600200"/>
          <a:ext cx="15773400" cy="8353596"/>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844818588"/>
                    </a:ext>
                  </a:extLst>
                </a:gridCol>
                <a:gridCol w="2628900">
                  <a:extLst>
                    <a:ext uri="{9D8B030D-6E8A-4147-A177-3AD203B41FA5}">
                      <a16:colId xmlns:a16="http://schemas.microsoft.com/office/drawing/2014/main" val="3310817499"/>
                    </a:ext>
                  </a:extLst>
                </a:gridCol>
                <a:gridCol w="2628900">
                  <a:extLst>
                    <a:ext uri="{9D8B030D-6E8A-4147-A177-3AD203B41FA5}">
                      <a16:colId xmlns:a16="http://schemas.microsoft.com/office/drawing/2014/main" val="1848194204"/>
                    </a:ext>
                  </a:extLst>
                </a:gridCol>
                <a:gridCol w="2628900">
                  <a:extLst>
                    <a:ext uri="{9D8B030D-6E8A-4147-A177-3AD203B41FA5}">
                      <a16:colId xmlns:a16="http://schemas.microsoft.com/office/drawing/2014/main" val="293277433"/>
                    </a:ext>
                  </a:extLst>
                </a:gridCol>
                <a:gridCol w="2628900">
                  <a:extLst>
                    <a:ext uri="{9D8B030D-6E8A-4147-A177-3AD203B41FA5}">
                      <a16:colId xmlns:a16="http://schemas.microsoft.com/office/drawing/2014/main" val="189355840"/>
                    </a:ext>
                  </a:extLst>
                </a:gridCol>
                <a:gridCol w="2628900">
                  <a:extLst>
                    <a:ext uri="{9D8B030D-6E8A-4147-A177-3AD203B41FA5}">
                      <a16:colId xmlns:a16="http://schemas.microsoft.com/office/drawing/2014/main" val="1192504528"/>
                    </a:ext>
                  </a:extLst>
                </a:gridCol>
              </a:tblGrid>
              <a:tr h="392663">
                <a:tc>
                  <a:txBody>
                    <a:bodyPr/>
                    <a:lstStyle/>
                    <a:p>
                      <a:r>
                        <a:rPr lang="en-IN" sz="1800"/>
                        <a:t>Title of the Paper</a:t>
                      </a:r>
                      <a:endParaRPr lang="en-IN"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Author details and Journal / Conference publishing information</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Proposed method used in the paper</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Dataset used in the Paper</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Advantages of the proposed paper</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IN" sz="1800"/>
                        <a:t>Research Gap Identified</a:t>
                      </a:r>
                      <a:endParaRPr lang="en-IN" sz="1800">
                        <a:latin typeface="Times New Roman" panose="02020603050405020304" pitchFamily="18" charset="0"/>
                        <a:cs typeface="Times New Roman" panose="02020603050405020304" pitchFamily="18" charset="0"/>
                      </a:endParaRPr>
                    </a:p>
                  </a:txBody>
                  <a:tcPr marL="20666" marR="20666" marT="10333" marB="10333" anchor="ctr"/>
                </a:tc>
                <a:extLst>
                  <a:ext uri="{0D108BD9-81ED-4DB2-BD59-A6C34878D82A}">
                    <a16:rowId xmlns:a16="http://schemas.microsoft.com/office/drawing/2014/main" val="289279830"/>
                  </a:ext>
                </a:extLst>
              </a:tr>
              <a:tr h="950659">
                <a:tc>
                  <a:txBody>
                    <a:bodyPr/>
                    <a:lstStyle/>
                    <a:p>
                      <a:r>
                        <a:rPr lang="en-IN" sz="1800"/>
                        <a:t>11. Automatic Root Cause Analysis via Large Language Models for Cloud Incidents</a:t>
                      </a:r>
                      <a:endParaRPr lang="en-IN"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da-DK" sz="1800"/>
                        <a:t>Yinfang Chen et al. — EuroSys ’24, ACM, 2024.</a:t>
                      </a:r>
                      <a:endParaRPr lang="da-DK"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RCACopilot uses incident handlers and an LLM to collect diagnostic data, identify root-cause categories, and generate explanations.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One year of real-world production incidents from Microsoft.</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Automates RCA and reduces manual investigation effort.</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Performance decreases for unseen root causes; depends on incident handlers and troubleshooting knowledge.</a:t>
                      </a:r>
                      <a:endParaRPr lang="en-US" sz="1800">
                        <a:latin typeface="Times New Roman" panose="02020603050405020304" pitchFamily="18" charset="0"/>
                        <a:cs typeface="Times New Roman" panose="02020603050405020304" pitchFamily="18" charset="0"/>
                      </a:endParaRPr>
                    </a:p>
                  </a:txBody>
                  <a:tcPr marL="20666" marR="20666" marT="10333" marB="10333" anchor="ctr"/>
                </a:tc>
                <a:extLst>
                  <a:ext uri="{0D108BD9-81ED-4DB2-BD59-A6C34878D82A}">
                    <a16:rowId xmlns:a16="http://schemas.microsoft.com/office/drawing/2014/main" val="2701399877"/>
                  </a:ext>
                </a:extLst>
              </a:tr>
              <a:tr h="640661">
                <a:tc>
                  <a:txBody>
                    <a:bodyPr/>
                    <a:lstStyle/>
                    <a:p>
                      <a:r>
                        <a:rPr lang="en-US" sz="1800"/>
                        <a:t>12. Security-First Evaluation of Text-to-Terraform: Benchmarking LLMs and SLMs for Secure IaC Generation</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s-ES" sz="1800"/>
                        <a:t>F. L. Santos Vargas et al. — arXiv, 2026.</a:t>
                      </a:r>
                      <a:endParaRPr lang="es-E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Evaluates LLMs/SLMs for Terraform generation using Checkov and Trivy security scanning.</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IN" sz="1800"/>
                        <a:t>17 curated AWS Terraform generation scenarios.</a:t>
                      </a:r>
                      <a:endParaRPr lang="en-IN"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Evaluates both Terraform validity and security compliance.</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Small scenario set; prompt engineering alone does not ensure secure IaC.</a:t>
                      </a:r>
                      <a:endParaRPr lang="en-US" sz="1800">
                        <a:latin typeface="Times New Roman" panose="02020603050405020304" pitchFamily="18" charset="0"/>
                        <a:cs typeface="Times New Roman" panose="02020603050405020304" pitchFamily="18" charset="0"/>
                      </a:endParaRPr>
                    </a:p>
                  </a:txBody>
                  <a:tcPr marL="20666" marR="20666" marT="10333" marB="10333" anchor="ctr"/>
                </a:tc>
                <a:extLst>
                  <a:ext uri="{0D108BD9-81ED-4DB2-BD59-A6C34878D82A}">
                    <a16:rowId xmlns:a16="http://schemas.microsoft.com/office/drawing/2014/main" val="359611409"/>
                  </a:ext>
                </a:extLst>
              </a:tr>
              <a:tr h="826660">
                <a:tc>
                  <a:txBody>
                    <a:bodyPr/>
                    <a:lstStyle/>
                    <a:p>
                      <a:r>
                        <a:rPr lang="en-US" sz="1800"/>
                        <a:t>13. Cloud Infrastructure Management in the Age of AI Agents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nb-NO" sz="1800" dirty="0"/>
                        <a:t>Zhenning Yang et al. — arXiv:2506.12270, 2025.</a:t>
                      </a:r>
                      <a:endParaRPr lang="nb-NO" sz="1800" dirty="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Explores LLM-based AI agents using SDKs, CLIs, IaC platforms, and cloud interfaces for infrastructure management.</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IN" sz="1800"/>
                        <a:t>Preliminary cloud-management task evaluations.</a:t>
                      </a:r>
                      <a:endParaRPr lang="en-IN"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Shows potential for automating repetitive cloud-management tasks.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Safety, reliability, scalability, and long-horizon autonomous operations require further research.</a:t>
                      </a:r>
                      <a:endParaRPr lang="en-US" sz="1800">
                        <a:latin typeface="Times New Roman" panose="02020603050405020304" pitchFamily="18" charset="0"/>
                        <a:cs typeface="Times New Roman" panose="02020603050405020304" pitchFamily="18" charset="0"/>
                      </a:endParaRPr>
                    </a:p>
                  </a:txBody>
                  <a:tcPr marL="20666" marR="20666" marT="10333" marB="10333" anchor="ctr"/>
                </a:tc>
                <a:extLst>
                  <a:ext uri="{0D108BD9-81ED-4DB2-BD59-A6C34878D82A}">
                    <a16:rowId xmlns:a16="http://schemas.microsoft.com/office/drawing/2014/main" val="2673711608"/>
                  </a:ext>
                </a:extLst>
              </a:tr>
              <a:tr h="1136657">
                <a:tc>
                  <a:txBody>
                    <a:bodyPr/>
                    <a:lstStyle/>
                    <a:p>
                      <a:r>
                        <a:rPr lang="en-US" sz="1800"/>
                        <a:t>14. AIOpsLab: A Holistic Framework for Evaluating AI Agents for Enabling Autonomous Cloud</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IN" sz="1800"/>
                        <a:t>Chen et al. — 2024.</a:t>
                      </a:r>
                      <a:endParaRPr lang="en-IN"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Provides a framework for evaluating AI agents on cloud incident detection, diagnosis, and resolution tasks.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Cloud incident scenarios and benchmark tasks.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Enables systematic evaluation of autonomous cloud agents.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More realistic environments and broader autonomous operations are needed. The framework uses workloads, fault injection, observability and agent-cloud interaction.</a:t>
                      </a:r>
                      <a:endParaRPr lang="en-US" sz="1800">
                        <a:latin typeface="Times New Roman" panose="02020603050405020304" pitchFamily="18" charset="0"/>
                        <a:cs typeface="Times New Roman" panose="02020603050405020304" pitchFamily="18" charset="0"/>
                      </a:endParaRPr>
                    </a:p>
                  </a:txBody>
                  <a:tcPr marL="20666" marR="20666" marT="10333" marB="10333" anchor="ctr"/>
                </a:tc>
                <a:extLst>
                  <a:ext uri="{0D108BD9-81ED-4DB2-BD59-A6C34878D82A}">
                    <a16:rowId xmlns:a16="http://schemas.microsoft.com/office/drawing/2014/main" val="1154446069"/>
                  </a:ext>
                </a:extLst>
              </a:tr>
              <a:tr h="578662">
                <a:tc>
                  <a:txBody>
                    <a:bodyPr/>
                    <a:lstStyle/>
                    <a:p>
                      <a:r>
                        <a:rPr lang="en-US" sz="1800"/>
                        <a:t>15. An Architecture for Model-Based and Intelligent Automation in DevOps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Research paper on intelligent DevOps automation.</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Uses model-based approaches and intelligent automation to support DevOps processes.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Not specified in the paper.</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a:t>Supports automation and integration of intelligent decision-making in DevOps.</a:t>
                      </a:r>
                      <a:endParaRPr lang="en-US" sz="1800">
                        <a:latin typeface="Times New Roman" panose="02020603050405020304" pitchFamily="18" charset="0"/>
                        <a:cs typeface="Times New Roman" panose="02020603050405020304" pitchFamily="18" charset="0"/>
                      </a:endParaRPr>
                    </a:p>
                  </a:txBody>
                  <a:tcPr marL="20666" marR="20666" marT="10333" marB="10333" anchor="ctr"/>
                </a:tc>
                <a:tc>
                  <a:txBody>
                    <a:bodyPr/>
                    <a:lstStyle/>
                    <a:p>
                      <a:r>
                        <a:rPr lang="en-US" sz="1800" dirty="0"/>
                        <a:t>Limited integration of modern LLM-based autonomous cloud operations.</a:t>
                      </a:r>
                      <a:endParaRPr lang="en-US" sz="1800" dirty="0">
                        <a:latin typeface="Times New Roman" panose="02020603050405020304" pitchFamily="18" charset="0"/>
                        <a:cs typeface="Times New Roman" panose="02020603050405020304" pitchFamily="18" charset="0"/>
                      </a:endParaRPr>
                    </a:p>
                  </a:txBody>
                  <a:tcPr marL="20666" marR="20666" marT="10333" marB="10333" anchor="ctr"/>
                </a:tc>
                <a:extLst>
                  <a:ext uri="{0D108BD9-81ED-4DB2-BD59-A6C34878D82A}">
                    <a16:rowId xmlns:a16="http://schemas.microsoft.com/office/drawing/2014/main" val="1251394731"/>
                  </a:ext>
                </a:extLst>
              </a:tr>
            </a:tbl>
          </a:graphicData>
        </a:graphic>
      </p:graphicFrame>
    </p:spTree>
    <p:extLst>
      <p:ext uri="{BB962C8B-B14F-4D97-AF65-F5344CB8AC3E}">
        <p14:creationId xmlns:p14="http://schemas.microsoft.com/office/powerpoint/2010/main" val="3672737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2.2 Critical Analysis of Literature:</a:t>
            </a:r>
            <a:endParaRPr lang="en-IN" dirty="0"/>
          </a:p>
        </p:txBody>
      </p:sp>
      <p:graphicFrame>
        <p:nvGraphicFramePr>
          <p:cNvPr id="6" name="Content Placeholder 5">
            <a:extLst>
              <a:ext uri="{FF2B5EF4-FFF2-40B4-BE49-F238E27FC236}">
                <a16:creationId xmlns:a16="http://schemas.microsoft.com/office/drawing/2014/main" id="{170F60DF-D111-4712-91CE-751AB56B0DA4}"/>
              </a:ext>
            </a:extLst>
          </p:cNvPr>
          <p:cNvGraphicFramePr>
            <a:graphicFrameLocks noGrp="1"/>
          </p:cNvGraphicFramePr>
          <p:nvPr>
            <p:ph idx="1"/>
            <p:extLst>
              <p:ext uri="{D42A27DB-BD31-4B8C-83A1-F6EECF244321}">
                <p14:modId xmlns:p14="http://schemas.microsoft.com/office/powerpoint/2010/main" val="3734099734"/>
              </p:ext>
            </p:extLst>
          </p:nvPr>
        </p:nvGraphicFramePr>
        <p:xfrm>
          <a:off x="457200" y="1600200"/>
          <a:ext cx="17297400" cy="8286573"/>
        </p:xfrm>
        <a:graphic>
          <a:graphicData uri="http://schemas.openxmlformats.org/drawingml/2006/table">
            <a:tbl>
              <a:tblPr firstRow="1" bandRow="1">
                <a:tableStyleId>{5C22544A-7EE6-4342-B048-85BDC9FD1C3A}</a:tableStyleId>
              </a:tblPr>
              <a:tblGrid>
                <a:gridCol w="2882900">
                  <a:extLst>
                    <a:ext uri="{9D8B030D-6E8A-4147-A177-3AD203B41FA5}">
                      <a16:colId xmlns:a16="http://schemas.microsoft.com/office/drawing/2014/main" val="2587254827"/>
                    </a:ext>
                  </a:extLst>
                </a:gridCol>
                <a:gridCol w="2882900">
                  <a:extLst>
                    <a:ext uri="{9D8B030D-6E8A-4147-A177-3AD203B41FA5}">
                      <a16:colId xmlns:a16="http://schemas.microsoft.com/office/drawing/2014/main" val="4188271698"/>
                    </a:ext>
                  </a:extLst>
                </a:gridCol>
                <a:gridCol w="2882900">
                  <a:extLst>
                    <a:ext uri="{9D8B030D-6E8A-4147-A177-3AD203B41FA5}">
                      <a16:colId xmlns:a16="http://schemas.microsoft.com/office/drawing/2014/main" val="4059047953"/>
                    </a:ext>
                  </a:extLst>
                </a:gridCol>
                <a:gridCol w="2882900">
                  <a:extLst>
                    <a:ext uri="{9D8B030D-6E8A-4147-A177-3AD203B41FA5}">
                      <a16:colId xmlns:a16="http://schemas.microsoft.com/office/drawing/2014/main" val="389080351"/>
                    </a:ext>
                  </a:extLst>
                </a:gridCol>
                <a:gridCol w="2882900">
                  <a:extLst>
                    <a:ext uri="{9D8B030D-6E8A-4147-A177-3AD203B41FA5}">
                      <a16:colId xmlns:a16="http://schemas.microsoft.com/office/drawing/2014/main" val="3150190618"/>
                    </a:ext>
                  </a:extLst>
                </a:gridCol>
                <a:gridCol w="2882900">
                  <a:extLst>
                    <a:ext uri="{9D8B030D-6E8A-4147-A177-3AD203B41FA5}">
                      <a16:colId xmlns:a16="http://schemas.microsoft.com/office/drawing/2014/main" val="3169725632"/>
                    </a:ext>
                  </a:extLst>
                </a:gridCol>
              </a:tblGrid>
              <a:tr h="700656">
                <a:tc>
                  <a:txBody>
                    <a:bodyPr/>
                    <a:lstStyle/>
                    <a:p>
                      <a:r>
                        <a:rPr lang="en-IN" sz="1800"/>
                        <a:t>Title of the Paper</a:t>
                      </a:r>
                      <a:endParaRPr lang="en-IN"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Author details and Journal / Conference publishing information</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Proposed method used in the paper</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Dataset used in the Paper</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Advantages of the proposed paper</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IN" sz="1800"/>
                        <a:t>Research Gap Identified</a:t>
                      </a:r>
                      <a:endParaRPr lang="en-IN" sz="1800">
                        <a:latin typeface="Times New Roman" panose="02020603050405020304" pitchFamily="18" charset="0"/>
                        <a:cs typeface="Times New Roman" panose="02020603050405020304" pitchFamily="18" charset="0"/>
                      </a:endParaRPr>
                    </a:p>
                  </a:txBody>
                  <a:tcPr marL="20761" marR="20761" marT="10381" marB="10381" anchor="ctr"/>
                </a:tc>
                <a:extLst>
                  <a:ext uri="{0D108BD9-81ED-4DB2-BD59-A6C34878D82A}">
                    <a16:rowId xmlns:a16="http://schemas.microsoft.com/office/drawing/2014/main" val="3536745846"/>
                  </a:ext>
                </a:extLst>
              </a:tr>
              <a:tr h="1917583">
                <a:tc>
                  <a:txBody>
                    <a:bodyPr/>
                    <a:lstStyle/>
                    <a:p>
                      <a:r>
                        <a:rPr lang="en-US" sz="1800"/>
                        <a:t>16. Building AI Agents for Autonomous Clouds: Challenges and Design Principles</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IN" sz="1800"/>
                        <a:t>Manish Shetty et al. — ACM Symposium on Cloud Computing (SoCC ’24), 2024. Authors include researchers from Microsoft, UC Berkeley, UIUC, IISc and other institutions.</a:t>
                      </a:r>
                      <a:endParaRPr lang="en-IN"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Proposes AIOpsLab, combining workload generation, fault injection, observability and an agent-cloud interface to evaluate AI agents for cloud operations.</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Cloud applications such as SocialNetwork, with workloads and injected faults; telemetry includes logs, metrics and traces.</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Provides a modular and standardized environment for building and evaluating autonomous cloud agents.</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Existing AIOps approaches lack standardized metrics, realistic workloads and integrated evaluation frameworks.</a:t>
                      </a:r>
                      <a:endParaRPr lang="en-US" sz="1800">
                        <a:latin typeface="Times New Roman" panose="02020603050405020304" pitchFamily="18" charset="0"/>
                        <a:cs typeface="Times New Roman" panose="02020603050405020304" pitchFamily="18" charset="0"/>
                      </a:endParaRPr>
                    </a:p>
                  </a:txBody>
                  <a:tcPr marL="20761" marR="20761" marT="10381" marB="10381" anchor="ctr"/>
                </a:tc>
                <a:extLst>
                  <a:ext uri="{0D108BD9-81ED-4DB2-BD59-A6C34878D82A}">
                    <a16:rowId xmlns:a16="http://schemas.microsoft.com/office/drawing/2014/main" val="1716953002"/>
                  </a:ext>
                </a:extLst>
              </a:tr>
              <a:tr h="1585694">
                <a:tc>
                  <a:txBody>
                    <a:bodyPr/>
                    <a:lstStyle/>
                    <a:p>
                      <a:r>
                        <a:rPr lang="en-US" sz="1800"/>
                        <a:t>17. Autonomous Cloud Operations: The Role of AI-Driven DevOps in Self-Healing Infrastructure</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nn-NO" sz="1800"/>
                        <a:t>Venkata M. Kancherla — IJERET, Vol. 4, Issue 1, 2023, pp. 66–76.</a:t>
                      </a:r>
                      <a:endParaRPr lang="nn-NO"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dirty="0"/>
                        <a:t>Uses AI-driven DevOps, predictive analytics, anomaly detection, automation and self-healing mechanisms for cloud infrastructure.</a:t>
                      </a:r>
                      <a:endParaRPr lang="en-US" sz="1800" dirty="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Cloud operational data and historical performance data are discussed; specific dataset is not clearly specified.</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Reduces manual effort, supports predictive failure detection, resource optimization and continuous learning.</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Data quality, integration complexity, security, privacy, trust and transparency remain challenges.</a:t>
                      </a:r>
                      <a:endParaRPr lang="en-US" sz="1800">
                        <a:latin typeface="Times New Roman" panose="02020603050405020304" pitchFamily="18" charset="0"/>
                        <a:cs typeface="Times New Roman" panose="02020603050405020304" pitchFamily="18" charset="0"/>
                      </a:endParaRPr>
                    </a:p>
                  </a:txBody>
                  <a:tcPr marL="20761" marR="20761" marT="10381" marB="10381" anchor="ctr"/>
                </a:tc>
                <a:extLst>
                  <a:ext uri="{0D108BD9-81ED-4DB2-BD59-A6C34878D82A}">
                    <a16:rowId xmlns:a16="http://schemas.microsoft.com/office/drawing/2014/main" val="3834960338"/>
                  </a:ext>
                </a:extLst>
              </a:tr>
              <a:tr h="2249473">
                <a:tc>
                  <a:txBody>
                    <a:bodyPr/>
                    <a:lstStyle/>
                    <a:p>
                      <a:r>
                        <a:rPr lang="en-US" sz="1800"/>
                        <a:t>18. An on-premise cloud-native AIOps infrastructure system with workload</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da-DK" sz="1800"/>
                        <a:t>S. Zhang, D. Fan, Y. Liu et al. — SoftwareX 34 (2026) 102622, Elsevier.</a:t>
                      </a:r>
                      <a:endParaRPr lang="da-DK"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Develops an on-premise cloud-native AIOps system with real-time monitoring and a lightweight Transformer-based workload forecasting model using feature-wise normalization and a combined loss function.</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Kubernetes monitoring data including CPU, memory, network and disk usage at multiple temporal resolutions.</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Provides secure on-premise monitoring, scalable metric collection and proactive workload forecasting.</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Existing AIOps systems face high cost, integration complexity, limited customization and workload-prediction limitations.</a:t>
                      </a:r>
                      <a:endParaRPr lang="en-US" sz="1800">
                        <a:latin typeface="Times New Roman" panose="02020603050405020304" pitchFamily="18" charset="0"/>
                        <a:cs typeface="Times New Roman" panose="02020603050405020304" pitchFamily="18" charset="0"/>
                      </a:endParaRPr>
                    </a:p>
                  </a:txBody>
                  <a:tcPr marL="20761" marR="20761" marT="10381" marB="10381" anchor="ctr"/>
                </a:tc>
                <a:extLst>
                  <a:ext uri="{0D108BD9-81ED-4DB2-BD59-A6C34878D82A}">
                    <a16:rowId xmlns:a16="http://schemas.microsoft.com/office/drawing/2014/main" val="1233429275"/>
                  </a:ext>
                </a:extLst>
              </a:tr>
              <a:tr h="1585694">
                <a:tc>
                  <a:txBody>
                    <a:bodyPr/>
                    <a:lstStyle/>
                    <a:p>
                      <a:r>
                        <a:rPr lang="en-US" sz="1800"/>
                        <a:t>19. Autonomous Multi-Agent AIOps Framework for Cloud-Native DevOps</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Peeyush Kumar — Kuwait Journal of Advanced Computer Technology, Vol. 4, Issue 1, 2026.</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Combines multiple AI/ML models and agents for failure prediction, anomaly detection, root-cause analysis and automated remediation.</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IN" sz="1800"/>
                        <a:t>Jenkins/GitHub Actions pipeline logs, Kubernetes event logs and synthetic anomaly datasets for resource spikes, pod failures and build errors.</a:t>
                      </a:r>
                      <a:endParaRPr lang="en-IN"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a:t>Enables earlier failure detection, automatic recovery, reduced false alerts and a self-healing DevOps workflow.</a:t>
                      </a:r>
                      <a:endParaRPr lang="en-US" sz="1800">
                        <a:latin typeface="Times New Roman" panose="02020603050405020304" pitchFamily="18" charset="0"/>
                        <a:cs typeface="Times New Roman" panose="02020603050405020304" pitchFamily="18" charset="0"/>
                      </a:endParaRPr>
                    </a:p>
                  </a:txBody>
                  <a:tcPr marL="20761" marR="20761" marT="10381" marB="10381" anchor="ctr"/>
                </a:tc>
                <a:tc>
                  <a:txBody>
                    <a:bodyPr/>
                    <a:lstStyle/>
                    <a:p>
                      <a:r>
                        <a:rPr lang="en-US" sz="1800" dirty="0"/>
                        <a:t>Further work is needed on LLM-powered RCA, reinforcement learning and large-scale real-world deployments.</a:t>
                      </a:r>
                      <a:endParaRPr lang="en-US" sz="1800" dirty="0">
                        <a:latin typeface="Times New Roman" panose="02020603050405020304" pitchFamily="18" charset="0"/>
                        <a:cs typeface="Times New Roman" panose="02020603050405020304" pitchFamily="18" charset="0"/>
                      </a:endParaRPr>
                    </a:p>
                  </a:txBody>
                  <a:tcPr marL="20761" marR="20761" marT="10381" marB="10381" anchor="ctr"/>
                </a:tc>
                <a:extLst>
                  <a:ext uri="{0D108BD9-81ED-4DB2-BD59-A6C34878D82A}">
                    <a16:rowId xmlns:a16="http://schemas.microsoft.com/office/drawing/2014/main" val="822255391"/>
                  </a:ext>
                </a:extLst>
              </a:tr>
            </a:tbl>
          </a:graphicData>
        </a:graphic>
      </p:graphicFrame>
    </p:spTree>
    <p:extLst>
      <p:ext uri="{BB962C8B-B14F-4D97-AF65-F5344CB8AC3E}">
        <p14:creationId xmlns:p14="http://schemas.microsoft.com/office/powerpoint/2010/main" val="3094071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43147-CBE2-6AE7-B9A5-4516FF78DE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7767D8-7234-4FF6-7F15-B374069189B1}"/>
              </a:ext>
            </a:extLst>
          </p:cNvPr>
          <p:cNvSpPr/>
          <p:nvPr/>
        </p:nvSpPr>
        <p:spPr>
          <a:xfrm>
            <a:off x="0" y="-2650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DFA34D3B-4A1D-6E7B-F780-1D3D4CA712E3}"/>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79D943AF-14A3-8AE8-A89D-B5AA7223B3D8}"/>
              </a:ext>
            </a:extLst>
          </p:cNvPr>
          <p:cNvSpPr txBox="1"/>
          <p:nvPr/>
        </p:nvSpPr>
        <p:spPr>
          <a:xfrm>
            <a:off x="-838200" y="48951"/>
            <a:ext cx="15523886" cy="1471878"/>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latin typeface="Open Sauce Bold"/>
                <a:ea typeface="Open Sauce Bold"/>
                <a:cs typeface="Open Sauce Bold"/>
              </a:rPr>
              <a:t>Chapter 3 – Approach / Design Methodology</a:t>
            </a:r>
            <a:br>
              <a:rPr lang="en-US" sz="4250" b="1" dirty="0">
                <a:solidFill>
                  <a:srgbClr val="000000"/>
                </a:solidFill>
                <a:latin typeface="Open Sauce Bold"/>
                <a:ea typeface="Open Sauce Bold"/>
                <a:cs typeface="Open Sauce Bold"/>
              </a:rPr>
            </a:br>
            <a:r>
              <a:rPr lang="en-US" sz="4250" b="1" dirty="0">
                <a:solidFill>
                  <a:srgbClr val="000000"/>
                </a:solidFill>
                <a:latin typeface="Open Sauce Bold"/>
                <a:ea typeface="Open Sauce Bold"/>
                <a:cs typeface="Open Sauce Bold"/>
              </a:rPr>
              <a:t>3.1  Overview of Phase –I Work and Outcomes</a:t>
            </a:r>
          </a:p>
        </p:txBody>
      </p:sp>
      <p:sp>
        <p:nvSpPr>
          <p:cNvPr id="7" name="TextBox 6">
            <a:extLst>
              <a:ext uri="{FF2B5EF4-FFF2-40B4-BE49-F238E27FC236}">
                <a16:creationId xmlns:a16="http://schemas.microsoft.com/office/drawing/2014/main" id="{9C8E3000-AE7C-42ED-8F74-3EFCDB39E326}"/>
              </a:ext>
            </a:extLst>
          </p:cNvPr>
          <p:cNvSpPr txBox="1"/>
          <p:nvPr/>
        </p:nvSpPr>
        <p:spPr>
          <a:xfrm>
            <a:off x="1066800" y="1598029"/>
            <a:ext cx="16154400" cy="6986528"/>
          </a:xfrm>
          <a:prstGeom prst="rect">
            <a:avLst/>
          </a:prstGeom>
          <a:noFill/>
        </p:spPr>
        <p:txBody>
          <a:bodyPr wrap="square" rtlCol="0">
            <a:spAutoFit/>
          </a:bodyPr>
          <a:lstStyle/>
          <a:p>
            <a:pPr algn="just"/>
            <a:r>
              <a:rPr lang="en-IN" sz="3200" b="1" dirty="0">
                <a:latin typeface="Times New Roman" panose="02020603050405020304" pitchFamily="18" charset="0"/>
                <a:cs typeface="Times New Roman" panose="02020603050405020304" pitchFamily="18" charset="0"/>
              </a:rPr>
              <a:t>Objective 1 – Codebase-Based Decision Making</a:t>
            </a:r>
          </a:p>
          <a:p>
            <a:pPr marL="342900"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Developed an </a:t>
            </a:r>
            <a:r>
              <a:rPr lang="en-IN" sz="3200" b="1" dirty="0">
                <a:latin typeface="Times New Roman" panose="02020603050405020304" pitchFamily="18" charset="0"/>
                <a:cs typeface="Times New Roman" panose="02020603050405020304" pitchFamily="18" charset="0"/>
              </a:rPr>
              <a:t>automated static </a:t>
            </a:r>
            <a:r>
              <a:rPr lang="en-IN" sz="3200" b="1" dirty="0" err="1">
                <a:latin typeface="Times New Roman" panose="02020603050405020304" pitchFamily="18" charset="0"/>
                <a:cs typeface="Times New Roman" panose="02020603050405020304" pitchFamily="18" charset="0"/>
              </a:rPr>
              <a:t>analyzer</a:t>
            </a:r>
            <a:r>
              <a:rPr lang="en-IN" sz="3200" dirty="0">
                <a:latin typeface="Times New Roman" panose="02020603050405020304" pitchFamily="18" charset="0"/>
                <a:cs typeface="Times New Roman" panose="02020603050405020304" pitchFamily="18" charset="0"/>
              </a:rPr>
              <a:t> for Python, JavaScript/TypeScript, Java, and Go. </a:t>
            </a:r>
          </a:p>
          <a:p>
            <a:pPr marL="342900"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Extracted </a:t>
            </a:r>
            <a:r>
              <a:rPr lang="en-IN" sz="3200" b="1" dirty="0">
                <a:latin typeface="Times New Roman" panose="02020603050405020304" pitchFamily="18" charset="0"/>
                <a:cs typeface="Times New Roman" panose="02020603050405020304" pitchFamily="18" charset="0"/>
              </a:rPr>
              <a:t>languages, frameworks, dependencies, routes, and </a:t>
            </a:r>
            <a:r>
              <a:rPr lang="en-IN" sz="3200" b="1" dirty="0" err="1">
                <a:latin typeface="Times New Roman" panose="02020603050405020304" pitchFamily="18" charset="0"/>
                <a:cs typeface="Times New Roman" panose="02020603050405020304" pitchFamily="18" charset="0"/>
              </a:rPr>
              <a:t>Dockerfile</a:t>
            </a:r>
            <a:r>
              <a:rPr lang="en-IN" sz="3200" b="1" dirty="0">
                <a:latin typeface="Times New Roman" panose="02020603050405020304" pitchFamily="18" charset="0"/>
                <a:cs typeface="Times New Roman" panose="02020603050405020304" pitchFamily="18" charset="0"/>
              </a:rPr>
              <a:t> parameters</a:t>
            </a:r>
            <a:r>
              <a:rPr lang="en-IN" sz="32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Trained </a:t>
            </a:r>
            <a:r>
              <a:rPr lang="en-IN" sz="3200" b="1" dirty="0">
                <a:latin typeface="Times New Roman" panose="02020603050405020304" pitchFamily="18" charset="0"/>
                <a:cs typeface="Times New Roman" panose="02020603050405020304" pitchFamily="18" charset="0"/>
              </a:rPr>
              <a:t>3 Random Forest ML models</a:t>
            </a:r>
            <a:r>
              <a:rPr lang="en-IN" sz="3200" dirty="0">
                <a:latin typeface="Times New Roman" panose="02020603050405020304" pitchFamily="18" charset="0"/>
                <a:cs typeface="Times New Roman" panose="02020603050405020304" pitchFamily="18" charset="0"/>
              </a:rPr>
              <a:t> using </a:t>
            </a:r>
            <a:r>
              <a:rPr lang="en-IN" sz="3200" b="1" dirty="0">
                <a:latin typeface="Times New Roman" panose="02020603050405020304" pitchFamily="18" charset="0"/>
                <a:cs typeface="Times New Roman" panose="02020603050405020304" pitchFamily="18" charset="0"/>
              </a:rPr>
              <a:t>1,600 software repository profiles</a:t>
            </a:r>
            <a:r>
              <a:rPr lang="en-IN" sz="3200" dirty="0">
                <a:latin typeface="Times New Roman" panose="02020603050405020304" pitchFamily="18" charset="0"/>
                <a:cs typeface="Times New Roman" panose="02020603050405020304" pitchFamily="18" charset="0"/>
              </a:rPr>
              <a:t> to predict: </a:t>
            </a:r>
          </a:p>
          <a:p>
            <a:pPr marL="800100" lvl="1"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Deployment patterns </a:t>
            </a:r>
          </a:p>
          <a:p>
            <a:pPr marL="800100" lvl="1"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Cloud provider (</a:t>
            </a:r>
            <a:r>
              <a:rPr lang="en-IN" sz="3200" b="1" dirty="0">
                <a:latin typeface="Times New Roman" panose="02020603050405020304" pitchFamily="18" charset="0"/>
                <a:cs typeface="Times New Roman" panose="02020603050405020304" pitchFamily="18" charset="0"/>
              </a:rPr>
              <a:t>AWS / GCP</a:t>
            </a:r>
            <a:r>
              <a:rPr lang="en-IN" sz="3200" dirty="0">
                <a:latin typeface="Times New Roman" panose="02020603050405020304" pitchFamily="18" charset="0"/>
                <a:cs typeface="Times New Roman" panose="02020603050405020304" pitchFamily="18" charset="0"/>
              </a:rPr>
              <a:t>) </a:t>
            </a:r>
          </a:p>
          <a:p>
            <a:pPr marL="800100" lvl="1"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Compute services </a:t>
            </a:r>
          </a:p>
          <a:p>
            <a:pPr marL="342900"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Developed </a:t>
            </a:r>
            <a:r>
              <a:rPr lang="en-IN" sz="3200" b="1" dirty="0">
                <a:latin typeface="Times New Roman" panose="02020603050405020304" pitchFamily="18" charset="0"/>
                <a:cs typeface="Times New Roman" panose="02020603050405020304" pitchFamily="18" charset="0"/>
              </a:rPr>
              <a:t>monthly cloud-cost estimation</a:t>
            </a:r>
            <a:r>
              <a:rPr lang="en-IN" sz="3200" dirty="0">
                <a:latin typeface="Times New Roman" panose="02020603050405020304" pitchFamily="18" charset="0"/>
                <a:cs typeface="Times New Roman" panose="02020603050405020304" pitchFamily="18" charset="0"/>
              </a:rPr>
              <a:t> for comparison. </a:t>
            </a:r>
          </a:p>
          <a:p>
            <a:pPr marL="342900" indent="-3429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Added </a:t>
            </a:r>
            <a:r>
              <a:rPr lang="en-IN" sz="3200" b="1" dirty="0" err="1">
                <a:latin typeface="Times New Roman" panose="02020603050405020304" pitchFamily="18" charset="0"/>
                <a:cs typeface="Times New Roman" panose="02020603050405020304" pitchFamily="18" charset="0"/>
              </a:rPr>
              <a:t>DevSecOps</a:t>
            </a:r>
            <a:r>
              <a:rPr lang="en-IN" sz="3200" b="1" dirty="0">
                <a:latin typeface="Times New Roman" panose="02020603050405020304" pitchFamily="18" charset="0"/>
                <a:cs typeface="Times New Roman" panose="02020603050405020304" pitchFamily="18" charset="0"/>
              </a:rPr>
              <a:t> policy validation</a:t>
            </a:r>
            <a:r>
              <a:rPr lang="en-IN" sz="3200" dirty="0">
                <a:latin typeface="Times New Roman" panose="02020603050405020304" pitchFamily="18" charset="0"/>
                <a:cs typeface="Times New Roman" panose="02020603050405020304" pitchFamily="18" charset="0"/>
              </a:rPr>
              <a:t> for VPC isolation and secret detection.</a:t>
            </a:r>
          </a:p>
          <a:p>
            <a:r>
              <a:rPr lang="en-US" sz="3200" b="1" dirty="0"/>
              <a:t>Outcome:</a:t>
            </a:r>
          </a:p>
          <a:p>
            <a:r>
              <a:rPr lang="en-US" sz="3200" b="1" dirty="0"/>
              <a:t>Automated Code Analysis → ML-Based Cloud Recommendation → Cost Comparison → Security Validation</a:t>
            </a:r>
          </a:p>
          <a:p>
            <a:endParaRPr lang="en-IN" sz="3200"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4786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31ED-F360-347C-BB7E-0B23ED967ED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13E455-23A8-DB02-7449-CCE8D8A049E1}"/>
              </a:ext>
            </a:extLst>
          </p:cNvPr>
          <p:cNvSpPr/>
          <p:nvPr/>
        </p:nvSpPr>
        <p:spPr>
          <a:xfrm>
            <a:off x="0" y="1905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BB77E29-A9B9-0F33-58A4-2B7223148439}"/>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9D92AC2B-6D06-1D12-01AB-0B9C4FA16A99}"/>
              </a:ext>
            </a:extLst>
          </p:cNvPr>
          <p:cNvSpPr txBox="1"/>
          <p:nvPr/>
        </p:nvSpPr>
        <p:spPr>
          <a:xfrm>
            <a:off x="-838200" y="48951"/>
            <a:ext cx="15523886" cy="1471878"/>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latin typeface="Open Sauce Bold"/>
                <a:ea typeface="Open Sauce Bold"/>
                <a:cs typeface="Open Sauce Bold"/>
              </a:rPr>
              <a:t>Chapter 3 – Approach / Design Methodology</a:t>
            </a:r>
            <a:br>
              <a:rPr lang="en-US" sz="4250" b="1" dirty="0">
                <a:solidFill>
                  <a:srgbClr val="000000"/>
                </a:solidFill>
                <a:latin typeface="Open Sauce Bold"/>
                <a:ea typeface="Open Sauce Bold"/>
                <a:cs typeface="Open Sauce Bold"/>
              </a:rPr>
            </a:br>
            <a:r>
              <a:rPr lang="en-US" sz="4250" b="1" dirty="0">
                <a:solidFill>
                  <a:srgbClr val="000000"/>
                </a:solidFill>
                <a:latin typeface="Open Sauce Bold"/>
                <a:ea typeface="Open Sauce Bold"/>
                <a:cs typeface="Open Sauce Bold"/>
              </a:rPr>
              <a:t>3.1  Overview of Phase –I Work and Outcomes</a:t>
            </a:r>
          </a:p>
        </p:txBody>
      </p:sp>
      <p:sp>
        <p:nvSpPr>
          <p:cNvPr id="7" name="TextBox 6">
            <a:extLst>
              <a:ext uri="{FF2B5EF4-FFF2-40B4-BE49-F238E27FC236}">
                <a16:creationId xmlns:a16="http://schemas.microsoft.com/office/drawing/2014/main" id="{01286319-E428-125B-75FA-3B1769535320}"/>
              </a:ext>
            </a:extLst>
          </p:cNvPr>
          <p:cNvSpPr txBox="1"/>
          <p:nvPr/>
        </p:nvSpPr>
        <p:spPr>
          <a:xfrm>
            <a:off x="723900" y="1943100"/>
            <a:ext cx="16154400" cy="6986528"/>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Objective 2 – Context-Aware Application Q&amp;A</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 a </a:t>
            </a:r>
            <a:r>
              <a:rPr lang="en-US" sz="2800" b="1" dirty="0">
                <a:latin typeface="Times New Roman" panose="02020603050405020304" pitchFamily="18" charset="0"/>
                <a:cs typeface="Times New Roman" panose="02020603050405020304" pitchFamily="18" charset="0"/>
              </a:rPr>
              <a:t>context-aware AI assistant</a:t>
            </a:r>
            <a:r>
              <a:rPr lang="en-US" sz="2800" dirty="0">
                <a:latin typeface="Times New Roman" panose="02020603050405020304" pitchFamily="18" charset="0"/>
                <a:cs typeface="Times New Roman" panose="02020603050405020304" pitchFamily="18" charset="0"/>
              </a:rPr>
              <a:t> to answer questions about the application codebase.</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Create a </a:t>
            </a:r>
            <a:r>
              <a:rPr lang="en-US" sz="2800" b="1" dirty="0">
                <a:latin typeface="Times New Roman" panose="02020603050405020304" pitchFamily="18" charset="0"/>
                <a:cs typeface="Times New Roman" panose="02020603050405020304" pitchFamily="18" charset="0"/>
              </a:rPr>
              <a:t>dense semantic vector store</a:t>
            </a:r>
            <a:r>
              <a:rPr lang="en-US" sz="2800" dirty="0">
                <a:latin typeface="Times New Roman" panose="02020603050405020304" pitchFamily="18" charset="0"/>
                <a:cs typeface="Times New Roman" panose="02020603050405020304" pitchFamily="18" charset="0"/>
              </a:rPr>
              <a:t> using:</a:t>
            </a:r>
          </a:p>
          <a:p>
            <a:pPr marL="800100" lvl="1" indent="-3429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384-dimensional embeddings</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Ingest and store:</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Chunked source code</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Decision summaries</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AWS technical documentation</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GCP technical documentation</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Generate </a:t>
            </a:r>
            <a:r>
              <a:rPr lang="en-IN" sz="2800" b="1" dirty="0">
                <a:latin typeface="Times New Roman" panose="02020603050405020304" pitchFamily="18" charset="0"/>
                <a:cs typeface="Times New Roman" panose="02020603050405020304" pitchFamily="18" charset="0"/>
              </a:rPr>
              <a:t>5–7 automated diagnostic questions</a:t>
            </a:r>
            <a:r>
              <a:rPr lang="en-IN" sz="2800" dirty="0">
                <a:latin typeface="Times New Roman" panose="02020603050405020304" pitchFamily="18" charset="0"/>
                <a:cs typeface="Times New Roman" panose="02020603050405020304" pitchFamily="18" charset="0"/>
              </a:rPr>
              <a:t> for each codebase.</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Provide </a:t>
            </a:r>
            <a:r>
              <a:rPr lang="en-IN" sz="2800" b="1" dirty="0">
                <a:latin typeface="Times New Roman" panose="02020603050405020304" pitchFamily="18" charset="0"/>
                <a:cs typeface="Times New Roman" panose="02020603050405020304" pitchFamily="18" charset="0"/>
              </a:rPr>
              <a:t>citation-grounded answers</a:t>
            </a:r>
            <a:r>
              <a:rPr lang="en-IN" sz="2800" dirty="0">
                <a:latin typeface="Times New Roman" panose="02020603050405020304" pitchFamily="18" charset="0"/>
                <a:cs typeface="Times New Roman" panose="02020603050405020304" pitchFamily="18" charset="0"/>
              </a:rPr>
              <a:t> based on the retrieved application context.</a:t>
            </a:r>
          </a:p>
          <a:p>
            <a:pPr marL="342900" indent="-3429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Answers include </a:t>
            </a:r>
            <a:r>
              <a:rPr lang="en-IN" sz="2800" b="1" dirty="0">
                <a:latin typeface="Times New Roman" panose="02020603050405020304" pitchFamily="18" charset="0"/>
                <a:cs typeface="Times New Roman" panose="02020603050405020304" pitchFamily="18" charset="0"/>
              </a:rPr>
              <a:t>exact file names and line numbers</a:t>
            </a:r>
            <a:r>
              <a:rPr lang="en-IN" sz="2800" dirty="0">
                <a:latin typeface="Times New Roman" panose="02020603050405020304" pitchFamily="18" charset="0"/>
                <a:cs typeface="Times New Roman" panose="02020603050405020304" pitchFamily="18" charset="0"/>
              </a:rPr>
              <a:t> for better traceability and verification.</a:t>
            </a:r>
          </a:p>
          <a:p>
            <a:pPr algn="just"/>
            <a:r>
              <a:rPr lang="en-IN" sz="2800" b="1" dirty="0">
                <a:latin typeface="Times New Roman" panose="02020603050405020304" pitchFamily="18" charset="0"/>
                <a:cs typeface="Times New Roman" panose="02020603050405020304" pitchFamily="18" charset="0"/>
              </a:rPr>
              <a:t>Outcome:</a:t>
            </a:r>
          </a:p>
          <a:p>
            <a:pPr algn="just"/>
            <a:r>
              <a:rPr lang="en-IN" sz="2800" b="1" dirty="0">
                <a:latin typeface="Times New Roman" panose="02020603050405020304" pitchFamily="18" charset="0"/>
                <a:cs typeface="Times New Roman" panose="02020603050405020304" pitchFamily="18" charset="0"/>
              </a:rPr>
              <a:t>Codebase → Semantic Embeddings → Vector Store → Context Retrieval → Citation-Grounded AI Answers</a:t>
            </a:r>
            <a:endParaRPr lang="en-IN" sz="2800" dirty="0">
              <a:latin typeface="Times New Roman" panose="02020603050405020304" pitchFamily="18" charset="0"/>
              <a:cs typeface="Times New Roman" panose="02020603050405020304" pitchFamily="18" charset="0"/>
            </a:endParaRP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455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490F-0F4B-7B42-1549-3465D984AE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CB1017-AC1B-9E6A-9848-FC8739E9CB7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p:spPr>
        <p:txBody>
          <a:bodyPr lIns="91440" tIns="45720" rIns="91440" bIns="45720"/>
          <a:lstStyle/>
          <a:p>
            <a:endParaRPr lang="en-IN">
              <a:ea typeface="Calibri"/>
              <a:cs typeface="Calibri"/>
            </a:endParaRPr>
          </a:p>
        </p:txBody>
      </p:sp>
      <p:sp>
        <p:nvSpPr>
          <p:cNvPr id="3" name="Freeform 3">
            <a:extLst>
              <a:ext uri="{FF2B5EF4-FFF2-40B4-BE49-F238E27FC236}">
                <a16:creationId xmlns:a16="http://schemas.microsoft.com/office/drawing/2014/main" id="{57C1C3C7-C68C-FE31-6E13-445F83C15460}"/>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4"/>
            <a:stretch>
              <a:fillRect/>
            </a:stretch>
          </a:blipFill>
        </p:spPr>
        <p:txBody>
          <a:bodyPr/>
          <a:lstStyle/>
          <a:p>
            <a:endParaRPr lang="en-IN"/>
          </a:p>
        </p:txBody>
      </p:sp>
      <p:sp>
        <p:nvSpPr>
          <p:cNvPr id="4" name="TextBox 4">
            <a:extLst>
              <a:ext uri="{FF2B5EF4-FFF2-40B4-BE49-F238E27FC236}">
                <a16:creationId xmlns:a16="http://schemas.microsoft.com/office/drawing/2014/main" id="{A8AF5826-C2EE-A4F1-C1B5-A3BCA962E26C}"/>
              </a:ext>
            </a:extLst>
          </p:cNvPr>
          <p:cNvSpPr txBox="1"/>
          <p:nvPr/>
        </p:nvSpPr>
        <p:spPr>
          <a:xfrm>
            <a:off x="-843156"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dirty="0">
                <a:ea typeface="+mn-lt"/>
                <a:cs typeface="+mn-lt"/>
              </a:rPr>
              <a:t>3.2</a:t>
            </a:r>
            <a:r>
              <a:rPr lang="en-US" sz="4250" dirty="0">
                <a:ea typeface="+mn-lt"/>
                <a:cs typeface="+mn-lt"/>
              </a:rPr>
              <a:t>  </a:t>
            </a:r>
            <a:r>
              <a:rPr lang="en-US" sz="4250" b="1" dirty="0">
                <a:ea typeface="+mn-lt"/>
                <a:cs typeface="+mn-lt"/>
              </a:rPr>
              <a:t>Refinement of Problem and Objectives based on Feedback</a:t>
            </a:r>
            <a:endParaRPr lang="en-US" sz="4250" b="1" dirty="0">
              <a:solidFill>
                <a:srgbClr val="000000"/>
              </a:solidFill>
              <a:latin typeface="Open Sauce Bold"/>
              <a:ea typeface="Open Sauce Bold"/>
              <a:cs typeface="Open Sauce Bold"/>
            </a:endParaRPr>
          </a:p>
        </p:txBody>
      </p:sp>
      <p:sp>
        <p:nvSpPr>
          <p:cNvPr id="9" name="Rectangle 3">
            <a:extLst>
              <a:ext uri="{FF2B5EF4-FFF2-40B4-BE49-F238E27FC236}">
                <a16:creationId xmlns:a16="http://schemas.microsoft.com/office/drawing/2014/main" id="{8368C3C0-A1C0-4F04-A9D7-EFBAF42F544C}"/>
              </a:ext>
            </a:extLst>
          </p:cNvPr>
          <p:cNvSpPr>
            <a:spLocks noChangeArrowheads="1"/>
          </p:cNvSpPr>
          <p:nvPr/>
        </p:nvSpPr>
        <p:spPr bwMode="auto">
          <a:xfrm>
            <a:off x="813848" y="1793960"/>
            <a:ext cx="14910490" cy="7879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Initial Concept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Use </a:t>
            </a:r>
            <a:r>
              <a:rPr kumimoji="0" lang="en-US" altLang="en-US" sz="2200" b="1" i="0" u="none" strike="noStrike" cap="none" normalizeH="0" baseline="0" dirty="0">
                <a:ln>
                  <a:noFill/>
                </a:ln>
                <a:solidFill>
                  <a:schemeClr val="tx1"/>
                </a:solidFill>
                <a:effectLst/>
                <a:latin typeface="Arial" panose="020B0604020202020204" pitchFamily="34" charset="0"/>
              </a:rPr>
              <a:t>direct natural-language prompting</a:t>
            </a:r>
            <a:r>
              <a:rPr kumimoji="0" lang="en-US" altLang="en-US" sz="2200" b="0" i="0" u="none" strike="noStrike" cap="none" normalizeH="0" baseline="0" dirty="0">
                <a:ln>
                  <a:noFill/>
                </a:ln>
                <a:solidFill>
                  <a:schemeClr val="tx1"/>
                </a:solidFill>
                <a:effectLst/>
                <a:latin typeface="Arial" panose="020B0604020202020204" pitchFamily="34" charset="0"/>
              </a:rPr>
              <a:t> with LLMs to generate Terraform configurations.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Review Feedback &amp; Literature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err="1">
                <a:ln>
                  <a:noFill/>
                </a:ln>
                <a:solidFill>
                  <a:schemeClr val="tx1"/>
                </a:solidFill>
                <a:effectLst/>
                <a:latin typeface="Arial" panose="020B0604020202020204" pitchFamily="34" charset="0"/>
              </a:rPr>
              <a:t>Deployability</a:t>
            </a:r>
            <a:r>
              <a:rPr kumimoji="0" lang="en-US" altLang="en-US" sz="2200" b="1" i="0" u="none" strike="noStrike" cap="none" normalizeH="0" baseline="0" dirty="0">
                <a:ln>
                  <a:noFill/>
                </a:ln>
                <a:solidFill>
                  <a:schemeClr val="tx1"/>
                </a:solidFill>
                <a:effectLst/>
                <a:latin typeface="Arial" panose="020B0604020202020204" pitchFamily="34" charset="0"/>
              </a:rPr>
              <a:t> Gap:</a:t>
            </a:r>
            <a:r>
              <a:rPr kumimoji="0" lang="en-US" altLang="en-US" sz="2200" b="0" i="0" u="none" strike="noStrike" cap="none" normalizeH="0" baseline="0" dirty="0">
                <a:ln>
                  <a:noFill/>
                </a:ln>
                <a:solidFill>
                  <a:schemeClr val="tx1"/>
                </a:solidFill>
                <a:effectLst/>
                <a:latin typeface="Arial" panose="020B0604020202020204" pitchFamily="34" charset="0"/>
              </a:rPr>
              <a:t> Pure LLM-generated infrastructure showed limited first-attempt deployment success, highlighting the need for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Security Gap:</a:t>
            </a:r>
            <a:r>
              <a:rPr kumimoji="0" lang="en-US" altLang="en-US" sz="2200" b="0" i="0" u="none" strike="noStrike" cap="none" normalizeH="0" baseline="0" dirty="0">
                <a:ln>
                  <a:noFill/>
                </a:ln>
                <a:solidFill>
                  <a:schemeClr val="tx1"/>
                </a:solidFill>
                <a:effectLst/>
                <a:latin typeface="Arial" panose="020B0604020202020204" pitchFamily="34" charset="0"/>
              </a:rPr>
              <a:t> Syntax-valid Terraform does not guarantee </a:t>
            </a:r>
            <a:r>
              <a:rPr kumimoji="0" lang="en-US" altLang="en-US" sz="2200" b="1" i="0" u="none" strike="noStrike" cap="none" normalizeH="0" baseline="0" dirty="0">
                <a:ln>
                  <a:noFill/>
                </a:ln>
                <a:solidFill>
                  <a:schemeClr val="tx1"/>
                </a:solidFill>
                <a:effectLst/>
                <a:latin typeface="Arial" panose="020B0604020202020204" pitchFamily="34" charset="0"/>
              </a:rPr>
              <a:t>security compliance</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Hallucination Gap:</a:t>
            </a:r>
            <a:r>
              <a:rPr kumimoji="0" lang="en-US" altLang="en-US" sz="2200" b="0" i="0" u="none" strike="noStrike" cap="none" normalizeH="0" baseline="0" dirty="0">
                <a:ln>
                  <a:noFill/>
                </a:ln>
                <a:solidFill>
                  <a:schemeClr val="tx1"/>
                </a:solidFill>
                <a:effectLst/>
                <a:latin typeface="Arial" panose="020B0604020202020204" pitchFamily="34" charset="0"/>
              </a:rPr>
              <a:t> LLMs may generate </a:t>
            </a:r>
            <a:r>
              <a:rPr kumimoji="0" lang="en-US" altLang="en-US" sz="2200" b="1" i="0" u="none" strike="noStrike" cap="none" normalizeH="0" baseline="0" dirty="0">
                <a:ln>
                  <a:noFill/>
                </a:ln>
                <a:solidFill>
                  <a:schemeClr val="tx1"/>
                </a:solidFill>
                <a:effectLst/>
                <a:latin typeface="Arial" panose="020B0604020202020204" pitchFamily="34" charset="0"/>
              </a:rPr>
              <a:t>non-existent cloud SKUs/services</a:t>
            </a:r>
            <a:r>
              <a:rPr kumimoji="0" lang="en-US" altLang="en-US" sz="2200" b="0" i="0" u="none" strike="noStrike" cap="none" normalizeH="0" baseline="0" dirty="0">
                <a:ln>
                  <a:noFill/>
                </a:ln>
                <a:solidFill>
                  <a:schemeClr val="tx1"/>
                </a:solidFill>
                <a:effectLst/>
                <a:latin typeface="Arial" panose="020B0604020202020204" pitchFamily="34" charset="0"/>
              </a:rPr>
              <a:t>; semantic grounding improves 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Scope Realism:</a:t>
            </a:r>
            <a:r>
              <a:rPr kumimoji="0" lang="en-US" altLang="en-US" sz="2200" b="0" i="0" u="none" strike="noStrike" cap="none" normalizeH="0" baseline="0" dirty="0">
                <a:ln>
                  <a:noFill/>
                </a:ln>
                <a:solidFill>
                  <a:schemeClr val="tx1"/>
                </a:solidFill>
                <a:effectLst/>
                <a:latin typeface="Arial" panose="020B0604020202020204" pitchFamily="34" charset="0"/>
              </a:rPr>
              <a:t> The study was focused on comparing </a:t>
            </a:r>
            <a:r>
              <a:rPr kumimoji="0" lang="en-US" altLang="en-US" sz="2200" b="1" i="0" u="none" strike="noStrike" cap="none" normalizeH="0" baseline="0" dirty="0">
                <a:ln>
                  <a:noFill/>
                </a:ln>
                <a:solidFill>
                  <a:schemeClr val="tx1"/>
                </a:solidFill>
                <a:effectLst/>
                <a:latin typeface="Arial" panose="020B0604020202020204" pitchFamily="34" charset="0"/>
              </a:rPr>
              <a:t>AWS and GCP</a:t>
            </a:r>
            <a:r>
              <a:rPr kumimoji="0" lang="en-US" altLang="en-US" sz="2200" b="0" i="0" u="none" strike="noStrike" cap="none" normalizeH="0" baseline="0" dirty="0">
                <a:ln>
                  <a:noFill/>
                </a:ln>
                <a:solidFill>
                  <a:schemeClr val="tx1"/>
                </a:solidFill>
                <a:effectLst/>
                <a:latin typeface="Arial" panose="020B0604020202020204" pitchFamily="34" charset="0"/>
              </a:rPr>
              <a:t> as two major cloud platforms.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Refined Objectives for Phase-I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Objective 1 – Codebase-Driven Decision Making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Use </a:t>
            </a:r>
            <a:r>
              <a:rPr kumimoji="0" lang="en-US" altLang="en-US" sz="2200" b="1" i="0" u="none" strike="noStrike" cap="none" normalizeH="0" baseline="0" dirty="0">
                <a:ln>
                  <a:noFill/>
                </a:ln>
                <a:solidFill>
                  <a:schemeClr val="tx1"/>
                </a:solidFill>
                <a:effectLst/>
                <a:latin typeface="Arial" panose="020B0604020202020204" pitchFamily="34" charset="0"/>
              </a:rPr>
              <a:t>supervised ML</a:t>
            </a:r>
            <a:r>
              <a:rPr kumimoji="0" lang="en-US" altLang="en-US" sz="2200" b="0" i="0" u="none" strike="noStrike" cap="none" normalizeH="0" baseline="0" dirty="0">
                <a:ln>
                  <a:noFill/>
                </a:ln>
                <a:solidFill>
                  <a:schemeClr val="tx1"/>
                </a:solidFill>
                <a:effectLst/>
                <a:latin typeface="Arial" panose="020B0604020202020204" pitchFamily="34" charset="0"/>
              </a:rPr>
              <a:t> for deployment and cloud-service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Apply </a:t>
            </a:r>
            <a:r>
              <a:rPr kumimoji="0" lang="en-US" altLang="en-US" sz="2200" b="1" i="0" u="none" strike="noStrike" cap="none" normalizeH="0" baseline="0" dirty="0">
                <a:ln>
                  <a:noFill/>
                </a:ln>
                <a:solidFill>
                  <a:schemeClr val="tx1"/>
                </a:solidFill>
                <a:effectLst/>
                <a:latin typeface="Arial" panose="020B0604020202020204" pitchFamily="34" charset="0"/>
              </a:rPr>
              <a:t>deterministic </a:t>
            </a:r>
            <a:r>
              <a:rPr kumimoji="0" lang="en-US" altLang="en-US" sz="2200" b="1" i="0" u="none" strike="noStrike" cap="none" normalizeH="0" baseline="0" dirty="0" err="1">
                <a:ln>
                  <a:noFill/>
                </a:ln>
                <a:solidFill>
                  <a:schemeClr val="tx1"/>
                </a:solidFill>
                <a:effectLst/>
                <a:latin typeface="Arial" panose="020B0604020202020204" pitchFamily="34" charset="0"/>
              </a:rPr>
              <a:t>DevSecOps</a:t>
            </a:r>
            <a:r>
              <a:rPr kumimoji="0" lang="en-US" altLang="en-US" sz="2200" b="1" i="0" u="none" strike="noStrike" cap="none" normalizeH="0" baseline="0" dirty="0">
                <a:ln>
                  <a:noFill/>
                </a:ln>
                <a:solidFill>
                  <a:schemeClr val="tx1"/>
                </a:solidFill>
                <a:effectLst/>
                <a:latin typeface="Arial" panose="020B0604020202020204" pitchFamily="34" charset="0"/>
              </a:rPr>
              <a:t> validation gates</a:t>
            </a:r>
            <a:r>
              <a:rPr kumimoji="0" lang="en-US" altLang="en-US" sz="2200" b="0" i="0" u="none" strike="noStrike" cap="none" normalizeH="0" baseline="0" dirty="0">
                <a:ln>
                  <a:noFill/>
                </a:ln>
                <a:solidFill>
                  <a:schemeClr val="tx1"/>
                </a:solidFill>
                <a:effectLst/>
                <a:latin typeface="Arial" panose="020B0604020202020204" pitchFamily="34" charset="0"/>
              </a:rPr>
              <a:t> for security and compliance.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Objective 2 – Context-Aware RAG Q&amp;A</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Use </a:t>
            </a:r>
            <a:r>
              <a:rPr kumimoji="0" lang="en-US" altLang="en-US" sz="2200" b="1" i="0" u="none" strike="noStrike" cap="none" normalizeH="0" baseline="0" dirty="0">
                <a:ln>
                  <a:noFill/>
                </a:ln>
                <a:solidFill>
                  <a:schemeClr val="tx1"/>
                </a:solidFill>
                <a:effectLst/>
                <a:latin typeface="Arial" panose="020B0604020202020204" pitchFamily="34" charset="0"/>
              </a:rPr>
              <a:t>RAG</a:t>
            </a:r>
            <a:r>
              <a:rPr kumimoji="0" lang="en-US" altLang="en-US" sz="2200" b="0" i="0" u="none" strike="noStrike" cap="none" normalizeH="0" baseline="0" dirty="0">
                <a:ln>
                  <a:noFill/>
                </a:ln>
                <a:solidFill>
                  <a:schemeClr val="tx1"/>
                </a:solidFill>
                <a:effectLst/>
                <a:latin typeface="Arial" panose="020B0604020202020204" pitchFamily="34" charset="0"/>
              </a:rPr>
              <a:t> to provide context-aware answers.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Provide </a:t>
            </a:r>
            <a:r>
              <a:rPr kumimoji="0" lang="en-US" altLang="en-US" sz="2200" b="1" i="0" u="none" strike="noStrike" cap="none" normalizeH="0" baseline="0" dirty="0">
                <a:ln>
                  <a:noFill/>
                </a:ln>
                <a:solidFill>
                  <a:schemeClr val="tx1"/>
                </a:solidFill>
                <a:effectLst/>
                <a:latin typeface="Arial" panose="020B0604020202020204" pitchFamily="34" charset="0"/>
              </a:rPr>
              <a:t>verifiable, citation-grounded explanations</a:t>
            </a:r>
            <a:r>
              <a:rPr kumimoji="0" lang="en-US" altLang="en-US" sz="2200" b="0" i="0" u="none" strike="noStrike" cap="none" normalizeH="0" baseline="0" dirty="0">
                <a:ln>
                  <a:noFill/>
                </a:ln>
                <a:solidFill>
                  <a:schemeClr val="tx1"/>
                </a:solidFill>
                <a:effectLst/>
                <a:latin typeface="Arial" panose="020B0604020202020204" pitchFamily="34" charset="0"/>
              </a:rPr>
              <a:t> from the application codebase.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Key Refinement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Direct LLM Terraform Generation → Codebase Analysis + ML Decision Making + </a:t>
            </a:r>
            <a:r>
              <a:rPr kumimoji="0" lang="en-US" altLang="en-US" sz="2200" b="1" i="0" u="none" strike="noStrike" cap="none" normalizeH="0" baseline="0" dirty="0" err="1">
                <a:ln>
                  <a:noFill/>
                </a:ln>
                <a:solidFill>
                  <a:schemeClr val="tx1"/>
                </a:solidFill>
                <a:effectLst/>
                <a:latin typeface="Arial" panose="020B0604020202020204" pitchFamily="34" charset="0"/>
              </a:rPr>
              <a:t>DevSecOps</a:t>
            </a:r>
            <a:r>
              <a:rPr kumimoji="0" lang="en-US" altLang="en-US" sz="2200" b="1" i="0" u="none" strike="noStrike" cap="none" normalizeH="0" baseline="0" dirty="0">
                <a:ln>
                  <a:noFill/>
                </a:ln>
                <a:solidFill>
                  <a:schemeClr val="tx1"/>
                </a:solidFill>
                <a:effectLst/>
                <a:latin typeface="Arial" panose="020B0604020202020204" pitchFamily="34" charset="0"/>
              </a:rPr>
              <a:t> Validation + RAG-Based Assistance</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4874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8897B-6761-7A40-44F6-0EBAECA19B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D53B1D-7B40-9E8A-D17D-5D3F282411B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78394EDC-10FF-0EC1-AD84-2020A85F71A7}"/>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D89F221D-0D66-0A3F-00FE-DE730CB1D260}"/>
              </a:ext>
            </a:extLst>
          </p:cNvPr>
          <p:cNvSpPr txBox="1"/>
          <p:nvPr/>
        </p:nvSpPr>
        <p:spPr>
          <a:xfrm>
            <a:off x="322373" y="413846"/>
            <a:ext cx="13397574" cy="716991"/>
          </a:xfrm>
          <a:prstGeom prst="rect">
            <a:avLst/>
          </a:prstGeom>
        </p:spPr>
        <p:txBody>
          <a:bodyPr wrap="square" lIns="0" tIns="0" rIns="0" bIns="0" rtlCol="0" anchor="t">
            <a:spAutoFit/>
          </a:bodyPr>
          <a:lstStyle/>
          <a:p>
            <a:pPr algn="ctr">
              <a:lnSpc>
                <a:spcPts val="6008"/>
              </a:lnSpc>
              <a:spcBef>
                <a:spcPct val="0"/>
              </a:spcBef>
            </a:pPr>
            <a:r>
              <a:rPr lang="en-US" sz="4250" b="1" dirty="0">
                <a:solidFill>
                  <a:srgbClr val="000000"/>
                </a:solidFill>
                <a:ea typeface="+mn-lt"/>
                <a:cs typeface="+mn-lt"/>
              </a:rPr>
              <a:t>3.3</a:t>
            </a:r>
            <a:r>
              <a:rPr lang="en-US" sz="4250" dirty="0">
                <a:solidFill>
                  <a:srgbClr val="000000"/>
                </a:solidFill>
                <a:ea typeface="+mn-lt"/>
                <a:cs typeface="+mn-lt"/>
              </a:rPr>
              <a:t>  </a:t>
            </a:r>
            <a:r>
              <a:rPr lang="en-US" sz="4250" b="1" dirty="0">
                <a:solidFill>
                  <a:srgbClr val="000000"/>
                </a:solidFill>
                <a:ea typeface="+mn-lt"/>
                <a:cs typeface="+mn-lt"/>
              </a:rPr>
              <a:t>Selection of Approach / Methodology (Architecture):</a:t>
            </a:r>
            <a:endParaRPr lang="en-US" dirty="0"/>
          </a:p>
        </p:txBody>
      </p:sp>
      <p:pic>
        <p:nvPicPr>
          <p:cNvPr id="9" name="Picture 8">
            <a:extLst>
              <a:ext uri="{FF2B5EF4-FFF2-40B4-BE49-F238E27FC236}">
                <a16:creationId xmlns:a16="http://schemas.microsoft.com/office/drawing/2014/main" id="{B4394141-4BEF-4631-A7B7-D133BB8D37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908" y="1185365"/>
            <a:ext cx="12136092" cy="2650710"/>
          </a:xfrm>
          <a:prstGeom prst="rect">
            <a:avLst/>
          </a:prstGeom>
        </p:spPr>
      </p:pic>
      <p:pic>
        <p:nvPicPr>
          <p:cNvPr id="11" name="Picture 10">
            <a:extLst>
              <a:ext uri="{FF2B5EF4-FFF2-40B4-BE49-F238E27FC236}">
                <a16:creationId xmlns:a16="http://schemas.microsoft.com/office/drawing/2014/main" id="{E86FE94B-EB78-4CD5-9532-AB978068BDA3}"/>
              </a:ext>
            </a:extLst>
          </p:cNvPr>
          <p:cNvPicPr>
            <a:picLocks noChangeAspect="1"/>
          </p:cNvPicPr>
          <p:nvPr/>
        </p:nvPicPr>
        <p:blipFill rotWithShape="1">
          <a:blip r:embed="rId5">
            <a:extLst>
              <a:ext uri="{28A0092B-C50C-407E-A947-70E740481C1C}">
                <a14:useLocalDpi xmlns:a14="http://schemas.microsoft.com/office/drawing/2010/main" val="0"/>
              </a:ext>
            </a:extLst>
          </a:blip>
          <a:srcRect l="-379" r="1738"/>
          <a:stretch/>
        </p:blipFill>
        <p:spPr>
          <a:xfrm>
            <a:off x="914400" y="3836075"/>
            <a:ext cx="12039599" cy="6184225"/>
          </a:xfrm>
          <a:prstGeom prst="rect">
            <a:avLst/>
          </a:prstGeom>
        </p:spPr>
      </p:pic>
    </p:spTree>
    <p:extLst>
      <p:ext uri="{BB962C8B-B14F-4D97-AF65-F5344CB8AC3E}">
        <p14:creationId xmlns:p14="http://schemas.microsoft.com/office/powerpoint/2010/main" val="4149001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AEED5-2ABB-AB58-D609-0A9B77C36C3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048E8F-F5B1-94EA-172C-C65670269C5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534602F-45F4-7949-6FB3-18F1000094A6}"/>
              </a:ext>
            </a:extLst>
          </p:cNvPr>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017F7577-801D-CB14-42B6-70999EC41071}"/>
              </a:ext>
            </a:extLst>
          </p:cNvPr>
          <p:cNvSpPr txBox="1"/>
          <p:nvPr/>
        </p:nvSpPr>
        <p:spPr>
          <a:xfrm>
            <a:off x="548848" y="214257"/>
            <a:ext cx="14386351" cy="726033"/>
          </a:xfrm>
          <a:prstGeom prst="rect">
            <a:avLst/>
          </a:prstGeom>
        </p:spPr>
        <p:txBody>
          <a:bodyPr wrap="square" lIns="0" tIns="0" rIns="0" bIns="0" rtlCol="0" anchor="t">
            <a:spAutoFit/>
          </a:bodyPr>
          <a:lstStyle/>
          <a:p>
            <a:pPr algn="ctr">
              <a:lnSpc>
                <a:spcPts val="6008"/>
              </a:lnSpc>
              <a:spcBef>
                <a:spcPct val="0"/>
              </a:spcBef>
            </a:pPr>
            <a:r>
              <a:rPr lang="en-US" sz="4400" b="1" dirty="0">
                <a:solidFill>
                  <a:srgbClr val="000000"/>
                </a:solidFill>
                <a:ea typeface="+mn-lt"/>
                <a:cs typeface="+mn-lt"/>
              </a:rPr>
              <a:t>3.3</a:t>
            </a:r>
            <a:r>
              <a:rPr lang="en-US" sz="4400" dirty="0">
                <a:solidFill>
                  <a:srgbClr val="000000"/>
                </a:solidFill>
                <a:ea typeface="+mn-lt"/>
                <a:cs typeface="+mn-lt"/>
              </a:rPr>
              <a:t>  </a:t>
            </a:r>
            <a:r>
              <a:rPr lang="en-US" sz="4400" b="1" dirty="0">
                <a:solidFill>
                  <a:srgbClr val="000000"/>
                </a:solidFill>
                <a:ea typeface="+mn-lt"/>
                <a:cs typeface="+mn-lt"/>
              </a:rPr>
              <a:t>Selection of Approach / Methodology (</a:t>
            </a:r>
            <a:r>
              <a:rPr lang="en-US" sz="4400" b="1" dirty="0" err="1">
                <a:solidFill>
                  <a:srgbClr val="000000"/>
                </a:solidFill>
                <a:ea typeface="+mn-lt"/>
                <a:cs typeface="+mn-lt"/>
              </a:rPr>
              <a:t>Architechture</a:t>
            </a:r>
            <a:r>
              <a:rPr lang="en-US" sz="4400" b="1" dirty="0">
                <a:solidFill>
                  <a:srgbClr val="000000"/>
                </a:solidFill>
                <a:ea typeface="+mn-lt"/>
                <a:cs typeface="+mn-lt"/>
              </a:rPr>
              <a:t>):</a:t>
            </a:r>
            <a:endParaRPr lang="en-US" sz="4400" dirty="0"/>
          </a:p>
        </p:txBody>
      </p:sp>
      <p:pic>
        <p:nvPicPr>
          <p:cNvPr id="7" name="Picture 6">
            <a:extLst>
              <a:ext uri="{FF2B5EF4-FFF2-40B4-BE49-F238E27FC236}">
                <a16:creationId xmlns:a16="http://schemas.microsoft.com/office/drawing/2014/main" id="{AC0AC188-4B90-4602-8282-D79F99122C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1104900"/>
            <a:ext cx="15621000" cy="8687072"/>
          </a:xfrm>
          <a:prstGeom prst="rect">
            <a:avLst/>
          </a:prstGeom>
        </p:spPr>
      </p:pic>
    </p:spTree>
    <p:extLst>
      <p:ext uri="{BB962C8B-B14F-4D97-AF65-F5344CB8AC3E}">
        <p14:creationId xmlns:p14="http://schemas.microsoft.com/office/powerpoint/2010/main" val="732301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CC470-24AE-65DD-9098-192DB99EFE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3CD4A0-3704-74FD-4C17-FB20797C91D2}"/>
              </a:ext>
            </a:extLst>
          </p:cNvPr>
          <p:cNvSpPr/>
          <p:nvPr/>
        </p:nvSpPr>
        <p:spPr>
          <a:xfrm>
            <a:off x="-150256" y="10289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ED1AFC7A-9E95-6EEA-EC50-A09CAC210EF0}"/>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35FAC078-0F1D-2760-2469-6CC2A12B8A43}"/>
              </a:ext>
            </a:extLst>
          </p:cNvPr>
          <p:cNvSpPr txBox="1"/>
          <p:nvPr/>
        </p:nvSpPr>
        <p:spPr>
          <a:xfrm>
            <a:off x="-2847547"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3.4</a:t>
            </a:r>
            <a:r>
              <a:rPr lang="en-US" sz="4250">
                <a:ea typeface="+mn-lt"/>
                <a:cs typeface="+mn-lt"/>
              </a:rPr>
              <a:t>  </a:t>
            </a:r>
            <a:r>
              <a:rPr lang="en-US" sz="4250" b="1">
                <a:ea typeface="+mn-lt"/>
                <a:cs typeface="+mn-lt"/>
              </a:rPr>
              <a:t>Technical Approach and Key Elements</a:t>
            </a:r>
            <a:endParaRPr lang="en-US"/>
          </a:p>
        </p:txBody>
      </p:sp>
      <p:sp>
        <p:nvSpPr>
          <p:cNvPr id="5" name="Rectangle 1">
            <a:extLst>
              <a:ext uri="{FF2B5EF4-FFF2-40B4-BE49-F238E27FC236}">
                <a16:creationId xmlns:a16="http://schemas.microsoft.com/office/drawing/2014/main" id="{45816AD0-FB6C-47B7-94A0-258D8F9CFDCB}"/>
              </a:ext>
            </a:extLst>
          </p:cNvPr>
          <p:cNvSpPr>
            <a:spLocks noChangeArrowheads="1"/>
          </p:cNvSpPr>
          <p:nvPr/>
        </p:nvSpPr>
        <p:spPr bwMode="auto">
          <a:xfrm>
            <a:off x="473767" y="1469193"/>
            <a:ext cx="16755034"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Codebase Static Scanning: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an automated static scanner to analyze application repositories and identify programming languages, dependencies, application endpoints, manifests, and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Dockerfiles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processes files such as requirements.txt,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package.json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pom.xml to understand the structure and deployment requirements of the application.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Feature Extraction &amp; Application Profiling: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extracted codebase information is converted into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10-dimensional feature vector (X)</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containing important attributes such as programming language, database usage, memory requirements, and application characteristics. This feature vector provides structured input for the ML decision pipelines.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ML-Based Cloud &amp; Deployment Decision Making: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models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application characteristics and generate deployment recommendations. The Archetype Model classifies applications as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Microservice, Mesh, Serverless, or Monolith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99.56% cross-validation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Cloud Model predicts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vs. GCP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probability distribution with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79.13% cross-validation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the Compute Model recommends the appropriate compute runtime with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cross-validation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Cost &amp;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DevSecOps</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Policy Validation: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includes a cost and policy engine that estimates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monthly cloud deployment costs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validates infrastructure against four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DevSecOps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gates: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Packaging, VPC Subnets, Secrets, and Health Probe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ensures that recommended deployment configurations satisfy basic cost and security requirements before proceeding further.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Context-Aware RAG Engine: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RAG module uses dense embeddings generated with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all-MiniLM-L6-v2</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retrieve relevant information from code chunks and cloud knowledge. The retrieved context is used to provide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and citation-grounded answers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application and deployment-related questions.</a:t>
            </a:r>
          </a:p>
        </p:txBody>
      </p:sp>
    </p:spTree>
    <p:extLst>
      <p:ext uri="{BB962C8B-B14F-4D97-AF65-F5344CB8AC3E}">
        <p14:creationId xmlns:p14="http://schemas.microsoft.com/office/powerpoint/2010/main" val="4006563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6FF3-42D8-D9FF-A98A-E09BD7B097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8BD05C-612F-3D2C-704F-F4D24BE94A2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9A27E80-D410-8F1A-289B-22CC4448678D}"/>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4468175D-D517-C950-08C1-3DF721354E68}"/>
              </a:ext>
            </a:extLst>
          </p:cNvPr>
          <p:cNvSpPr txBox="1"/>
          <p:nvPr/>
        </p:nvSpPr>
        <p:spPr>
          <a:xfrm>
            <a:off x="-1987719" y="564808"/>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3.5</a:t>
            </a:r>
            <a:r>
              <a:rPr lang="en-US" sz="4250">
                <a:ea typeface="+mn-lt"/>
                <a:cs typeface="+mn-lt"/>
              </a:rPr>
              <a:t>   </a:t>
            </a:r>
            <a:r>
              <a:rPr lang="en-US" sz="4250" b="1">
                <a:ea typeface="+mn-lt"/>
                <a:cs typeface="+mn-lt"/>
              </a:rPr>
              <a:t>Supporting Analysis / Design Considerations</a:t>
            </a:r>
            <a:endParaRPr lang="en-US"/>
          </a:p>
        </p:txBody>
      </p:sp>
      <p:sp>
        <p:nvSpPr>
          <p:cNvPr id="7" name="Rectangle 2">
            <a:extLst>
              <a:ext uri="{FF2B5EF4-FFF2-40B4-BE49-F238E27FC236}">
                <a16:creationId xmlns:a16="http://schemas.microsoft.com/office/drawing/2014/main" id="{08EAE279-8C2E-4D87-AC4A-A13B2362B363}"/>
              </a:ext>
            </a:extLst>
          </p:cNvPr>
          <p:cNvSpPr>
            <a:spLocks noChangeArrowheads="1"/>
          </p:cNvSpPr>
          <p:nvPr/>
        </p:nvSpPr>
        <p:spPr bwMode="auto">
          <a:xfrm>
            <a:off x="795130" y="1846607"/>
            <a:ext cx="1566407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Service Selection: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evaluates application requirements such as workload type, scalability, cost, performance, and deployment architecture to select suitable AWS or GCP services.</a:t>
            </a:r>
            <a:endParaRPr lang="en-US" altLang="en-US" sz="2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Optimization: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deployment options are compared using estimated monthly costs to identify suitable infrastructure while considering application resource requirements.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&amp; Compliance: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DevSecOps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validation gates are applied to check important infrastructure requirements such as packaging, VPC subnet configuration, secret management, and health probes.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Application-Specific Decisions: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does not use a single cloud service for all applications. Recommendations are based on the characteristics of the application, such as containerized workloads, high-concurrency APIs, enterprise applications, and serverless functions.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&amp; Reliability: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selected cloud services are evaluated based on their ability to handle application workload, scaling requirements, and availability needs.</a:t>
            </a:r>
          </a:p>
        </p:txBody>
      </p:sp>
    </p:spTree>
    <p:extLst>
      <p:ext uri="{BB962C8B-B14F-4D97-AF65-F5344CB8AC3E}">
        <p14:creationId xmlns:p14="http://schemas.microsoft.com/office/powerpoint/2010/main" val="2838186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B765F-974C-1138-2158-C1A6E13605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E13B14B-EBB4-7F0E-6986-E2714ED83E5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C8EF8F4-0C29-919C-3B12-E5553AEEEB5A}"/>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50B0B377-906C-760C-9058-E098FBE1C019}"/>
              </a:ext>
            </a:extLst>
          </p:cNvPr>
          <p:cNvSpPr txBox="1"/>
          <p:nvPr/>
        </p:nvSpPr>
        <p:spPr>
          <a:xfrm>
            <a:off x="-4106504"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3.6</a:t>
            </a:r>
            <a:r>
              <a:rPr lang="en-US" sz="4250">
                <a:ea typeface="+mn-lt"/>
                <a:cs typeface="+mn-lt"/>
              </a:rPr>
              <a:t>   </a:t>
            </a:r>
            <a:r>
              <a:rPr lang="en-US" sz="4250" b="1">
                <a:ea typeface="+mn-lt"/>
                <a:cs typeface="+mn-lt"/>
              </a:rPr>
              <a:t>Tools / Techniques Used</a:t>
            </a:r>
            <a:endParaRPr lang="en-US"/>
          </a:p>
        </p:txBody>
      </p:sp>
      <p:graphicFrame>
        <p:nvGraphicFramePr>
          <p:cNvPr id="5" name="Table 4">
            <a:extLst>
              <a:ext uri="{FF2B5EF4-FFF2-40B4-BE49-F238E27FC236}">
                <a16:creationId xmlns:a16="http://schemas.microsoft.com/office/drawing/2014/main" id="{4344146E-ACE1-4C6B-AAAA-71DB63A2D021}"/>
              </a:ext>
            </a:extLst>
          </p:cNvPr>
          <p:cNvGraphicFramePr>
            <a:graphicFrameLocks noGrp="1"/>
          </p:cNvGraphicFramePr>
          <p:nvPr>
            <p:extLst>
              <p:ext uri="{D42A27DB-BD31-4B8C-83A1-F6EECF244321}">
                <p14:modId xmlns:p14="http://schemas.microsoft.com/office/powerpoint/2010/main" val="2803302459"/>
              </p:ext>
            </p:extLst>
          </p:nvPr>
        </p:nvGraphicFramePr>
        <p:xfrm>
          <a:off x="1782762" y="1544683"/>
          <a:ext cx="13381038" cy="8541680"/>
        </p:xfrm>
        <a:graphic>
          <a:graphicData uri="http://schemas.openxmlformats.org/drawingml/2006/table">
            <a:tbl>
              <a:tblPr firstRow="1" bandRow="1">
                <a:tableStyleId>{5C22544A-7EE6-4342-B048-85BDC9FD1C3A}</a:tableStyleId>
              </a:tblPr>
              <a:tblGrid>
                <a:gridCol w="4460346">
                  <a:extLst>
                    <a:ext uri="{9D8B030D-6E8A-4147-A177-3AD203B41FA5}">
                      <a16:colId xmlns:a16="http://schemas.microsoft.com/office/drawing/2014/main" val="2977624793"/>
                    </a:ext>
                  </a:extLst>
                </a:gridCol>
                <a:gridCol w="4460346">
                  <a:extLst>
                    <a:ext uri="{9D8B030D-6E8A-4147-A177-3AD203B41FA5}">
                      <a16:colId xmlns:a16="http://schemas.microsoft.com/office/drawing/2014/main" val="2033858680"/>
                    </a:ext>
                  </a:extLst>
                </a:gridCol>
                <a:gridCol w="4460346">
                  <a:extLst>
                    <a:ext uri="{9D8B030D-6E8A-4147-A177-3AD203B41FA5}">
                      <a16:colId xmlns:a16="http://schemas.microsoft.com/office/drawing/2014/main" val="715357595"/>
                    </a:ext>
                  </a:extLst>
                </a:gridCol>
              </a:tblGrid>
              <a:tr h="247998">
                <a:tc>
                  <a:txBody>
                    <a:bodyPr/>
                    <a:lstStyle/>
                    <a:p>
                      <a:r>
                        <a:rPr lang="en-IN" sz="2800"/>
                        <a:t>Category</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Tools / Technologies</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Purpose / Usage</a:t>
                      </a:r>
                      <a:endParaRPr lang="en-IN" sz="280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3312481818"/>
                  </a:ext>
                </a:extLst>
              </a:tr>
              <a:tr h="619995">
                <a:tc>
                  <a:txBody>
                    <a:bodyPr/>
                    <a:lstStyle/>
                    <a:p>
                      <a:r>
                        <a:rPr lang="en-IN" sz="2800" dirty="0"/>
                        <a:t>Core Language</a:t>
                      </a:r>
                      <a:endParaRPr lang="en-IN" sz="2800" dirty="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Python 3.12</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a:t>Main programming language used for system development</a:t>
                      </a:r>
                      <a:endParaRPr lang="en-US" sz="280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2001179531"/>
                  </a:ext>
                </a:extLst>
              </a:tr>
              <a:tr h="805993">
                <a:tc>
                  <a:txBody>
                    <a:bodyPr/>
                    <a:lstStyle/>
                    <a:p>
                      <a:r>
                        <a:rPr lang="en-IN" sz="2800"/>
                        <a:t>Machine Learning</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scikit-learn 1.5.2, Pandas, NumPy, Joblib</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Random Forest models, data processing, feature handling, and model storage</a:t>
                      </a:r>
                      <a:endParaRPr lang="en-IN" sz="280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482554339"/>
                  </a:ext>
                </a:extLst>
              </a:tr>
              <a:tr h="805993">
                <a:tc>
                  <a:txBody>
                    <a:bodyPr/>
                    <a:lstStyle/>
                    <a:p>
                      <a:r>
                        <a:rPr lang="en-IN" sz="2800" dirty="0"/>
                        <a:t>NLP &amp; Semantic RAG</a:t>
                      </a:r>
                      <a:endParaRPr lang="en-IN" sz="2800" dirty="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a:t>Sentence-Transformers 5.1.2, all-MiniLM-L6-v2, PyTorch, Cosine Similarity</a:t>
                      </a:r>
                      <a:endParaRPr lang="en-US"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a:t>384-dimensional embeddings, semantic search, and context-aware Q&amp;A</a:t>
                      </a:r>
                      <a:endParaRPr lang="en-US" sz="280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2999484061"/>
                  </a:ext>
                </a:extLst>
              </a:tr>
              <a:tr h="805993">
                <a:tc>
                  <a:txBody>
                    <a:bodyPr/>
                    <a:lstStyle/>
                    <a:p>
                      <a:r>
                        <a:rPr lang="en-IN" sz="2800"/>
                        <a:t>Static Analysis</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Python AST, Regular Expressions, XML Parser, JSON Parser, Dockerfile Parser</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a:t>Codebase scanning, dependency extraction, endpoint detection, and Dockerfile analysis</a:t>
                      </a:r>
                      <a:endParaRPr lang="en-US" sz="280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3769216819"/>
                  </a:ext>
                </a:extLst>
              </a:tr>
              <a:tr h="619995">
                <a:tc>
                  <a:txBody>
                    <a:bodyPr/>
                    <a:lstStyle/>
                    <a:p>
                      <a:r>
                        <a:rPr lang="en-IN" sz="2800"/>
                        <a:t>User Interfaces</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a:t>Streamlit 1.38.0, Python CLI (argparse)</a:t>
                      </a:r>
                      <a:endParaRPr lang="en-US"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a:t>Interactive web dashboard and command-line interface</a:t>
                      </a:r>
                      <a:endParaRPr lang="en-US" sz="280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2392632985"/>
                  </a:ext>
                </a:extLst>
              </a:tr>
              <a:tr h="619995">
                <a:tc>
                  <a:txBody>
                    <a:bodyPr/>
                    <a:lstStyle/>
                    <a:p>
                      <a:r>
                        <a:rPr lang="en-IN" sz="2800"/>
                        <a:t>Verification</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IN" sz="2800"/>
                        <a:t>Python unittest</a:t>
                      </a:r>
                      <a:endParaRPr lang="en-IN" sz="2800">
                        <a:latin typeface="Times New Roman" panose="02020603050405020304" pitchFamily="18" charset="0"/>
                        <a:cs typeface="Times New Roman" panose="02020603050405020304" pitchFamily="18" charset="0"/>
                      </a:endParaRPr>
                    </a:p>
                  </a:txBody>
                  <a:tcPr marL="61999" marR="61999" marT="31000" marB="31000" anchor="ctr"/>
                </a:tc>
                <a:tc>
                  <a:txBody>
                    <a:bodyPr/>
                    <a:lstStyle/>
                    <a:p>
                      <a:r>
                        <a:rPr lang="en-US" sz="2800" dirty="0"/>
                        <a:t>Automated testing and system validation — 7/7 tests passing</a:t>
                      </a:r>
                      <a:endParaRPr lang="en-US" sz="2800" dirty="0">
                        <a:latin typeface="Times New Roman" panose="02020603050405020304" pitchFamily="18" charset="0"/>
                        <a:cs typeface="Times New Roman" panose="02020603050405020304" pitchFamily="18" charset="0"/>
                      </a:endParaRPr>
                    </a:p>
                  </a:txBody>
                  <a:tcPr marL="61999" marR="61999" marT="31000" marB="31000" anchor="ctr"/>
                </a:tc>
                <a:extLst>
                  <a:ext uri="{0D108BD9-81ED-4DB2-BD59-A6C34878D82A}">
                    <a16:rowId xmlns:a16="http://schemas.microsoft.com/office/drawing/2014/main" val="3227471993"/>
                  </a:ext>
                </a:extLst>
              </a:tr>
            </a:tbl>
          </a:graphicData>
        </a:graphic>
      </p:graphicFrame>
    </p:spTree>
    <p:extLst>
      <p:ext uri="{BB962C8B-B14F-4D97-AF65-F5344CB8AC3E}">
        <p14:creationId xmlns:p14="http://schemas.microsoft.com/office/powerpoint/2010/main" val="847417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132F-CFF7-CE83-6F1A-62ED039C2E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61991F-3A51-3E63-7DDC-FBD31027763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BC73796-401B-0B7B-21F5-9CBD04F1768D}"/>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07D54C2A-BE26-B717-5E0B-76E611AE9A68}"/>
              </a:ext>
            </a:extLst>
          </p:cNvPr>
          <p:cNvSpPr txBox="1"/>
          <p:nvPr/>
        </p:nvSpPr>
        <p:spPr>
          <a:xfrm>
            <a:off x="-3543287"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3.7 </a:t>
            </a:r>
            <a:r>
              <a:rPr lang="en-US" sz="4250">
                <a:ea typeface="+mn-lt"/>
                <a:cs typeface="+mn-lt"/>
              </a:rPr>
              <a:t> </a:t>
            </a:r>
            <a:r>
              <a:rPr lang="en-US" sz="4250" b="1">
                <a:ea typeface="+mn-lt"/>
                <a:cs typeface="+mn-lt"/>
              </a:rPr>
              <a:t>Justification of Selected Approach</a:t>
            </a:r>
            <a:endParaRPr lang="en-US"/>
          </a:p>
        </p:txBody>
      </p:sp>
      <p:sp>
        <p:nvSpPr>
          <p:cNvPr id="7" name="Rectangle 2">
            <a:extLst>
              <a:ext uri="{FF2B5EF4-FFF2-40B4-BE49-F238E27FC236}">
                <a16:creationId xmlns:a16="http://schemas.microsoft.com/office/drawing/2014/main" id="{0C3592FE-A983-4C5E-8309-C3D04C6CF260}"/>
              </a:ext>
            </a:extLst>
          </p:cNvPr>
          <p:cNvSpPr>
            <a:spLocks noChangeArrowheads="1"/>
          </p:cNvSpPr>
          <p:nvPr/>
        </p:nvSpPr>
        <p:spPr bwMode="auto">
          <a:xfrm>
            <a:off x="457200" y="1760126"/>
            <a:ext cx="162306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for Decision Making: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Selected because it handles mixed features well and provides fast and reliable deployment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ML + Policy Rules: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Selected to combine ML-based decisions with fixed security and infrastructure validation rules, reducing unreliable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SentenceTransformers</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RAG: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Selected because all-MiniLM-L6-v2 is lightweight and provides efficient semantic search for code and cloud documentation.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RAG-Based Assistance: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Selected to provide context-aware and citation-grounded answers using the actual application codebase and relevant documentation.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 GCP:</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Selected to compare enterprise-focused AWS services with the container and serverless capabilities of GCP.</a:t>
            </a:r>
          </a:p>
        </p:txBody>
      </p:sp>
    </p:spTree>
    <p:extLst>
      <p:ext uri="{BB962C8B-B14F-4D97-AF65-F5344CB8AC3E}">
        <p14:creationId xmlns:p14="http://schemas.microsoft.com/office/powerpoint/2010/main" val="1172917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106017"/>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238815" y="547486"/>
            <a:ext cx="4522245" cy="1473032"/>
          </a:xfrm>
          <a:prstGeom prst="rect">
            <a:avLst/>
          </a:prstGeom>
        </p:spPr>
        <p:txBody>
          <a:bodyPr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Base Paper Link(If any):</a:t>
            </a:r>
          </a:p>
        </p:txBody>
      </p:sp>
      <p:sp>
        <p:nvSpPr>
          <p:cNvPr id="5" name="TextBox 4">
            <a:extLst>
              <a:ext uri="{FF2B5EF4-FFF2-40B4-BE49-F238E27FC236}">
                <a16:creationId xmlns:a16="http://schemas.microsoft.com/office/drawing/2014/main" id="{0F2D11A2-B218-4A1A-A6BF-5C886D1E84CA}"/>
              </a:ext>
            </a:extLst>
          </p:cNvPr>
          <p:cNvSpPr txBox="1"/>
          <p:nvPr/>
        </p:nvSpPr>
        <p:spPr>
          <a:xfrm>
            <a:off x="1066800" y="2476500"/>
            <a:ext cx="12115800" cy="1200329"/>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hlinkClick r:id="rId4"/>
              </a:rPr>
              <a:t>https://journals.plos.org/plosone/article?id=10.1371%2Fjournal.pone.0105297&amp;utm_source=chatgpt.com</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References:</a:t>
            </a:r>
            <a:endParaRPr lang="en-IN" dirty="0"/>
          </a:p>
        </p:txBody>
      </p:sp>
      <p:sp>
        <p:nvSpPr>
          <p:cNvPr id="5" name="Content Placeholder 4">
            <a:extLst>
              <a:ext uri="{FF2B5EF4-FFF2-40B4-BE49-F238E27FC236}">
                <a16:creationId xmlns:a16="http://schemas.microsoft.com/office/drawing/2014/main" id="{CE47C80A-1E94-44EE-AAF6-B373E4E5E17A}"/>
              </a:ext>
            </a:extLst>
          </p:cNvPr>
          <p:cNvSpPr>
            <a:spLocks noGrp="1"/>
          </p:cNvSpPr>
          <p:nvPr>
            <p:ph idx="1"/>
          </p:nvPr>
        </p:nvSpPr>
        <p:spPr>
          <a:xfrm>
            <a:off x="457200" y="1930129"/>
            <a:ext cx="16078200" cy="6667500"/>
          </a:xfrm>
        </p:spPr>
        <p:txBody>
          <a:bodyPr>
            <a:noAutofit/>
          </a:bodyPr>
          <a:lstStyle/>
          <a:p>
            <a:pPr marL="0" indent="0" algn="just">
              <a:buNone/>
            </a:pPr>
            <a:r>
              <a:rPr lang="en-US" sz="2400" b="1" dirty="0"/>
              <a:t>[1] </a:t>
            </a:r>
            <a:r>
              <a:rPr lang="en-US" sz="2400" dirty="0"/>
              <a:t>Humble, J., &amp; Farley, D. (2010).</a:t>
            </a:r>
            <a:r>
              <a:rPr lang="en-US" sz="2400" b="1" dirty="0"/>
              <a:t> </a:t>
            </a:r>
            <a:r>
              <a:rPr lang="en-US" sz="2400" i="1" dirty="0"/>
              <a:t>Continuous Delivery: Reliable Software Releases through Build, Test, and Deployment Automation.</a:t>
            </a:r>
            <a:r>
              <a:rPr lang="en-US" sz="2400" dirty="0"/>
              <a:t> Addison-Wesley Professional.</a:t>
            </a:r>
          </a:p>
          <a:p>
            <a:pPr marL="0" indent="0" algn="just">
              <a:buNone/>
            </a:pPr>
            <a:br>
              <a:rPr lang="en-US" sz="2400" dirty="0"/>
            </a:br>
            <a:r>
              <a:rPr lang="en-US" sz="2400" b="1" dirty="0"/>
              <a:t>[2] </a:t>
            </a:r>
            <a:r>
              <a:rPr lang="en-US" sz="2400" dirty="0"/>
              <a:t>Zhang, Q., Fang, C., </a:t>
            </a:r>
            <a:r>
              <a:rPr lang="en-US" sz="2400" dirty="0" err="1"/>
              <a:t>Xie</a:t>
            </a:r>
            <a:r>
              <a:rPr lang="en-US" sz="2400" dirty="0"/>
              <a:t>, Y., et al. (2023)</a:t>
            </a:r>
            <a:r>
              <a:rPr lang="en-US" sz="2400" b="1" dirty="0"/>
              <a:t>.</a:t>
            </a:r>
            <a:r>
              <a:rPr lang="en-US" sz="2400" dirty="0"/>
              <a:t> </a:t>
            </a:r>
            <a:r>
              <a:rPr lang="en-US" sz="2400" i="1" dirty="0"/>
              <a:t>A Survey on Large Language Models for Software Engineering.</a:t>
            </a:r>
            <a:r>
              <a:rPr lang="en-US" sz="2400" dirty="0"/>
              <a:t> arXiv:2312.15223.</a:t>
            </a:r>
          </a:p>
          <a:p>
            <a:pPr marL="0" indent="0" algn="just">
              <a:buNone/>
            </a:pPr>
            <a:endParaRPr lang="en-US" sz="2400" dirty="0"/>
          </a:p>
          <a:p>
            <a:pPr marL="0" indent="0" algn="just">
              <a:buNone/>
            </a:pPr>
            <a:r>
              <a:rPr lang="en-US" sz="2400" b="1" dirty="0"/>
              <a:t>[3] </a:t>
            </a:r>
            <a:r>
              <a:rPr lang="en-IN" sz="2400" dirty="0"/>
              <a:t>Hou, X., Zhao, Y., Liu, Y., et al. (2024). </a:t>
            </a:r>
            <a:r>
              <a:rPr lang="en-IN" sz="2400" i="1" dirty="0"/>
              <a:t>Large Language Models for Software Engineering: A Systematic Literature Review.</a:t>
            </a:r>
            <a:r>
              <a:rPr lang="en-IN" sz="2400" dirty="0"/>
              <a:t> ACM Transactions on Software Engineering and Methodology, 33(8), Article 220.</a:t>
            </a:r>
          </a:p>
          <a:p>
            <a:pPr marL="0" indent="0" algn="just">
              <a:buNone/>
            </a:pPr>
            <a:endParaRPr lang="en-IN" sz="2400" dirty="0"/>
          </a:p>
          <a:p>
            <a:pPr marL="0" indent="0" algn="just">
              <a:buNone/>
            </a:pPr>
            <a:r>
              <a:rPr lang="en-US" sz="2400" b="1" dirty="0"/>
              <a:t>[</a:t>
            </a:r>
            <a:r>
              <a:rPr lang="en-IN" sz="2400" b="1" dirty="0"/>
              <a:t>4]</a:t>
            </a:r>
            <a:r>
              <a:rPr lang="en-US" sz="2400" dirty="0"/>
              <a:t> </a:t>
            </a:r>
            <a:r>
              <a:rPr lang="en-US" sz="2400" dirty="0" err="1"/>
              <a:t>Patcas</a:t>
            </a:r>
            <a:r>
              <a:rPr lang="en-US" sz="2400" dirty="0"/>
              <a:t>, R., &amp; </a:t>
            </a:r>
            <a:r>
              <a:rPr lang="en-US" sz="2400" dirty="0" err="1"/>
              <a:t>Motogna</a:t>
            </a:r>
            <a:r>
              <a:rPr lang="en-US" sz="2400" dirty="0"/>
              <a:t>, S. (2026). </a:t>
            </a:r>
            <a:r>
              <a:rPr lang="en-US" sz="2400" i="1" dirty="0"/>
              <a:t>An evaluation study of large language models for addressing code quality issues.</a:t>
            </a:r>
            <a:r>
              <a:rPr lang="en-US" sz="2400" dirty="0"/>
              <a:t> Empirical Software Engineering, 31, 118.</a:t>
            </a:r>
          </a:p>
          <a:p>
            <a:pPr marL="0" indent="0" algn="just">
              <a:buNone/>
            </a:pPr>
            <a:endParaRPr lang="en-US" sz="2400" b="1" dirty="0"/>
          </a:p>
          <a:p>
            <a:pPr marL="0" indent="0" algn="just">
              <a:buNone/>
            </a:pPr>
            <a:r>
              <a:rPr lang="en-US" sz="2400" b="1" dirty="0"/>
              <a:t>[5] </a:t>
            </a:r>
            <a:r>
              <a:rPr lang="en-US" sz="2400" dirty="0"/>
              <a:t>Abtahi, S. M., &amp; Azim, A. (2025). </a:t>
            </a:r>
            <a:r>
              <a:rPr lang="en-US" sz="2400" i="1" dirty="0"/>
              <a:t>Augmenting Large Language Models with Static Code Analysis for Automated Code Quality Improvements.</a:t>
            </a:r>
            <a:r>
              <a:rPr lang="en-US" sz="2400" dirty="0"/>
              <a:t> arXiv:2506.10330.</a:t>
            </a:r>
            <a:endParaRPr lang="en-IN" sz="2400" b="1" dirty="0"/>
          </a:p>
        </p:txBody>
      </p:sp>
      <p:sp>
        <p:nvSpPr>
          <p:cNvPr id="6" name="Freeform 3">
            <a:extLst>
              <a:ext uri="{FF2B5EF4-FFF2-40B4-BE49-F238E27FC236}">
                <a16:creationId xmlns:a16="http://schemas.microsoft.com/office/drawing/2014/main" id="{1B3D6911-95C0-4EC6-87BE-6744F3A96369}"/>
              </a:ext>
            </a:extLst>
          </p:cNvPr>
          <p:cNvSpPr/>
          <p:nvPr/>
        </p:nvSpPr>
        <p:spPr>
          <a:xfrm>
            <a:off x="15392400"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2"/>
            <a:stretch>
              <a:fillRect/>
            </a:stretch>
          </a:blipFill>
        </p:spPr>
        <p:txBody>
          <a:bodyPr/>
          <a:lstStyle/>
          <a:p>
            <a:endParaRPr lang="en-IN"/>
          </a:p>
        </p:txBody>
      </p:sp>
    </p:spTree>
    <p:extLst>
      <p:ext uri="{BB962C8B-B14F-4D97-AF65-F5344CB8AC3E}">
        <p14:creationId xmlns:p14="http://schemas.microsoft.com/office/powerpoint/2010/main" val="3957730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710588" y="0"/>
            <a:ext cx="2759161" cy="1918923"/>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6510290" y="4169183"/>
            <a:ext cx="5267419" cy="1160986"/>
          </a:xfrm>
          <a:prstGeom prst="rect">
            <a:avLst/>
          </a:prstGeom>
        </p:spPr>
        <p:txBody>
          <a:bodyPr lIns="0" tIns="0" rIns="0" bIns="0" rtlCol="0" anchor="t">
            <a:spAutoFit/>
          </a:bodyPr>
          <a:lstStyle/>
          <a:p>
            <a:pPr algn="ctr">
              <a:lnSpc>
                <a:spcPts val="9508"/>
              </a:lnSpc>
              <a:spcBef>
                <a:spcPct val="0"/>
              </a:spcBef>
            </a:pPr>
            <a:r>
              <a:rPr lang="en-US" sz="6791" b="1">
                <a:solidFill>
                  <a:srgbClr val="000000"/>
                </a:solidFill>
                <a:latin typeface="Open Sauce Bold"/>
                <a:ea typeface="Open Sauce Bold"/>
                <a:cs typeface="Open Sauce Bold"/>
                <a:sym typeface="Open Sau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4871</Words>
  <Application>Microsoft Office PowerPoint</Application>
  <PresentationFormat>Custom</PresentationFormat>
  <Paragraphs>348</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Times New Roman</vt:lpstr>
      <vt:lpstr>Calibri</vt:lpstr>
      <vt:lpstr>Open Sauce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2.2 Critical Analysis of Literature:</vt:lpstr>
      <vt:lpstr>2.2 Critical Analysis of Literature:</vt:lpstr>
      <vt:lpstr>2.2 Critical Analysis of Literature:</vt:lpstr>
      <vt:lpstr>2.2 Critical Analysis of Literature: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ABSTRACT</dc:title>
  <cp:lastModifiedBy>Jagadeeswar J</cp:lastModifiedBy>
  <cp:revision>42</cp:revision>
  <dcterms:created xsi:type="dcterms:W3CDTF">2006-08-16T00:00:00Z</dcterms:created>
  <dcterms:modified xsi:type="dcterms:W3CDTF">2026-10-21T17:22:33Z</dcterms:modified>
  <dc:identifier>DAHBHb9LjcI</dc:identifier>
</cp:coreProperties>
</file>